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1. We present the problem, the literature, the design, and the first two phases of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that C is hard. It is that the symbols arrive before the ideas they encode.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The first two are design; the last three are the classical compiler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prior works. The pattern: readable syntax has been attempted repeatedly, but either tied to a product or confined to one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gaps, and the one-line statement of what we are doing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to novelty. The first is the one an examiner is most likely to probe.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Two chips show where we are: lexer complete, parser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column matters most. Any design decision without a stated cost has not really been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grammar came first. This is the context-free grammar component of the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phases complete, one under way. Evidence for Phase 2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output of the lexer, not a mock-up. Point at the two red lines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what is next, not on what is done.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rtlCol="0"/>
          <a:lstStyle>
            <a:lvl1pPr algn="l" indent="0" marL="0">
              <a:buNone/>
              <a:defRPr lang="en-US" sz="3200" b="1" dirty="0">
                <a:solidFill>
                  <a:srgbClr val="0E1020"/>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txBox="1"/>
          <p:nvPr/>
        </p:nvSpPr>
        <p:spPr>
          <a:xfrm>
            <a:off x="566928" y="6327648"/>
            <a:ext cx="4572000" cy="274320"/>
          </a:xfrm>
          <a:prstGeom prst="rect">
            <a:avLst/>
          </a:prstGeom>
          <a:noFill/>
          <a:ln/>
        </p:spPr>
        <p:txBody>
          <a:bodyPr wrap="square" lIns="0" tIns="0" rIns="0" bIns="0" rtlCol="0" anchor="ctr"/>
          <a:lstStyle/>
          <a:p>
            <a:pPr indent="0" marL="0">
              <a:buNone/>
            </a:pPr>
            <a:r>
              <a:rPr lang="en-US" sz="900" dirty="0">
                <a:solidFill>
                  <a:srgbClr val="6B7187"/>
                </a:solidFill>
              </a:rPr>
              <a:t>Stickynight · Review 1</a:t>
            </a:r>
            <a:endParaRPr lang="en-US" sz="90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E23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rtlCol="0"/>
          <a:lstStyle>
            <a:lvl1pPr algn="l" indent="0" marL="0">
              <a:buNone/>
              <a:defRPr lang="en-US" sz="3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E234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ticky-mark"/>
          <p:cNvSpPr/>
          <p:nvPr/>
        </p:nvSpPr>
        <p:spPr>
          <a:xfrm rot="21120000">
            <a:off x="566928" y="1481328"/>
            <a:ext cx="420624" cy="420624"/>
          </a:xfrm>
          <a:prstGeom prst="roundRect">
            <a:avLst>
              <a:gd name="adj" fmla="val 8696"/>
            </a:avLst>
          </a:prstGeom>
          <a:solidFill>
            <a:srgbClr val="FFC857"/>
          </a:solidFill>
          <a:ln w="12700">
            <a:solidFill>
              <a:srgbClr val="FFC857"/>
            </a:solidFill>
            <a:prstDash val="solid"/>
          </a:ln>
        </p:spPr>
      </p:sp>
      <p:sp>
        <p:nvSpPr>
          <p:cNvPr id="3" name="Text 1"/>
          <p:cNvSpPr txBox="1"/>
          <p:nvPr/>
        </p:nvSpPr>
        <p:spPr>
          <a:xfrm>
            <a:off x="566928" y="2011680"/>
            <a:ext cx="841248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Stickynight</a:t>
            </a:r>
            <a:endParaRPr lang="en-US" sz="5400" dirty="0"/>
          </a:p>
        </p:txBody>
      </p:sp>
      <p:sp>
        <p:nvSpPr>
          <p:cNvPr id="4" name="Text 2"/>
          <p:cNvSpPr txBox="1"/>
          <p:nvPr/>
        </p:nvSpPr>
        <p:spPr>
          <a:xfrm>
            <a:off x="566928" y="2926080"/>
            <a:ext cx="8778240" cy="384048"/>
          </a:xfrm>
          <a:prstGeom prst="rect">
            <a:avLst/>
          </a:prstGeom>
          <a:noFill/>
          <a:ln/>
        </p:spPr>
        <p:txBody>
          <a:bodyPr wrap="square" lIns="0" tIns="0" rIns="0" bIns="0" rtlCol="0" anchor="ctr"/>
          <a:lstStyle/>
          <a:p>
            <a:pPr indent="0" marL="0">
              <a:buNone/>
            </a:pPr>
            <a:r>
              <a:rPr lang="en-US" sz="1800" dirty="0">
                <a:solidFill>
                  <a:srgbClr val="FFC857"/>
                </a:solidFill>
              </a:rPr>
              <a:t>A programming language with English-phrase syntax, and its compiler</a:t>
            </a:r>
            <a:endParaRPr lang="en-US" sz="1800" dirty="0"/>
          </a:p>
        </p:txBody>
      </p:sp>
      <p:sp>
        <p:nvSpPr>
          <p:cNvPr id="5" name="Text 3"/>
          <p:cNvSpPr txBox="1"/>
          <p:nvPr/>
        </p:nvSpPr>
        <p:spPr>
          <a:xfrm>
            <a:off x="566928" y="3456432"/>
            <a:ext cx="8778240" cy="658368"/>
          </a:xfrm>
          <a:prstGeom prst="rect">
            <a:avLst/>
          </a:prstGeom>
          <a:noFill/>
          <a:ln/>
        </p:spPr>
        <p:txBody>
          <a:bodyPr wrap="square" lIns="0" tIns="0" rIns="0" bIns="0" rtlCol="0" anchor="ctr"/>
          <a:lstStyle/>
          <a:p>
            <a:pPr indent="0" marL="0">
              <a:lnSpc>
                <a:spcPct val="120000"/>
              </a:lnSpc>
              <a:buNone/>
            </a:pPr>
            <a:r>
              <a:rPr lang="en-US" sz="1350" dirty="0">
                <a:solidFill>
                  <a:srgbClr val="B9BFD2"/>
                </a:solidFill>
              </a:rPr>
              <a:t>No braces. No semicolons. No symbolic comparison operators.</a:t>
            </a:r>
            <a:endParaRPr lang="en-US" sz="1350" dirty="0"/>
          </a:p>
          <a:p>
            <a:pPr indent="0" marL="0">
              <a:lnSpc>
                <a:spcPct val="120000"/>
              </a:lnSpc>
              <a:buNone/>
            </a:pPr>
            <a:r>
              <a:rPr lang="en-US" sz="1350" dirty="0">
                <a:solidFill>
                  <a:srgbClr val="B9BFD2"/>
                </a:solidFill>
              </a:rPr>
              <a:t>Block structure recovered from indentation.</a:t>
            </a:r>
            <a:endParaRPr lang="en-US" sz="1350" dirty="0"/>
          </a:p>
        </p:txBody>
      </p:sp>
      <p:sp>
        <p:nvSpPr>
          <p:cNvPr id="6" name="rule"/>
          <p:cNvSpPr/>
          <p:nvPr/>
        </p:nvSpPr>
        <p:spPr>
          <a:xfrm>
            <a:off x="566928" y="4443984"/>
            <a:ext cx="2926080" cy="0"/>
          </a:xfrm>
          <a:prstGeom prst="line">
            <a:avLst/>
          </a:prstGeom>
          <a:noFill/>
          <a:ln w="12700">
            <a:solidFill>
              <a:srgbClr val="3A4160"/>
            </a:solidFill>
            <a:prstDash val="solid"/>
          </a:ln>
        </p:spPr>
      </p:sp>
      <p:sp>
        <p:nvSpPr>
          <p:cNvPr id="7" name="Text 5"/>
          <p:cNvSpPr txBox="1"/>
          <p:nvPr/>
        </p:nvSpPr>
        <p:spPr>
          <a:xfrm>
            <a:off x="566928" y="4626864"/>
            <a:ext cx="8778240" cy="274320"/>
          </a:xfrm>
          <a:prstGeom prst="rect">
            <a:avLst/>
          </a:prstGeom>
          <a:noFill/>
          <a:ln/>
        </p:spPr>
        <p:txBody>
          <a:bodyPr wrap="square" lIns="0" tIns="0" rIns="0" bIns="0" rtlCol="0" anchor="ctr"/>
          <a:lstStyle/>
          <a:p>
            <a:pPr indent="0" marL="0">
              <a:buNone/>
            </a:pPr>
            <a:r>
              <a:rPr lang="en-US" sz="1300" b="1" dirty="0">
                <a:solidFill>
                  <a:srgbClr val="FFFFFF"/>
                </a:solidFill>
              </a:rPr>
              <a:t>Review 1</a:t>
            </a:r>
            <a:pPr indent="0" marL="0">
              <a:buNone/>
            </a:pPr>
            <a:r>
              <a:rPr lang="en-US" sz="1300" dirty="0">
                <a:solidFill>
                  <a:srgbClr val="B9BFD2"/>
                </a:solidFill>
              </a:rPr>
              <a:t>   ·   Compiler Design course project</a:t>
            </a:r>
            <a:endParaRPr lang="en-US" sz="1300" dirty="0"/>
          </a:p>
        </p:txBody>
      </p:sp>
      <p:sp>
        <p:nvSpPr>
          <p:cNvPr id="8" name="Text 6"/>
          <p:cNvSpPr txBox="1"/>
          <p:nvPr/>
        </p:nvSpPr>
        <p:spPr>
          <a:xfrm>
            <a:off x="566928" y="4992624"/>
            <a:ext cx="10058400" cy="274320"/>
          </a:xfrm>
          <a:prstGeom prst="rect">
            <a:avLst/>
          </a:prstGeom>
          <a:noFill/>
          <a:ln/>
        </p:spPr>
        <p:txBody>
          <a:bodyPr wrap="square" lIns="0" tIns="0" rIns="0" bIns="0" rtlCol="0" anchor="ctr"/>
          <a:lstStyle/>
          <a:p>
            <a:pPr indent="0" marL="0">
              <a:buNone/>
            </a:pPr>
            <a:r>
              <a:rPr lang="en-US" sz="1200" dirty="0">
                <a:solidFill>
                  <a:srgbClr val="6B7187"/>
                </a:solidFill>
              </a:rPr>
              <a:t>Presented by  [Your name]  and  [Partner's name]      Guide: [Faculty name]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Beginners meet syntax before they meet logic</a:t>
            </a:r>
            <a:endParaRPr lang="en-US" sz="3200" dirty="0"/>
          </a:p>
        </p:txBody>
      </p:sp>
      <p:sp>
        <p:nvSpPr>
          <p:cNvPr id="3" name="Text 1"/>
          <p:cNvSpPr txBox="1"/>
          <p:nvPr/>
        </p:nvSpPr>
        <p:spPr>
          <a:xfrm>
            <a:off x="566928" y="1298448"/>
            <a:ext cx="5029200" cy="914400"/>
          </a:xfrm>
          <a:prstGeom prst="rect">
            <a:avLst/>
          </a:prstGeom>
          <a:noFill/>
          <a:ln/>
        </p:spPr>
        <p:txBody>
          <a:bodyPr wrap="square" lIns="0" tIns="0" rIns="0" bIns="0" rtlCol="0" anchor="ctr"/>
          <a:lstStyle/>
          <a:p>
            <a:pPr indent="0" marL="0">
              <a:lnSpc>
                <a:spcPct val="125000"/>
              </a:lnSpc>
              <a:buNone/>
            </a:pPr>
            <a:r>
              <a:rPr lang="en-US" sz="1450" dirty="0">
                <a:solidFill>
                  <a:srgbClr val="0E1020"/>
                </a:solidFill>
              </a:rPr>
              <a:t>A student writing their first conditional has to be told what </a:t>
            </a:r>
            <a:pPr indent="0" marL="0">
              <a:lnSpc>
                <a:spcPct val="125000"/>
              </a:lnSpc>
              <a:buNone/>
            </a:pPr>
            <a:r>
              <a:rPr lang="en-US" sz="1450" b="1" dirty="0">
                <a:solidFill>
                  <a:srgbClr val="0E1020"/>
                </a:solidFill>
                <a:latin typeface="Courier New" pitchFamily="34" charset="0"/>
                <a:ea typeface="Courier New" pitchFamily="34" charset="-122"/>
                <a:cs typeface="Courier New" pitchFamily="34" charset="-120"/>
              </a:rPr>
              <a:t>&gt;=</a:t>
            </a:r>
            <a:pPr indent="0" marL="0">
              <a:lnSpc>
                <a:spcPct val="125000"/>
              </a:lnSpc>
              <a:buNone/>
            </a:pPr>
            <a:r>
              <a:rPr lang="en-US" sz="1450" dirty="0">
                <a:solidFill>
                  <a:srgbClr val="0E1020"/>
                </a:solidFill>
              </a:rPr>
              <a:t>, </a:t>
            </a:r>
            <a:pPr indent="0" marL="0">
              <a:lnSpc>
                <a:spcPct val="125000"/>
              </a:lnSpc>
              <a:buNone/>
            </a:pPr>
            <a:r>
              <a:rPr lang="en-US" sz="1450" b="1" dirty="0">
                <a:solidFill>
                  <a:srgbClr val="0E1020"/>
                </a:solidFill>
                <a:latin typeface="Courier New" pitchFamily="34" charset="0"/>
                <a:ea typeface="Courier New" pitchFamily="34" charset="-122"/>
                <a:cs typeface="Courier New" pitchFamily="34" charset="-120"/>
              </a:rPr>
              <a:t>{ }</a:t>
            </a:r>
            <a:pPr indent="0" marL="0">
              <a:lnSpc>
                <a:spcPct val="125000"/>
              </a:lnSpc>
              <a:buNone/>
            </a:pPr>
            <a:r>
              <a:rPr lang="en-US" sz="1450" dirty="0">
                <a:solidFill>
                  <a:srgbClr val="0E1020"/>
                </a:solidFill>
              </a:rPr>
              <a:t> and </a:t>
            </a:r>
            <a:pPr indent="0" marL="0">
              <a:lnSpc>
                <a:spcPct val="125000"/>
              </a:lnSpc>
              <a:buNone/>
            </a:pPr>
            <a:r>
              <a:rPr lang="en-US" sz="1450" b="1" dirty="0">
                <a:solidFill>
                  <a:srgbClr val="0E1020"/>
                </a:solidFill>
                <a:latin typeface="Courier New" pitchFamily="34" charset="0"/>
                <a:ea typeface="Courier New" pitchFamily="34" charset="-122"/>
                <a:cs typeface="Courier New" pitchFamily="34" charset="-120"/>
              </a:rPr>
              <a:t>;</a:t>
            </a:r>
            <a:pPr indent="0" marL="0">
              <a:lnSpc>
                <a:spcPct val="125000"/>
              </a:lnSpc>
              <a:buNone/>
            </a:pPr>
            <a:r>
              <a:rPr lang="en-US" sz="1450" dirty="0">
                <a:solidFill>
                  <a:srgbClr val="0E1020"/>
                </a:solidFill>
              </a:rPr>
              <a:t> mean — none of which is about the decision they are trying to express.</a:t>
            </a:r>
            <a:endParaRPr lang="en-US" sz="1450" dirty="0"/>
          </a:p>
        </p:txBody>
      </p:sp>
      <p:sp>
        <p:nvSpPr>
          <p:cNvPr id="4" name="Text 2"/>
          <p:cNvSpPr txBox="1"/>
          <p:nvPr/>
        </p:nvSpPr>
        <p:spPr>
          <a:xfrm>
            <a:off x="566928" y="2322576"/>
            <a:ext cx="5029200" cy="1737360"/>
          </a:xfrm>
          <a:prstGeom prst="rect">
            <a:avLst/>
          </a:prstGeom>
          <a:noFill/>
          <a:ln/>
        </p:spPr>
        <p:txBody>
          <a:bodyPr wrap="square" lIns="0" tIns="0" rIns="0" bIns="0" rtlCol="0" anchor="ctr"/>
          <a:lstStyle/>
          <a:p>
            <a:pPr marL="342900" indent="-342900">
              <a:spcAft>
                <a:spcPts val="900"/>
              </a:spcAft>
              <a:buSzPct val="100000"/>
              <a:buChar char="•"/>
            </a:pPr>
            <a:r>
              <a:rPr lang="en-US" sz="1350" dirty="0">
                <a:solidFill>
                  <a:srgbClr val="6B7187"/>
                </a:solidFill>
              </a:rPr>
              <a:t>Symbols are learned as vocabulary before they are useful as notation.</a:t>
            </a:r>
            <a:endParaRPr lang="en-US" sz="1350" dirty="0"/>
          </a:p>
          <a:p>
            <a:pPr marL="342900" indent="-342900">
              <a:spcAft>
                <a:spcPts val="900"/>
              </a:spcAft>
              <a:buSzPct val="100000"/>
              <a:buChar char="•"/>
            </a:pPr>
            <a:r>
              <a:rPr lang="en-US" sz="1350" dirty="0">
                <a:solidFill>
                  <a:srgbClr val="6B7187"/>
                </a:solidFill>
              </a:rPr>
              <a:t>A missing semicolon produces an error about a token, not about the mistake.</a:t>
            </a:r>
            <a:endParaRPr lang="en-US" sz="1350" dirty="0"/>
          </a:p>
          <a:p>
            <a:pPr marL="342900" indent="-342900">
              <a:spcAft>
                <a:spcPts val="900"/>
              </a:spcAft>
              <a:buSzPct val="100000"/>
              <a:buChar char="•"/>
            </a:pPr>
            <a:r>
              <a:rPr lang="en-US" sz="1350" dirty="0">
                <a:solidFill>
                  <a:srgbClr val="6B7187"/>
                </a:solidFill>
              </a:rPr>
              <a:t>Most student compiler projects clone C-like syntax, so no design decision is ever made.</a:t>
            </a:r>
            <a:endParaRPr lang="en-US" sz="1350" dirty="0"/>
          </a:p>
        </p:txBody>
      </p:sp>
      <p:sp>
        <p:nvSpPr>
          <p:cNvPr id="5" name="Text 3"/>
          <p:cNvSpPr txBox="1"/>
          <p:nvPr/>
        </p:nvSpPr>
        <p:spPr>
          <a:xfrm>
            <a:off x="6035040" y="1298448"/>
            <a:ext cx="5586984" cy="219456"/>
          </a:xfrm>
          <a:prstGeom prst="rect">
            <a:avLst/>
          </a:prstGeom>
          <a:noFill/>
          <a:ln/>
        </p:spPr>
        <p:txBody>
          <a:bodyPr wrap="square" lIns="0" tIns="0" rIns="0" bIns="0" rtlCol="0" anchor="ctr"/>
          <a:lstStyle/>
          <a:p>
            <a:pPr indent="0" marL="0">
              <a:buNone/>
            </a:pPr>
            <a:r>
              <a:rPr lang="en-US" sz="1000" b="1" spc="120" kern="0" dirty="0">
                <a:solidFill>
                  <a:srgbClr val="6B7187"/>
                </a:solidFill>
              </a:rPr>
              <a:t>WHAT A BEGINNER MEETS FIRST</a:t>
            </a:r>
            <a:endParaRPr lang="en-US" sz="1000" dirty="0"/>
          </a:p>
        </p:txBody>
      </p:sp>
      <p:sp>
        <p:nvSpPr>
          <p:cNvPr id="6" name="code-c"/>
          <p:cNvSpPr/>
          <p:nvPr/>
        </p:nvSpPr>
        <p:spPr>
          <a:xfrm>
            <a:off x="6035040" y="1572768"/>
            <a:ext cx="5586984" cy="1051560"/>
          </a:xfrm>
          <a:prstGeom prst="roundRect">
            <a:avLst>
              <a:gd name="adj" fmla="val 2609"/>
            </a:avLst>
          </a:prstGeom>
          <a:solidFill>
            <a:srgbClr val="F2F3F8"/>
          </a:solidFill>
          <a:ln w="12700">
            <a:solidFill>
              <a:srgbClr val="E2E5EE"/>
            </a:solidFill>
            <a:prstDash val="solid"/>
          </a:ln>
        </p:spPr>
      </p:sp>
      <p:sp>
        <p:nvSpPr>
          <p:cNvPr id="7" name="Text 5"/>
          <p:cNvSpPr txBox="1"/>
          <p:nvPr/>
        </p:nvSpPr>
        <p:spPr>
          <a:xfrm>
            <a:off x="6181344" y="1682496"/>
            <a:ext cx="5294376" cy="832104"/>
          </a:xfrm>
          <a:prstGeom prst="rect">
            <a:avLst/>
          </a:prstGeom>
          <a:noFill/>
          <a:ln/>
        </p:spPr>
        <p:txBody>
          <a:bodyPr wrap="square" lIns="0" tIns="0" rIns="0" bIns="0" rtlCol="0" anchor="t"/>
          <a:lstStyle/>
          <a:p>
            <a:pPr algn="l" indent="0" marL="0">
              <a:lnSpc>
                <a:spcPct val="112000"/>
              </a:lnSpc>
              <a:buNone/>
            </a:pPr>
            <a:r>
              <a:rPr lang="en-US" sz="1300" dirty="0">
                <a:solidFill>
                  <a:srgbClr val="0E1020"/>
                </a:solidFill>
                <a:latin typeface="Courier New" pitchFamily="34" charset="0"/>
                <a:ea typeface="Courier New" pitchFamily="34" charset="-122"/>
                <a:cs typeface="Courier New" pitchFamily="34" charset="-120"/>
              </a:rPr>
              <a:t>if (score &gt;= 90) {</a:t>
            </a:r>
            <a:endParaRPr lang="en-US" sz="1300" dirty="0"/>
          </a:p>
          <a:p>
            <a:pPr algn="l" indent="0" marL="0">
              <a:lnSpc>
                <a:spcPct val="112000"/>
              </a:lnSpc>
              <a:buNone/>
            </a:pPr>
            <a:r>
              <a:rPr lang="en-US" sz="1300" dirty="0">
                <a:solidFill>
                  <a:srgbClr val="0E1020"/>
                </a:solidFill>
                <a:latin typeface="Courier New" pitchFamily="34" charset="0"/>
                <a:ea typeface="Courier New" pitchFamily="34" charset="-122"/>
                <a:cs typeface="Courier New" pitchFamily="34" charset="-120"/>
              </a:rPr>
              <a:t>    printf("A");</a:t>
            </a:r>
            <a:endParaRPr lang="en-US" sz="1300" dirty="0"/>
          </a:p>
          <a:p>
            <a:pPr algn="l" indent="0" marL="0">
              <a:lnSpc>
                <a:spcPct val="112000"/>
              </a:lnSpc>
              <a:buNone/>
            </a:pPr>
            <a:r>
              <a:rPr lang="en-US" sz="1300" dirty="0">
                <a:solidFill>
                  <a:srgbClr val="0E1020"/>
                </a:solidFill>
                <a:latin typeface="Courier New" pitchFamily="34" charset="0"/>
                <a:ea typeface="Courier New" pitchFamily="34" charset="-122"/>
                <a:cs typeface="Courier New" pitchFamily="34" charset="-120"/>
              </a:rPr>
              <a:t>}</a:t>
            </a:r>
            <a:endParaRPr lang="en-US" sz="1300" dirty="0"/>
          </a:p>
        </p:txBody>
      </p:sp>
      <p:sp>
        <p:nvSpPr>
          <p:cNvPr id="8" name="Text 6"/>
          <p:cNvSpPr txBox="1"/>
          <p:nvPr/>
        </p:nvSpPr>
        <p:spPr>
          <a:xfrm>
            <a:off x="6035040" y="2907792"/>
            <a:ext cx="5586984" cy="219456"/>
          </a:xfrm>
          <a:prstGeom prst="rect">
            <a:avLst/>
          </a:prstGeom>
          <a:noFill/>
          <a:ln/>
        </p:spPr>
        <p:txBody>
          <a:bodyPr wrap="square" lIns="0" tIns="0" rIns="0" bIns="0" rtlCol="0" anchor="ctr"/>
          <a:lstStyle/>
          <a:p>
            <a:pPr indent="0" marL="0">
              <a:buNone/>
            </a:pPr>
            <a:r>
              <a:rPr lang="en-US" sz="1000" b="1" spc="120" kern="0" dirty="0">
                <a:solidFill>
                  <a:srgbClr val="6B7187"/>
                </a:solidFill>
              </a:rPr>
              <a:t>THE SAME DECISION IN STICKYNIGHT</a:t>
            </a:r>
            <a:endParaRPr lang="en-US" sz="1000" dirty="0"/>
          </a:p>
        </p:txBody>
      </p:sp>
      <p:sp>
        <p:nvSpPr>
          <p:cNvPr id="9" name="code-sn"/>
          <p:cNvSpPr/>
          <p:nvPr/>
        </p:nvSpPr>
        <p:spPr>
          <a:xfrm>
            <a:off x="6035040" y="3182112"/>
            <a:ext cx="5586984" cy="841248"/>
          </a:xfrm>
          <a:prstGeom prst="roundRect">
            <a:avLst>
              <a:gd name="adj" fmla="val 3261"/>
            </a:avLst>
          </a:prstGeom>
          <a:solidFill>
            <a:srgbClr val="1E2340"/>
          </a:solidFill>
          <a:ln w="12700">
            <a:solidFill>
              <a:srgbClr val="1E2340"/>
            </a:solidFill>
            <a:prstDash val="solid"/>
          </a:ln>
        </p:spPr>
      </p:sp>
      <p:sp>
        <p:nvSpPr>
          <p:cNvPr id="10" name="Text 8"/>
          <p:cNvSpPr txBox="1"/>
          <p:nvPr/>
        </p:nvSpPr>
        <p:spPr>
          <a:xfrm>
            <a:off x="6181344" y="3291840"/>
            <a:ext cx="5294376" cy="621792"/>
          </a:xfrm>
          <a:prstGeom prst="rect">
            <a:avLst/>
          </a:prstGeom>
          <a:noFill/>
          <a:ln/>
        </p:spPr>
        <p:txBody>
          <a:bodyPr wrap="square" lIns="0" tIns="0" rIns="0" bIns="0" rtlCol="0" anchor="t"/>
          <a:lstStyle/>
          <a:p>
            <a:pPr algn="l" indent="0" marL="0">
              <a:lnSpc>
                <a:spcPct val="112000"/>
              </a:lnSpc>
              <a:buNone/>
            </a:pPr>
            <a:r>
              <a:rPr lang="en-US" sz="1300" dirty="0">
                <a:solidFill>
                  <a:srgbClr val="FFFFFF"/>
                </a:solidFill>
                <a:latin typeface="Courier New" pitchFamily="34" charset="0"/>
                <a:ea typeface="Courier New" pitchFamily="34" charset="-122"/>
                <a:cs typeface="Courier New" pitchFamily="34" charset="-120"/>
              </a:rPr>
              <a:t>if score is at least 90:</a:t>
            </a:r>
            <a:endParaRPr lang="en-US" sz="1300" dirty="0"/>
          </a:p>
          <a:p>
            <a:pPr algn="l" indent="0" marL="0">
              <a:lnSpc>
                <a:spcPct val="112000"/>
              </a:lnSpc>
              <a:buNone/>
            </a:pPr>
            <a:r>
              <a:rPr lang="en-US" sz="1300" dirty="0">
                <a:solidFill>
                  <a:srgbClr val="FFFFFF"/>
                </a:solidFill>
                <a:latin typeface="Courier New" pitchFamily="34" charset="0"/>
                <a:ea typeface="Courier New" pitchFamily="34" charset="-122"/>
                <a:cs typeface="Courier New" pitchFamily="34" charset="-120"/>
              </a:rPr>
              <a:t>    say "A"</a:t>
            </a:r>
            <a:endParaRPr lang="en-US" sz="1300" dirty="0"/>
          </a:p>
        </p:txBody>
      </p:sp>
      <p:sp>
        <p:nvSpPr>
          <p:cNvPr id="11" name="Text 9"/>
          <p:cNvSpPr txBox="1"/>
          <p:nvPr/>
        </p:nvSpPr>
        <p:spPr>
          <a:xfrm>
            <a:off x="6035040" y="4206240"/>
            <a:ext cx="5586984" cy="457200"/>
          </a:xfrm>
          <a:prstGeom prst="rect">
            <a:avLst/>
          </a:prstGeom>
          <a:noFill/>
          <a:ln/>
        </p:spPr>
        <p:txBody>
          <a:bodyPr wrap="square" lIns="0" tIns="0" rIns="0" bIns="0" rtlCol="0" anchor="ctr"/>
          <a:lstStyle/>
          <a:p>
            <a:pPr indent="0" marL="0">
              <a:buNone/>
            </a:pPr>
            <a:r>
              <a:rPr lang="en-US" sz="1200" i="1" dirty="0">
                <a:solidFill>
                  <a:srgbClr val="6B7187"/>
                </a:solidFill>
              </a:rPr>
              <a:t>Same logic, same control flow — five fewer things to explain before the lesson starts.</a:t>
            </a:r>
            <a:endParaRPr lang="en-US" sz="120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Objectives</a:t>
            </a:r>
            <a:endParaRPr lang="en-US" sz="3200" dirty="0"/>
          </a:p>
        </p:txBody>
      </p:sp>
      <p:sp>
        <p:nvSpPr>
          <p:cNvPr id="3" name="num-1"/>
          <p:cNvSpPr/>
          <p:nvPr/>
        </p:nvSpPr>
        <p:spPr>
          <a:xfrm>
            <a:off x="566928" y="1316736"/>
            <a:ext cx="310896" cy="310896"/>
          </a:xfrm>
          <a:prstGeom prst="ellipse">
            <a:avLst/>
          </a:prstGeom>
          <a:solidFill>
            <a:srgbClr val="FFC857"/>
          </a:solidFill>
          <a:ln w="12700">
            <a:solidFill>
              <a:srgbClr val="FFC857"/>
            </a:solidFill>
            <a:prstDash val="solid"/>
          </a:ln>
        </p:spPr>
      </p:sp>
      <p:sp>
        <p:nvSpPr>
          <p:cNvPr id="4" name="Text 2"/>
          <p:cNvSpPr txBox="1"/>
          <p:nvPr/>
        </p:nvSpPr>
        <p:spPr>
          <a:xfrm>
            <a:off x="566928" y="1316736"/>
            <a:ext cx="310896" cy="310896"/>
          </a:xfrm>
          <a:prstGeom prst="rect">
            <a:avLst/>
          </a:prstGeom>
          <a:noFill/>
          <a:ln/>
        </p:spPr>
        <p:txBody>
          <a:bodyPr wrap="square" lIns="0" tIns="0" rIns="0" bIns="0" rtlCol="0" anchor="ctr"/>
          <a:lstStyle/>
          <a:p>
            <a:pPr algn="ctr" indent="0" marL="0">
              <a:buNone/>
            </a:pPr>
            <a:r>
              <a:rPr lang="en-US" sz="1300" b="1" dirty="0">
                <a:solidFill>
                  <a:srgbClr val="0E1020"/>
                </a:solidFill>
              </a:rPr>
              <a:t>1</a:t>
            </a:r>
            <a:endParaRPr lang="en-US" sz="1300" dirty="0"/>
          </a:p>
        </p:txBody>
      </p:sp>
      <p:sp>
        <p:nvSpPr>
          <p:cNvPr id="5" name="Text 3"/>
          <p:cNvSpPr txBox="1"/>
          <p:nvPr/>
        </p:nvSpPr>
        <p:spPr>
          <a:xfrm>
            <a:off x="1042416" y="1289304"/>
            <a:ext cx="10579608" cy="274320"/>
          </a:xfrm>
          <a:prstGeom prst="rect">
            <a:avLst/>
          </a:prstGeom>
          <a:noFill/>
          <a:ln/>
        </p:spPr>
        <p:txBody>
          <a:bodyPr wrap="square" lIns="0" tIns="0" rIns="0" bIns="0" rtlCol="0" anchor="ctr"/>
          <a:lstStyle/>
          <a:p>
            <a:pPr indent="0" marL="0">
              <a:buNone/>
            </a:pPr>
            <a:r>
              <a:rPr lang="en-US" sz="1500" b="1" dirty="0">
                <a:solidFill>
                  <a:srgbClr val="0E1020"/>
                </a:solidFill>
              </a:rPr>
              <a:t>Design a complete original language</a:t>
            </a:r>
            <a:endParaRPr lang="en-US" sz="1500" dirty="0"/>
          </a:p>
        </p:txBody>
      </p:sp>
      <p:sp>
        <p:nvSpPr>
          <p:cNvPr id="6" name="Text 4"/>
          <p:cNvSpPr txBox="1"/>
          <p:nvPr/>
        </p:nvSpPr>
        <p:spPr>
          <a:xfrm>
            <a:off x="1042416" y="1572768"/>
            <a:ext cx="10579608" cy="402336"/>
          </a:xfrm>
          <a:prstGeom prst="rect">
            <a:avLst/>
          </a:prstGeom>
          <a:noFill/>
          <a:ln/>
        </p:spPr>
        <p:txBody>
          <a:bodyPr wrap="square" lIns="0" tIns="0" rIns="0" bIns="0" rtlCol="0" anchor="t"/>
          <a:lstStyle/>
          <a:p>
            <a:pPr indent="0" marL="0">
              <a:lnSpc>
                <a:spcPct val="105000"/>
              </a:lnSpc>
              <a:buNone/>
            </a:pPr>
            <a:r>
              <a:rPr lang="en-US" sz="1250" dirty="0">
                <a:solidFill>
                  <a:srgbClr val="6B7187"/>
                </a:solidFill>
              </a:rPr>
              <a:t>Keyword set, operator phrases, indentation rules, and the value model — fixed before any code is written.</a:t>
            </a:r>
            <a:endParaRPr lang="en-US" sz="1250" dirty="0"/>
          </a:p>
        </p:txBody>
      </p:sp>
      <p:sp>
        <p:nvSpPr>
          <p:cNvPr id="7" name="num-2"/>
          <p:cNvSpPr/>
          <p:nvPr/>
        </p:nvSpPr>
        <p:spPr>
          <a:xfrm>
            <a:off x="566928" y="2276856"/>
            <a:ext cx="310896" cy="310896"/>
          </a:xfrm>
          <a:prstGeom prst="ellipse">
            <a:avLst/>
          </a:prstGeom>
          <a:solidFill>
            <a:srgbClr val="FFC857"/>
          </a:solidFill>
          <a:ln w="12700">
            <a:solidFill>
              <a:srgbClr val="FFC857"/>
            </a:solidFill>
            <a:prstDash val="solid"/>
          </a:ln>
        </p:spPr>
      </p:sp>
      <p:sp>
        <p:nvSpPr>
          <p:cNvPr id="8" name="Text 6"/>
          <p:cNvSpPr txBox="1"/>
          <p:nvPr/>
        </p:nvSpPr>
        <p:spPr>
          <a:xfrm>
            <a:off x="566928" y="2276856"/>
            <a:ext cx="310896" cy="310896"/>
          </a:xfrm>
          <a:prstGeom prst="rect">
            <a:avLst/>
          </a:prstGeom>
          <a:noFill/>
          <a:ln/>
        </p:spPr>
        <p:txBody>
          <a:bodyPr wrap="square" lIns="0" tIns="0" rIns="0" bIns="0" rtlCol="0" anchor="ctr"/>
          <a:lstStyle/>
          <a:p>
            <a:pPr algn="ctr" indent="0" marL="0">
              <a:buNone/>
            </a:pPr>
            <a:r>
              <a:rPr lang="en-US" sz="1300" b="1" dirty="0">
                <a:solidFill>
                  <a:srgbClr val="0E1020"/>
                </a:solidFill>
              </a:rPr>
              <a:t>2</a:t>
            </a:r>
            <a:endParaRPr lang="en-US" sz="1300" dirty="0"/>
          </a:p>
        </p:txBody>
      </p:sp>
      <p:sp>
        <p:nvSpPr>
          <p:cNvPr id="9" name="Text 7"/>
          <p:cNvSpPr txBox="1"/>
          <p:nvPr/>
        </p:nvSpPr>
        <p:spPr>
          <a:xfrm>
            <a:off x="1042416" y="2249424"/>
            <a:ext cx="10579608" cy="274320"/>
          </a:xfrm>
          <a:prstGeom prst="rect">
            <a:avLst/>
          </a:prstGeom>
          <a:noFill/>
          <a:ln/>
        </p:spPr>
        <p:txBody>
          <a:bodyPr wrap="square" lIns="0" tIns="0" rIns="0" bIns="0" rtlCol="0" anchor="ctr"/>
          <a:lstStyle/>
          <a:p>
            <a:pPr indent="0" marL="0">
              <a:buNone/>
            </a:pPr>
            <a:r>
              <a:rPr lang="en-US" sz="1500" b="1" dirty="0">
                <a:solidFill>
                  <a:srgbClr val="0E1020"/>
                </a:solidFill>
              </a:rPr>
              <a:t>Write a formal EBNF grammar first</a:t>
            </a:r>
            <a:endParaRPr lang="en-US" sz="1500" dirty="0"/>
          </a:p>
        </p:txBody>
      </p:sp>
      <p:sp>
        <p:nvSpPr>
          <p:cNvPr id="10" name="Text 8"/>
          <p:cNvSpPr txBox="1"/>
          <p:nvPr/>
        </p:nvSpPr>
        <p:spPr>
          <a:xfrm>
            <a:off x="1042416" y="2532888"/>
            <a:ext cx="10579608" cy="402336"/>
          </a:xfrm>
          <a:prstGeom prst="rect">
            <a:avLst/>
          </a:prstGeom>
          <a:noFill/>
          <a:ln/>
        </p:spPr>
        <p:txBody>
          <a:bodyPr wrap="square" lIns="0" tIns="0" rIns="0" bIns="0" rtlCol="0" anchor="t"/>
          <a:lstStyle/>
          <a:p>
            <a:pPr indent="0" marL="0">
              <a:lnSpc>
                <a:spcPct val="105000"/>
              </a:lnSpc>
              <a:buNone/>
            </a:pPr>
            <a:r>
              <a:rPr lang="en-US" sz="1250" dirty="0">
                <a:solidFill>
                  <a:srgbClr val="6B7187"/>
                </a:solidFill>
              </a:rPr>
              <a:t>A context-free grammar that the parser is derived from directly, rather than documented afterwards.</a:t>
            </a:r>
            <a:endParaRPr lang="en-US" sz="1250" dirty="0"/>
          </a:p>
        </p:txBody>
      </p:sp>
      <p:sp>
        <p:nvSpPr>
          <p:cNvPr id="11" name="num-3"/>
          <p:cNvSpPr/>
          <p:nvPr/>
        </p:nvSpPr>
        <p:spPr>
          <a:xfrm>
            <a:off x="566928" y="3236976"/>
            <a:ext cx="310896" cy="310896"/>
          </a:xfrm>
          <a:prstGeom prst="ellipse">
            <a:avLst/>
          </a:prstGeom>
          <a:solidFill>
            <a:srgbClr val="FFC857"/>
          </a:solidFill>
          <a:ln w="12700">
            <a:solidFill>
              <a:srgbClr val="FFC857"/>
            </a:solidFill>
            <a:prstDash val="solid"/>
          </a:ln>
        </p:spPr>
      </p:sp>
      <p:sp>
        <p:nvSpPr>
          <p:cNvPr id="12" name="Text 10"/>
          <p:cNvSpPr txBox="1"/>
          <p:nvPr/>
        </p:nvSpPr>
        <p:spPr>
          <a:xfrm>
            <a:off x="566928" y="3236976"/>
            <a:ext cx="310896" cy="310896"/>
          </a:xfrm>
          <a:prstGeom prst="rect">
            <a:avLst/>
          </a:prstGeom>
          <a:noFill/>
          <a:ln/>
        </p:spPr>
        <p:txBody>
          <a:bodyPr wrap="square" lIns="0" tIns="0" rIns="0" bIns="0" rtlCol="0" anchor="ctr"/>
          <a:lstStyle/>
          <a:p>
            <a:pPr algn="ctr" indent="0" marL="0">
              <a:buNone/>
            </a:pPr>
            <a:r>
              <a:rPr lang="en-US" sz="1300" b="1" dirty="0">
                <a:solidFill>
                  <a:srgbClr val="0E1020"/>
                </a:solidFill>
              </a:rPr>
              <a:t>3</a:t>
            </a:r>
            <a:endParaRPr lang="en-US" sz="1300" dirty="0"/>
          </a:p>
        </p:txBody>
      </p:sp>
      <p:sp>
        <p:nvSpPr>
          <p:cNvPr id="13" name="Text 11"/>
          <p:cNvSpPr txBox="1"/>
          <p:nvPr/>
        </p:nvSpPr>
        <p:spPr>
          <a:xfrm>
            <a:off x="1042416" y="3209544"/>
            <a:ext cx="10579608" cy="274320"/>
          </a:xfrm>
          <a:prstGeom prst="rect">
            <a:avLst/>
          </a:prstGeom>
          <a:noFill/>
          <a:ln/>
        </p:spPr>
        <p:txBody>
          <a:bodyPr wrap="square" lIns="0" tIns="0" rIns="0" bIns="0" rtlCol="0" anchor="ctr"/>
          <a:lstStyle/>
          <a:p>
            <a:pPr indent="0" marL="0">
              <a:buNone/>
            </a:pPr>
            <a:r>
              <a:rPr lang="en-US" sz="1500" b="1" dirty="0">
                <a:solidFill>
                  <a:srgbClr val="0E1020"/>
                </a:solidFill>
              </a:rPr>
              <a:t>Build a hand-written lexical analyser</a:t>
            </a:r>
            <a:endParaRPr lang="en-US" sz="1500" dirty="0"/>
          </a:p>
        </p:txBody>
      </p:sp>
      <p:sp>
        <p:nvSpPr>
          <p:cNvPr id="14" name="Text 12"/>
          <p:cNvSpPr txBox="1"/>
          <p:nvPr/>
        </p:nvSpPr>
        <p:spPr>
          <a:xfrm>
            <a:off x="1042416" y="3493008"/>
            <a:ext cx="10579608" cy="402336"/>
          </a:xfrm>
          <a:prstGeom prst="rect">
            <a:avLst/>
          </a:prstGeom>
          <a:noFill/>
          <a:ln/>
        </p:spPr>
        <p:txBody>
          <a:bodyPr wrap="square" lIns="0" tIns="0" rIns="0" bIns="0" rtlCol="0" anchor="t"/>
          <a:lstStyle/>
          <a:p>
            <a:pPr indent="0" marL="0">
              <a:lnSpc>
                <a:spcPct val="105000"/>
              </a:lnSpc>
              <a:buNone/>
            </a:pPr>
            <a:r>
              <a:rPr lang="en-US" sz="1250" dirty="0">
                <a:solidFill>
                  <a:srgbClr val="6B7187"/>
                </a:solidFill>
              </a:rPr>
              <a:t>Character-level scanning with no regular expressions, synthesising INDENT and DEDENT from column positions.</a:t>
            </a:r>
            <a:endParaRPr lang="en-US" sz="1250" dirty="0"/>
          </a:p>
        </p:txBody>
      </p:sp>
      <p:sp>
        <p:nvSpPr>
          <p:cNvPr id="15" name="num-4"/>
          <p:cNvSpPr/>
          <p:nvPr/>
        </p:nvSpPr>
        <p:spPr>
          <a:xfrm>
            <a:off x="566928" y="4197096"/>
            <a:ext cx="310896" cy="310896"/>
          </a:xfrm>
          <a:prstGeom prst="ellipse">
            <a:avLst/>
          </a:prstGeom>
          <a:solidFill>
            <a:srgbClr val="FFC857"/>
          </a:solidFill>
          <a:ln w="12700">
            <a:solidFill>
              <a:srgbClr val="FFC857"/>
            </a:solidFill>
            <a:prstDash val="solid"/>
          </a:ln>
        </p:spPr>
      </p:sp>
      <p:sp>
        <p:nvSpPr>
          <p:cNvPr id="16" name="Text 14"/>
          <p:cNvSpPr txBox="1"/>
          <p:nvPr/>
        </p:nvSpPr>
        <p:spPr>
          <a:xfrm>
            <a:off x="566928" y="4197096"/>
            <a:ext cx="310896" cy="310896"/>
          </a:xfrm>
          <a:prstGeom prst="rect">
            <a:avLst/>
          </a:prstGeom>
          <a:noFill/>
          <a:ln/>
        </p:spPr>
        <p:txBody>
          <a:bodyPr wrap="square" lIns="0" tIns="0" rIns="0" bIns="0" rtlCol="0" anchor="ctr"/>
          <a:lstStyle/>
          <a:p>
            <a:pPr algn="ctr" indent="0" marL="0">
              <a:buNone/>
            </a:pPr>
            <a:r>
              <a:rPr lang="en-US" sz="1300" b="1" dirty="0">
                <a:solidFill>
                  <a:srgbClr val="0E1020"/>
                </a:solidFill>
              </a:rPr>
              <a:t>4</a:t>
            </a:r>
            <a:endParaRPr lang="en-US" sz="1300" dirty="0"/>
          </a:p>
        </p:txBody>
      </p:sp>
      <p:sp>
        <p:nvSpPr>
          <p:cNvPr id="17" name="Text 15"/>
          <p:cNvSpPr txBox="1"/>
          <p:nvPr/>
        </p:nvSpPr>
        <p:spPr>
          <a:xfrm>
            <a:off x="1042416" y="4169664"/>
            <a:ext cx="10579608" cy="274320"/>
          </a:xfrm>
          <a:prstGeom prst="rect">
            <a:avLst/>
          </a:prstGeom>
          <a:noFill/>
          <a:ln/>
        </p:spPr>
        <p:txBody>
          <a:bodyPr wrap="square" lIns="0" tIns="0" rIns="0" bIns="0" rtlCol="0" anchor="ctr"/>
          <a:lstStyle/>
          <a:p>
            <a:pPr indent="0" marL="0">
              <a:buNone/>
            </a:pPr>
            <a:r>
              <a:rPr lang="en-US" sz="1500" b="1" dirty="0">
                <a:solidFill>
                  <a:srgbClr val="0E1020"/>
                </a:solidFill>
              </a:rPr>
              <a:t>Build a recursive-descent parser</a:t>
            </a:r>
            <a:endParaRPr lang="en-US" sz="1500" dirty="0"/>
          </a:p>
        </p:txBody>
      </p:sp>
      <p:sp>
        <p:nvSpPr>
          <p:cNvPr id="18" name="Text 16"/>
          <p:cNvSpPr txBox="1"/>
          <p:nvPr/>
        </p:nvSpPr>
        <p:spPr>
          <a:xfrm>
            <a:off x="1042416" y="4453128"/>
            <a:ext cx="10579608" cy="402336"/>
          </a:xfrm>
          <a:prstGeom prst="rect">
            <a:avLst/>
          </a:prstGeom>
          <a:noFill/>
          <a:ln/>
        </p:spPr>
        <p:txBody>
          <a:bodyPr wrap="square" lIns="0" tIns="0" rIns="0" bIns="0" rtlCol="0" anchor="t"/>
          <a:lstStyle/>
          <a:p>
            <a:pPr indent="0" marL="0">
              <a:lnSpc>
                <a:spcPct val="105000"/>
              </a:lnSpc>
              <a:buNone/>
            </a:pPr>
            <a:r>
              <a:rPr lang="en-US" sz="1250" dirty="0">
                <a:solidFill>
                  <a:srgbClr val="6B7187"/>
                </a:solidFill>
              </a:rPr>
              <a:t>Producing an AST, and resolving multi-word operator phrases such as "is at least" without backtracking.</a:t>
            </a:r>
            <a:endParaRPr lang="en-US" sz="1250" dirty="0"/>
          </a:p>
        </p:txBody>
      </p:sp>
      <p:sp>
        <p:nvSpPr>
          <p:cNvPr id="19" name="num-5"/>
          <p:cNvSpPr/>
          <p:nvPr/>
        </p:nvSpPr>
        <p:spPr>
          <a:xfrm>
            <a:off x="566928" y="5157216"/>
            <a:ext cx="310896" cy="310896"/>
          </a:xfrm>
          <a:prstGeom prst="ellipse">
            <a:avLst/>
          </a:prstGeom>
          <a:solidFill>
            <a:srgbClr val="FFC857"/>
          </a:solidFill>
          <a:ln w="12700">
            <a:solidFill>
              <a:srgbClr val="FFC857"/>
            </a:solidFill>
            <a:prstDash val="solid"/>
          </a:ln>
        </p:spPr>
      </p:sp>
      <p:sp>
        <p:nvSpPr>
          <p:cNvPr id="20" name="Text 18"/>
          <p:cNvSpPr txBox="1"/>
          <p:nvPr/>
        </p:nvSpPr>
        <p:spPr>
          <a:xfrm>
            <a:off x="566928" y="5157216"/>
            <a:ext cx="310896" cy="310896"/>
          </a:xfrm>
          <a:prstGeom prst="rect">
            <a:avLst/>
          </a:prstGeom>
          <a:noFill/>
          <a:ln/>
        </p:spPr>
        <p:txBody>
          <a:bodyPr wrap="square" lIns="0" tIns="0" rIns="0" bIns="0" rtlCol="0" anchor="ctr"/>
          <a:lstStyle/>
          <a:p>
            <a:pPr algn="ctr" indent="0" marL="0">
              <a:buNone/>
            </a:pPr>
            <a:r>
              <a:rPr lang="en-US" sz="1300" b="1" dirty="0">
                <a:solidFill>
                  <a:srgbClr val="0E1020"/>
                </a:solidFill>
              </a:rPr>
              <a:t>5</a:t>
            </a:r>
            <a:endParaRPr lang="en-US" sz="1300" dirty="0"/>
          </a:p>
        </p:txBody>
      </p:sp>
      <p:sp>
        <p:nvSpPr>
          <p:cNvPr id="21" name="Text 19"/>
          <p:cNvSpPr txBox="1"/>
          <p:nvPr/>
        </p:nvSpPr>
        <p:spPr>
          <a:xfrm>
            <a:off x="1042416" y="5129784"/>
            <a:ext cx="10579608" cy="274320"/>
          </a:xfrm>
          <a:prstGeom prst="rect">
            <a:avLst/>
          </a:prstGeom>
          <a:noFill/>
          <a:ln/>
        </p:spPr>
        <p:txBody>
          <a:bodyPr wrap="square" lIns="0" tIns="0" rIns="0" bIns="0" rtlCol="0" anchor="ctr"/>
          <a:lstStyle/>
          <a:p>
            <a:pPr indent="0" marL="0">
              <a:buNone/>
            </a:pPr>
            <a:r>
              <a:rPr lang="en-US" sz="1500" b="1" dirty="0">
                <a:solidFill>
                  <a:srgbClr val="0E1020"/>
                </a:solidFill>
              </a:rPr>
              <a:t>Execute, and explain every failure</a:t>
            </a:r>
            <a:endParaRPr lang="en-US" sz="1500" dirty="0"/>
          </a:p>
        </p:txBody>
      </p:sp>
      <p:sp>
        <p:nvSpPr>
          <p:cNvPr id="22" name="Text 20"/>
          <p:cNvSpPr txBox="1"/>
          <p:nvPr/>
        </p:nvSpPr>
        <p:spPr>
          <a:xfrm>
            <a:off x="1042416" y="5413248"/>
            <a:ext cx="10579608" cy="402336"/>
          </a:xfrm>
          <a:prstGeom prst="rect">
            <a:avLst/>
          </a:prstGeom>
          <a:noFill/>
          <a:ln/>
        </p:spPr>
        <p:txBody>
          <a:bodyPr wrap="square" lIns="0" tIns="0" rIns="0" bIns="0" rtlCol="0" anchor="t"/>
          <a:lstStyle/>
          <a:p>
            <a:pPr indent="0" marL="0">
              <a:lnSpc>
                <a:spcPct val="105000"/>
              </a:lnSpc>
              <a:buNone/>
            </a:pPr>
            <a:r>
              <a:rPr lang="en-US" sz="1250" dirty="0">
                <a:solidFill>
                  <a:srgbClr val="6B7187"/>
                </a:solidFill>
              </a:rPr>
              <a:t>A tree-walking interpreter, and errors that carry a line number, a caret, and a suggested fix at every stage.</a:t>
            </a:r>
            <a:endParaRPr lang="en-US" sz="125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Literature survey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316736"/>
          <a:ext cx="11055096" cy="914400"/>
        </p:xfrm>
        <a:graphic>
          <a:graphicData uri="http://schemas.openxmlformats.org/drawingml/2006/table">
            <a:tbl>
              <a:tblPr/>
              <a:tblGrid>
                <a:gridCol w="2331720"/>
                <a:gridCol w="3931920"/>
                <a:gridCol w="4791456"/>
              </a:tblGrid>
              <a:tr h="384048">
                <a:tc>
                  <a:txBody>
                    <a:bodyPr/>
                    <a:lstStyle/>
                    <a:p>
                      <a:pPr indent="0" marL="0">
                        <a:buNone/>
                      </a:pPr>
                      <a:r>
                        <a:rPr lang="en-US" sz="1150" b="1" dirty="0">
                          <a:solidFill>
                            <a:srgbClr val="FFFFFF"/>
                          </a:solidFill>
                        </a:rPr>
                        <a:t>Prior work</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1E2340"/>
                    </a:solidFill>
                  </a:tcPr>
                </a:tc>
                <a:tc>
                  <a:txBody>
                    <a:bodyPr/>
                    <a:lstStyle/>
                    <a:p>
                      <a:pPr indent="0" marL="0">
                        <a:buNone/>
                      </a:pPr>
                      <a:r>
                        <a:rPr lang="en-US" sz="1150" b="1" dirty="0">
                          <a:solidFill>
                            <a:srgbClr val="FFFFFF"/>
                          </a:solidFill>
                        </a:rPr>
                        <a:t>What it established</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1E2340"/>
                    </a:solidFill>
                  </a:tcPr>
                </a:tc>
                <a:tc>
                  <a:txBody>
                    <a:bodyPr/>
                    <a:lstStyle/>
                    <a:p>
                      <a:pPr indent="0" marL="0">
                        <a:buNone/>
                      </a:pPr>
                      <a:r>
                        <a:rPr lang="en-US" sz="1150" b="1" dirty="0">
                          <a:solidFill>
                            <a:srgbClr val="FFFFFF"/>
                          </a:solidFill>
                        </a:rPr>
                        <a:t>Limitation for this problem</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1E2340"/>
                    </a:solidFill>
                  </a:tcPr>
                </a:tc>
              </a:tr>
              <a:tr h="384048">
                <a:tc>
                  <a:txBody>
                    <a:bodyPr/>
                    <a:lstStyle/>
                    <a:p>
                      <a:pPr indent="0" marL="0">
                        <a:buNone/>
                      </a:pPr>
                      <a:r>
                        <a:rPr lang="en-US" sz="1150" b="1" dirty="0">
                          <a:solidFill>
                            <a:srgbClr val="0E1020"/>
                          </a:solidFill>
                        </a:rPr>
                        <a:t>HyperTalk  (1987)</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150" dirty="0">
                          <a:solidFill>
                            <a:srgbClr val="6B7187"/>
                          </a:solidFill>
                        </a:rPr>
                        <a:t>English-like scripting reached non-programmers at real scale</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150" dirty="0">
                          <a:solidFill>
                            <a:srgbClr val="6B7187"/>
                          </a:solidFill>
                        </a:rPr>
                        <a:t>Tied to HyperCard; never a general-purpose language</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r>
              <a:tr h="384048">
                <a:tc>
                  <a:txBody>
                    <a:bodyPr/>
                    <a:lstStyle/>
                    <a:p>
                      <a:pPr indent="0" marL="0">
                        <a:buNone/>
                      </a:pPr>
                      <a:r>
                        <a:rPr lang="en-US" sz="1150" b="1" dirty="0">
                          <a:solidFill>
                            <a:srgbClr val="0E1020"/>
                          </a:solidFill>
                        </a:rPr>
                        <a:t>AppleScript  (1993)</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150" dirty="0">
                          <a:solidFill>
                            <a:srgbClr val="6B7187"/>
                          </a:solidFill>
                        </a:rPr>
                        <a:t>Natural-language syntax shipped in a production OS</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150" dirty="0">
                          <a:solidFill>
                            <a:srgbClr val="6B7187"/>
                          </a:solidFill>
                        </a:rPr>
                        <a:t>Cook (HOPL III, 2007): easy to read, surprisingly hard to write</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r>
              <a:tr h="384048">
                <a:tc>
                  <a:txBody>
                    <a:bodyPr/>
                    <a:lstStyle/>
                    <a:p>
                      <a:pPr indent="0" marL="0">
                        <a:buNone/>
                      </a:pPr>
                      <a:r>
                        <a:rPr lang="en-US" sz="1150" b="1" dirty="0">
                          <a:solidFill>
                            <a:srgbClr val="0E1020"/>
                          </a:solidFill>
                        </a:rPr>
                        <a:t>Inform 7  (2006)</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150" dirty="0">
                          <a:solidFill>
                            <a:srgbClr val="6B7187"/>
                          </a:solidFill>
                        </a:rPr>
                        <a:t>Natural language can drive a genuine compiler</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150" dirty="0">
                          <a:solidFill>
                            <a:srgbClr val="6B7187"/>
                          </a:solidFill>
                        </a:rPr>
                        <a:t>Domain-specific — interactive fiction only</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r>
              <a:tr h="384048">
                <a:tc>
                  <a:txBody>
                    <a:bodyPr/>
                    <a:lstStyle/>
                    <a:p>
                      <a:pPr indent="0" marL="0">
                        <a:buNone/>
                      </a:pPr>
                      <a:r>
                        <a:rPr lang="en-US" sz="1150" b="1" dirty="0">
                          <a:solidFill>
                            <a:srgbClr val="0E1020"/>
                          </a:solidFill>
                        </a:rPr>
                        <a:t>Scratch  (2007)</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150" dirty="0">
                          <a:solidFill>
                            <a:srgbClr val="6B7187"/>
                          </a:solidFill>
                        </a:rPr>
                        <a:t>Removing syntax errors measurably raises beginner success</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150" dirty="0">
                          <a:solidFill>
                            <a:srgbClr val="6B7187"/>
                          </a:solidFill>
                        </a:rPr>
                        <a:t>Block-based; nothing transfers to a typed text language</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r>
              <a:tr h="384048">
                <a:tc>
                  <a:txBody>
                    <a:bodyPr/>
                    <a:lstStyle/>
                    <a:p>
                      <a:pPr indent="0" marL="0">
                        <a:buNone/>
                      </a:pPr>
                      <a:r>
                        <a:rPr lang="en-US" sz="1150" b="1" dirty="0">
                          <a:solidFill>
                            <a:srgbClr val="0E1020"/>
                          </a:solidFill>
                        </a:rPr>
                        <a:t>Pane &amp; Myers  (2001)</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150" dirty="0">
                          <a:solidFill>
                            <a:srgbClr val="6B7187"/>
                          </a:solidFill>
                        </a:rPr>
                        <a:t>Non-programmers describe solutions in natural-language form</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150" dirty="0">
                          <a:solidFill>
                            <a:srgbClr val="6B7187"/>
                          </a:solidFill>
                        </a:rPr>
                        <a:t>An empirical study, not an implemented general language</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r>
              <a:tr h="384048">
                <a:tc>
                  <a:txBody>
                    <a:bodyPr/>
                    <a:lstStyle/>
                    <a:p>
                      <a:pPr indent="0" marL="0">
                        <a:buNone/>
                      </a:pPr>
                      <a:r>
                        <a:rPr lang="en-US" sz="1150" b="1" dirty="0">
                          <a:solidFill>
                            <a:srgbClr val="0E1020"/>
                          </a:solidFill>
                        </a:rPr>
                        <a:t>Python</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150" dirty="0">
                          <a:solidFill>
                            <a:srgbClr val="6B7187"/>
                          </a:solidFill>
                        </a:rPr>
                        <a:t>Indentation as block structure is practical at scale</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150" dirty="0">
                          <a:solidFill>
                            <a:srgbClr val="6B7187"/>
                          </a:solidFill>
                        </a:rPr>
                        <a:t>Retains symbolic comparison operators (&gt;=, ==, !=)</a:t>
                      </a:r>
                      <a:endParaRPr lang="en-US" sz="1150" dirty="0"/>
                    </a:p>
                  </a:txBody>
                  <a:tcPr marL="73152" marR="73152" marT="73152" marB="73152"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r>
            </a:tbl>
          </a:graphicData>
        </a:graphic>
      </p:graphicFrame>
      <p:sp>
        <p:nvSpPr>
          <p:cNvPr id="4" name="Text 1"/>
          <p:cNvSpPr txBox="1"/>
          <p:nvPr/>
        </p:nvSpPr>
        <p:spPr>
          <a:xfrm>
            <a:off x="566928" y="5394960"/>
            <a:ext cx="11055096" cy="365760"/>
          </a:xfrm>
          <a:prstGeom prst="rect">
            <a:avLst/>
          </a:prstGeom>
          <a:noFill/>
          <a:ln/>
        </p:spPr>
        <p:txBody>
          <a:bodyPr wrap="square" lIns="0" tIns="0" rIns="0" bIns="0" rtlCol="0" anchor="ctr"/>
          <a:lstStyle/>
          <a:p>
            <a:pPr indent="0" marL="0">
              <a:buNone/>
            </a:pPr>
            <a:r>
              <a:rPr lang="en-US" sz="1050" i="1" dirty="0">
                <a:solidFill>
                  <a:srgbClr val="6B7187"/>
                </a:solidFill>
              </a:rPr>
              <a:t>Implementation methodology follows Aho, Lam, Sethi &amp; Ullman, Compilers: Principles, Techniques and Tools (2/e, 2006), and Nystrom, Crafting Interpreters (2021).</a:t>
            </a:r>
            <a:endParaRPr lang="en-US" sz="105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The gap</a:t>
            </a:r>
            <a:endParaRPr lang="en-US" sz="3200" dirty="0"/>
          </a:p>
        </p:txBody>
      </p:sp>
      <p:sp>
        <p:nvSpPr>
          <p:cNvPr id="3" name="gap-0"/>
          <p:cNvSpPr/>
          <p:nvPr/>
        </p:nvSpPr>
        <p:spPr>
          <a:xfrm>
            <a:off x="566928" y="1371600"/>
            <a:ext cx="3416808" cy="2743200"/>
          </a:xfrm>
          <a:prstGeom prst="roundRect">
            <a:avLst>
              <a:gd name="adj" fmla="val 1000"/>
            </a:avLst>
          </a:prstGeom>
          <a:solidFill>
            <a:srgbClr val="F2F3F8"/>
          </a:solidFill>
          <a:ln w="12700">
            <a:solidFill>
              <a:srgbClr val="E2E5EE"/>
            </a:solidFill>
            <a:prstDash val="solid"/>
          </a:ln>
        </p:spPr>
      </p:sp>
      <p:sp>
        <p:nvSpPr>
          <p:cNvPr id="4" name="sticky-mark"/>
          <p:cNvSpPr/>
          <p:nvPr/>
        </p:nvSpPr>
        <p:spPr>
          <a:xfrm rot="21120000">
            <a:off x="804672" y="1627632"/>
            <a:ext cx="182880" cy="182880"/>
          </a:xfrm>
          <a:prstGeom prst="roundRect">
            <a:avLst>
              <a:gd name="adj" fmla="val 20000"/>
            </a:avLst>
          </a:prstGeom>
          <a:solidFill>
            <a:srgbClr val="FFC857"/>
          </a:solidFill>
          <a:ln w="12700">
            <a:solidFill>
              <a:srgbClr val="FFC857"/>
            </a:solidFill>
            <a:prstDash val="solid"/>
          </a:ln>
        </p:spPr>
      </p:sp>
      <p:sp>
        <p:nvSpPr>
          <p:cNvPr id="5" name="Text 3"/>
          <p:cNvSpPr txBox="1"/>
          <p:nvPr/>
        </p:nvSpPr>
        <p:spPr>
          <a:xfrm>
            <a:off x="804672" y="1938528"/>
            <a:ext cx="2941320" cy="694944"/>
          </a:xfrm>
          <a:prstGeom prst="rect">
            <a:avLst/>
          </a:prstGeom>
          <a:noFill/>
          <a:ln/>
        </p:spPr>
        <p:txBody>
          <a:bodyPr wrap="square" lIns="0" tIns="0" rIns="0" bIns="0" rtlCol="0" anchor="t"/>
          <a:lstStyle/>
          <a:p>
            <a:pPr indent="0" marL="0">
              <a:lnSpc>
                <a:spcPct val="105000"/>
              </a:lnSpc>
              <a:buNone/>
            </a:pPr>
            <a:r>
              <a:rPr lang="en-US" sz="1500" b="1" dirty="0">
                <a:solidFill>
                  <a:srgbClr val="0E1020"/>
                </a:solidFill>
              </a:rPr>
              <a:t>Readable is not the same as writable</a:t>
            </a:r>
            <a:endParaRPr lang="en-US" sz="1500" dirty="0"/>
          </a:p>
        </p:txBody>
      </p:sp>
      <p:sp>
        <p:nvSpPr>
          <p:cNvPr id="6" name="Text 4"/>
          <p:cNvSpPr txBox="1"/>
          <p:nvPr/>
        </p:nvSpPr>
        <p:spPr>
          <a:xfrm>
            <a:off x="804672" y="2670048"/>
            <a:ext cx="2941320" cy="1316736"/>
          </a:xfrm>
          <a:prstGeom prst="rect">
            <a:avLst/>
          </a:prstGeom>
          <a:noFill/>
          <a:ln/>
        </p:spPr>
        <p:txBody>
          <a:bodyPr wrap="square" lIns="0" tIns="0" rIns="0" bIns="0" rtlCol="0" anchor="t"/>
          <a:lstStyle/>
          <a:p>
            <a:pPr indent="0" marL="0">
              <a:lnSpc>
                <a:spcPct val="112000"/>
              </a:lnSpc>
              <a:buNone/>
            </a:pPr>
            <a:r>
              <a:rPr lang="en-US" sz="1200" dirty="0">
                <a:solidFill>
                  <a:srgbClr val="6B7187"/>
                </a:solidFill>
              </a:rPr>
              <a:t>AppleScript showed English-like syntax can make a language harder to write, because many phrasings look valid. Readability has to be designed against a grammar, not assumed from vocabulary.</a:t>
            </a:r>
            <a:endParaRPr lang="en-US" sz="1200" dirty="0"/>
          </a:p>
        </p:txBody>
      </p:sp>
      <p:sp>
        <p:nvSpPr>
          <p:cNvPr id="7" name="gap-1"/>
          <p:cNvSpPr/>
          <p:nvPr/>
        </p:nvSpPr>
        <p:spPr>
          <a:xfrm>
            <a:off x="4386072" y="1371600"/>
            <a:ext cx="3416808" cy="2743200"/>
          </a:xfrm>
          <a:prstGeom prst="roundRect">
            <a:avLst>
              <a:gd name="adj" fmla="val 1000"/>
            </a:avLst>
          </a:prstGeom>
          <a:solidFill>
            <a:srgbClr val="F2F3F8"/>
          </a:solidFill>
          <a:ln w="12700">
            <a:solidFill>
              <a:srgbClr val="E2E5EE"/>
            </a:solidFill>
            <a:prstDash val="solid"/>
          </a:ln>
        </p:spPr>
      </p:sp>
      <p:sp>
        <p:nvSpPr>
          <p:cNvPr id="8" name="sticky-mark"/>
          <p:cNvSpPr/>
          <p:nvPr/>
        </p:nvSpPr>
        <p:spPr>
          <a:xfrm rot="21120000">
            <a:off x="4623816" y="1627632"/>
            <a:ext cx="182880" cy="182880"/>
          </a:xfrm>
          <a:prstGeom prst="roundRect">
            <a:avLst>
              <a:gd name="adj" fmla="val 20000"/>
            </a:avLst>
          </a:prstGeom>
          <a:solidFill>
            <a:srgbClr val="FFC857"/>
          </a:solidFill>
          <a:ln w="12700">
            <a:solidFill>
              <a:srgbClr val="FFC857"/>
            </a:solidFill>
            <a:prstDash val="solid"/>
          </a:ln>
        </p:spPr>
      </p:sp>
      <p:sp>
        <p:nvSpPr>
          <p:cNvPr id="9" name="Text 7"/>
          <p:cNvSpPr txBox="1"/>
          <p:nvPr/>
        </p:nvSpPr>
        <p:spPr>
          <a:xfrm>
            <a:off x="4623816" y="1938528"/>
            <a:ext cx="2941320" cy="694944"/>
          </a:xfrm>
          <a:prstGeom prst="rect">
            <a:avLst/>
          </a:prstGeom>
          <a:noFill/>
          <a:ln/>
        </p:spPr>
        <p:txBody>
          <a:bodyPr wrap="square" lIns="0" tIns="0" rIns="0" bIns="0" rtlCol="0" anchor="t"/>
          <a:lstStyle/>
          <a:p>
            <a:pPr indent="0" marL="0">
              <a:lnSpc>
                <a:spcPct val="105000"/>
              </a:lnSpc>
              <a:buNone/>
            </a:pPr>
            <a:r>
              <a:rPr lang="en-US" sz="1500" b="1" dirty="0">
                <a:solidFill>
                  <a:srgbClr val="0E1020"/>
                </a:solidFill>
              </a:rPr>
              <a:t>Block languages remove syntax entirely</a:t>
            </a:r>
            <a:endParaRPr lang="en-US" sz="1500" dirty="0"/>
          </a:p>
        </p:txBody>
      </p:sp>
      <p:sp>
        <p:nvSpPr>
          <p:cNvPr id="10" name="Text 8"/>
          <p:cNvSpPr txBox="1"/>
          <p:nvPr/>
        </p:nvSpPr>
        <p:spPr>
          <a:xfrm>
            <a:off x="4623816" y="2670048"/>
            <a:ext cx="2941320" cy="1316736"/>
          </a:xfrm>
          <a:prstGeom prst="rect">
            <a:avLst/>
          </a:prstGeom>
          <a:noFill/>
          <a:ln/>
        </p:spPr>
        <p:txBody>
          <a:bodyPr wrap="square" lIns="0" tIns="0" rIns="0" bIns="0" rtlCol="0" anchor="t"/>
          <a:lstStyle/>
          <a:p>
            <a:pPr indent="0" marL="0">
              <a:lnSpc>
                <a:spcPct val="112000"/>
              </a:lnSpc>
              <a:buNone/>
            </a:pPr>
            <a:r>
              <a:rPr lang="en-US" sz="1200" dirty="0">
                <a:solidFill>
                  <a:srgbClr val="6B7187"/>
                </a:solidFill>
              </a:rPr>
              <a:t>Scratch avoids syntax errors by removing syntax. It works, but a learner gains nothing that transfers the day they open a text editor.</a:t>
            </a:r>
            <a:endParaRPr lang="en-US" sz="1200" dirty="0"/>
          </a:p>
        </p:txBody>
      </p:sp>
      <p:sp>
        <p:nvSpPr>
          <p:cNvPr id="11" name="gap-2"/>
          <p:cNvSpPr/>
          <p:nvPr/>
        </p:nvSpPr>
        <p:spPr>
          <a:xfrm>
            <a:off x="8205216" y="1371600"/>
            <a:ext cx="3416808" cy="2743200"/>
          </a:xfrm>
          <a:prstGeom prst="roundRect">
            <a:avLst>
              <a:gd name="adj" fmla="val 1000"/>
            </a:avLst>
          </a:prstGeom>
          <a:solidFill>
            <a:srgbClr val="F2F3F8"/>
          </a:solidFill>
          <a:ln w="12700">
            <a:solidFill>
              <a:srgbClr val="E2E5EE"/>
            </a:solidFill>
            <a:prstDash val="solid"/>
          </a:ln>
        </p:spPr>
      </p:sp>
      <p:sp>
        <p:nvSpPr>
          <p:cNvPr id="12" name="sticky-mark"/>
          <p:cNvSpPr/>
          <p:nvPr/>
        </p:nvSpPr>
        <p:spPr>
          <a:xfrm rot="21120000">
            <a:off x="8442960" y="1627632"/>
            <a:ext cx="182880" cy="182880"/>
          </a:xfrm>
          <a:prstGeom prst="roundRect">
            <a:avLst>
              <a:gd name="adj" fmla="val 20000"/>
            </a:avLst>
          </a:prstGeom>
          <a:solidFill>
            <a:srgbClr val="FFC857"/>
          </a:solidFill>
          <a:ln w="12700">
            <a:solidFill>
              <a:srgbClr val="FFC857"/>
            </a:solidFill>
            <a:prstDash val="solid"/>
          </a:ln>
        </p:spPr>
      </p:sp>
      <p:sp>
        <p:nvSpPr>
          <p:cNvPr id="13" name="Text 11"/>
          <p:cNvSpPr txBox="1"/>
          <p:nvPr/>
        </p:nvSpPr>
        <p:spPr>
          <a:xfrm>
            <a:off x="8442960" y="1938528"/>
            <a:ext cx="2941320" cy="694944"/>
          </a:xfrm>
          <a:prstGeom prst="rect">
            <a:avLst/>
          </a:prstGeom>
          <a:noFill/>
          <a:ln/>
        </p:spPr>
        <p:txBody>
          <a:bodyPr wrap="square" lIns="0" tIns="0" rIns="0" bIns="0" rtlCol="0" anchor="t"/>
          <a:lstStyle/>
          <a:p>
            <a:pPr indent="0" marL="0">
              <a:lnSpc>
                <a:spcPct val="105000"/>
              </a:lnSpc>
              <a:buNone/>
            </a:pPr>
            <a:r>
              <a:rPr lang="en-US" sz="1500" b="1" dirty="0">
                <a:solidFill>
                  <a:srgbClr val="0E1020"/>
                </a:solidFill>
              </a:rPr>
              <a:t>No open grammar to learn from</a:t>
            </a:r>
            <a:endParaRPr lang="en-US" sz="1500" dirty="0"/>
          </a:p>
        </p:txBody>
      </p:sp>
      <p:sp>
        <p:nvSpPr>
          <p:cNvPr id="14" name="Text 12"/>
          <p:cNvSpPr txBox="1"/>
          <p:nvPr/>
        </p:nvSpPr>
        <p:spPr>
          <a:xfrm>
            <a:off x="8442960" y="2670048"/>
            <a:ext cx="2941320" cy="1316736"/>
          </a:xfrm>
          <a:prstGeom prst="rect">
            <a:avLst/>
          </a:prstGeom>
          <a:noFill/>
          <a:ln/>
        </p:spPr>
        <p:txBody>
          <a:bodyPr wrap="square" lIns="0" tIns="0" rIns="0" bIns="0" rtlCol="0" anchor="t"/>
          <a:lstStyle/>
          <a:p>
            <a:pPr indent="0" marL="0">
              <a:lnSpc>
                <a:spcPct val="112000"/>
              </a:lnSpc>
              <a:buNone/>
            </a:pPr>
            <a:r>
              <a:rPr lang="en-US" sz="1200" dirty="0">
                <a:solidFill>
                  <a:srgbClr val="6B7187"/>
                </a:solidFill>
              </a:rPr>
              <a:t>These are products, not teaching artefacts. There is no published EBNF plus implementation showing how phrase-level operators are actually tokenised and parsed.</a:t>
            </a:r>
            <a:endParaRPr lang="en-US" sz="1200" dirty="0"/>
          </a:p>
        </p:txBody>
      </p:sp>
      <p:sp>
        <p:nvSpPr>
          <p:cNvPr id="15" name="gap-summary"/>
          <p:cNvSpPr/>
          <p:nvPr/>
        </p:nvSpPr>
        <p:spPr>
          <a:xfrm>
            <a:off x="566928" y="4334256"/>
            <a:ext cx="11055096" cy="841248"/>
          </a:xfrm>
          <a:prstGeom prst="roundRect">
            <a:avLst>
              <a:gd name="adj" fmla="val 3261"/>
            </a:avLst>
          </a:prstGeom>
          <a:solidFill>
            <a:srgbClr val="1E2340"/>
          </a:solidFill>
          <a:ln w="12700">
            <a:solidFill>
              <a:srgbClr val="1E2340"/>
            </a:solidFill>
            <a:prstDash val="solid"/>
          </a:ln>
        </p:spPr>
      </p:sp>
      <p:sp>
        <p:nvSpPr>
          <p:cNvPr id="16" name="Text 14"/>
          <p:cNvSpPr txBox="1"/>
          <p:nvPr/>
        </p:nvSpPr>
        <p:spPr>
          <a:xfrm>
            <a:off x="841248" y="4480560"/>
            <a:ext cx="10506456" cy="548640"/>
          </a:xfrm>
          <a:prstGeom prst="rect">
            <a:avLst/>
          </a:prstGeom>
          <a:noFill/>
          <a:ln/>
        </p:spPr>
        <p:txBody>
          <a:bodyPr wrap="square" lIns="0" tIns="0" rIns="0" bIns="0" rtlCol="0" anchor="ctr"/>
          <a:lstStyle/>
          <a:p>
            <a:pPr indent="0" marL="0">
              <a:lnSpc>
                <a:spcPct val="110000"/>
              </a:lnSpc>
              <a:buNone/>
            </a:pPr>
            <a:r>
              <a:rPr lang="en-US" sz="1350" b="1" dirty="0">
                <a:solidFill>
                  <a:srgbClr val="FFC857"/>
                </a:solidFill>
              </a:rPr>
              <a:t>Our gap:  </a:t>
            </a:r>
            <a:pPr indent="0" marL="0">
              <a:lnSpc>
                <a:spcPct val="110000"/>
              </a:lnSpc>
              <a:buNone/>
            </a:pPr>
            <a:r>
              <a:rPr lang="en-US" sz="1350" dirty="0">
                <a:solidFill>
                  <a:srgbClr val="FFFFFF"/>
                </a:solidFill>
              </a:rPr>
              <a:t>an English-phrase language small enough to specify formally, and implemented openly across the full pipeline — so the design decisions are visible rather than buried in a product.</a:t>
            </a:r>
            <a:endParaRPr lang="en-US" sz="135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Novelty of the approach</a:t>
            </a:r>
            <a:endParaRPr lang="en-US" sz="3200" dirty="0"/>
          </a:p>
        </p:txBody>
      </p:sp>
      <p:sp>
        <p:nvSpPr>
          <p:cNvPr id="3" name="nov-0"/>
          <p:cNvSpPr/>
          <p:nvPr/>
        </p:nvSpPr>
        <p:spPr>
          <a:xfrm>
            <a:off x="566928" y="1371600"/>
            <a:ext cx="5326380" cy="1938528"/>
          </a:xfrm>
          <a:prstGeom prst="roundRect">
            <a:avLst>
              <a:gd name="adj" fmla="val 1415"/>
            </a:avLst>
          </a:prstGeom>
          <a:solidFill>
            <a:srgbClr val="FFFFFF"/>
          </a:solidFill>
          <a:ln w="12700">
            <a:solidFill>
              <a:srgbClr val="DDE1EC"/>
            </a:solidFill>
            <a:prstDash val="solid"/>
          </a:ln>
        </p:spPr>
      </p:sp>
      <p:sp>
        <p:nvSpPr>
          <p:cNvPr id="4" name="nov-dot-0"/>
          <p:cNvSpPr/>
          <p:nvPr/>
        </p:nvSpPr>
        <p:spPr>
          <a:xfrm>
            <a:off x="822960" y="1627632"/>
            <a:ext cx="274320" cy="274320"/>
          </a:xfrm>
          <a:prstGeom prst="ellipse">
            <a:avLst/>
          </a:prstGeom>
          <a:solidFill>
            <a:srgbClr val="7C5CFF"/>
          </a:solidFill>
          <a:ln w="12700">
            <a:solidFill>
              <a:srgbClr val="7C5CFF"/>
            </a:solidFill>
            <a:prstDash val="solid"/>
          </a:ln>
        </p:spPr>
      </p:sp>
      <p:sp>
        <p:nvSpPr>
          <p:cNvPr id="5" name="Text 3"/>
          <p:cNvSpPr txBox="1"/>
          <p:nvPr/>
        </p:nvSpPr>
        <p:spPr>
          <a:xfrm>
            <a:off x="1207008" y="1554480"/>
            <a:ext cx="4411980" cy="475488"/>
          </a:xfrm>
          <a:prstGeom prst="rect">
            <a:avLst/>
          </a:prstGeom>
          <a:noFill/>
          <a:ln/>
        </p:spPr>
        <p:txBody>
          <a:bodyPr wrap="square" lIns="0" tIns="0" rIns="0" bIns="0" rtlCol="0" anchor="ctr"/>
          <a:lstStyle/>
          <a:p>
            <a:pPr indent="0" marL="0">
              <a:lnSpc>
                <a:spcPct val="100000"/>
              </a:lnSpc>
              <a:buNone/>
            </a:pPr>
            <a:r>
              <a:rPr lang="en-US" sz="1450" b="1" dirty="0">
                <a:solidFill>
                  <a:srgbClr val="0E1020"/>
                </a:solidFill>
              </a:rPr>
              <a:t>Phrase-level operators resolved in the parser, not the lexer</a:t>
            </a:r>
            <a:endParaRPr lang="en-US" sz="1450" dirty="0"/>
          </a:p>
        </p:txBody>
      </p:sp>
      <p:sp>
        <p:nvSpPr>
          <p:cNvPr id="6" name="Text 4"/>
          <p:cNvSpPr txBox="1"/>
          <p:nvPr/>
        </p:nvSpPr>
        <p:spPr>
          <a:xfrm>
            <a:off x="822960" y="2121408"/>
            <a:ext cx="4814316" cy="1042416"/>
          </a:xfrm>
          <a:prstGeom prst="rect">
            <a:avLst/>
          </a:prstGeom>
          <a:noFill/>
          <a:ln/>
        </p:spPr>
        <p:txBody>
          <a:bodyPr wrap="square" lIns="0" tIns="0" rIns="0" bIns="0" rtlCol="0" anchor="t"/>
          <a:lstStyle/>
          <a:p>
            <a:pPr indent="0" marL="0">
              <a:lnSpc>
                <a:spcPct val="112000"/>
              </a:lnSpc>
              <a:buNone/>
            </a:pPr>
            <a:r>
              <a:rPr lang="en-US" sz="1150" dirty="0">
                <a:solidFill>
                  <a:srgbClr val="6B7187"/>
                </a:solidFill>
              </a:rPr>
              <a:t>The scanner emits one token per word, so "is at least" arrives as IS AT LEAST. Merging phrases in the lexer would make it context-sensitive and need backtracking. Our parser folds them with fixed lookahead instead.</a:t>
            </a:r>
            <a:endParaRPr lang="en-US" sz="1150" dirty="0"/>
          </a:p>
        </p:txBody>
      </p:sp>
      <p:sp>
        <p:nvSpPr>
          <p:cNvPr id="7" name="nov-1"/>
          <p:cNvSpPr/>
          <p:nvPr/>
        </p:nvSpPr>
        <p:spPr>
          <a:xfrm>
            <a:off x="6295644" y="1371600"/>
            <a:ext cx="5326380" cy="1938528"/>
          </a:xfrm>
          <a:prstGeom prst="roundRect">
            <a:avLst>
              <a:gd name="adj" fmla="val 1415"/>
            </a:avLst>
          </a:prstGeom>
          <a:solidFill>
            <a:srgbClr val="FFFFFF"/>
          </a:solidFill>
          <a:ln w="12700">
            <a:solidFill>
              <a:srgbClr val="DDE1EC"/>
            </a:solidFill>
            <a:prstDash val="solid"/>
          </a:ln>
        </p:spPr>
      </p:sp>
      <p:sp>
        <p:nvSpPr>
          <p:cNvPr id="8" name="nov-dot-1"/>
          <p:cNvSpPr/>
          <p:nvPr/>
        </p:nvSpPr>
        <p:spPr>
          <a:xfrm>
            <a:off x="6551676" y="1627632"/>
            <a:ext cx="274320" cy="274320"/>
          </a:xfrm>
          <a:prstGeom prst="ellipse">
            <a:avLst/>
          </a:prstGeom>
          <a:solidFill>
            <a:srgbClr val="3D7DD6"/>
          </a:solidFill>
          <a:ln w="12700">
            <a:solidFill>
              <a:srgbClr val="3D7DD6"/>
            </a:solidFill>
            <a:prstDash val="solid"/>
          </a:ln>
        </p:spPr>
      </p:sp>
      <p:sp>
        <p:nvSpPr>
          <p:cNvPr id="9" name="Text 7"/>
          <p:cNvSpPr txBox="1"/>
          <p:nvPr/>
        </p:nvSpPr>
        <p:spPr>
          <a:xfrm>
            <a:off x="6935724" y="1554480"/>
            <a:ext cx="4411980" cy="475488"/>
          </a:xfrm>
          <a:prstGeom prst="rect">
            <a:avLst/>
          </a:prstGeom>
          <a:noFill/>
          <a:ln/>
        </p:spPr>
        <p:txBody>
          <a:bodyPr wrap="square" lIns="0" tIns="0" rIns="0" bIns="0" rtlCol="0" anchor="ctr"/>
          <a:lstStyle/>
          <a:p>
            <a:pPr indent="0" marL="0">
              <a:lnSpc>
                <a:spcPct val="100000"/>
              </a:lnSpc>
              <a:buNone/>
            </a:pPr>
            <a:r>
              <a:rPr lang="en-US" sz="1450" b="1" dirty="0">
                <a:solidFill>
                  <a:srgbClr val="0E1020"/>
                </a:solidFill>
              </a:rPr>
              <a:t>Indentation and phrase grammar combined</a:t>
            </a:r>
            <a:endParaRPr lang="en-US" sz="1450" dirty="0"/>
          </a:p>
        </p:txBody>
      </p:sp>
      <p:sp>
        <p:nvSpPr>
          <p:cNvPr id="10" name="Text 8"/>
          <p:cNvSpPr txBox="1"/>
          <p:nvPr/>
        </p:nvSpPr>
        <p:spPr>
          <a:xfrm>
            <a:off x="6551676" y="2121408"/>
            <a:ext cx="4814316" cy="1042416"/>
          </a:xfrm>
          <a:prstGeom prst="rect">
            <a:avLst/>
          </a:prstGeom>
          <a:noFill/>
          <a:ln/>
        </p:spPr>
        <p:txBody>
          <a:bodyPr wrap="square" lIns="0" tIns="0" rIns="0" bIns="0" rtlCol="0" anchor="t"/>
          <a:lstStyle/>
          <a:p>
            <a:pPr indent="0" marL="0">
              <a:lnSpc>
                <a:spcPct val="112000"/>
              </a:lnSpc>
              <a:buNone/>
            </a:pPr>
            <a:r>
              <a:rPr lang="en-US" sz="1150" dirty="0">
                <a:solidFill>
                  <a:srgbClr val="6B7187"/>
                </a:solidFill>
              </a:rPr>
              <a:t>Python has significant indentation; AppleScript has phrases. Combining them creates a genuine ambiguity — "times" is both an operator and part of a loop header — which we resolve explicitly rather than by accident.</a:t>
            </a:r>
            <a:endParaRPr lang="en-US" sz="1150" dirty="0"/>
          </a:p>
        </p:txBody>
      </p:sp>
      <p:sp>
        <p:nvSpPr>
          <p:cNvPr id="11" name="nov-2"/>
          <p:cNvSpPr/>
          <p:nvPr/>
        </p:nvSpPr>
        <p:spPr>
          <a:xfrm>
            <a:off x="566928" y="3566160"/>
            <a:ext cx="5326380" cy="1938528"/>
          </a:xfrm>
          <a:prstGeom prst="roundRect">
            <a:avLst>
              <a:gd name="adj" fmla="val 1415"/>
            </a:avLst>
          </a:prstGeom>
          <a:solidFill>
            <a:srgbClr val="FFFFFF"/>
          </a:solidFill>
          <a:ln w="12700">
            <a:solidFill>
              <a:srgbClr val="DDE1EC"/>
            </a:solidFill>
            <a:prstDash val="solid"/>
          </a:ln>
        </p:spPr>
      </p:sp>
      <p:sp>
        <p:nvSpPr>
          <p:cNvPr id="12" name="nov-dot-2"/>
          <p:cNvSpPr/>
          <p:nvPr/>
        </p:nvSpPr>
        <p:spPr>
          <a:xfrm>
            <a:off x="822960" y="3822192"/>
            <a:ext cx="274320" cy="274320"/>
          </a:xfrm>
          <a:prstGeom prst="ellipse">
            <a:avLst/>
          </a:prstGeom>
          <a:solidFill>
            <a:srgbClr val="FFC857"/>
          </a:solidFill>
          <a:ln w="12700">
            <a:solidFill>
              <a:srgbClr val="FFC857"/>
            </a:solidFill>
            <a:prstDash val="solid"/>
          </a:ln>
        </p:spPr>
      </p:sp>
      <p:sp>
        <p:nvSpPr>
          <p:cNvPr id="13" name="Text 11"/>
          <p:cNvSpPr txBox="1"/>
          <p:nvPr/>
        </p:nvSpPr>
        <p:spPr>
          <a:xfrm>
            <a:off x="1207008" y="3749040"/>
            <a:ext cx="4411980" cy="475488"/>
          </a:xfrm>
          <a:prstGeom prst="rect">
            <a:avLst/>
          </a:prstGeom>
          <a:noFill/>
          <a:ln/>
        </p:spPr>
        <p:txBody>
          <a:bodyPr wrap="square" lIns="0" tIns="0" rIns="0" bIns="0" rtlCol="0" anchor="ctr"/>
          <a:lstStyle/>
          <a:p>
            <a:pPr indent="0" marL="0">
              <a:lnSpc>
                <a:spcPct val="100000"/>
              </a:lnSpc>
              <a:buNone/>
            </a:pPr>
            <a:r>
              <a:rPr lang="en-US" sz="1450" b="1" dirty="0">
                <a:solidFill>
                  <a:srgbClr val="0E1020"/>
                </a:solidFill>
              </a:rPr>
              <a:t>Error messages designed as the teaching surface</a:t>
            </a:r>
            <a:endParaRPr lang="en-US" sz="1450" dirty="0"/>
          </a:p>
        </p:txBody>
      </p:sp>
      <p:sp>
        <p:nvSpPr>
          <p:cNvPr id="14" name="Text 12"/>
          <p:cNvSpPr txBox="1"/>
          <p:nvPr/>
        </p:nvSpPr>
        <p:spPr>
          <a:xfrm>
            <a:off x="822960" y="4315968"/>
            <a:ext cx="4814316" cy="1042416"/>
          </a:xfrm>
          <a:prstGeom prst="rect">
            <a:avLst/>
          </a:prstGeom>
          <a:noFill/>
          <a:ln/>
        </p:spPr>
        <p:txBody>
          <a:bodyPr wrap="square" lIns="0" tIns="0" rIns="0" bIns="0" rtlCol="0" anchor="t"/>
          <a:lstStyle/>
          <a:p>
            <a:pPr indent="0" marL="0">
              <a:lnSpc>
                <a:spcPct val="112000"/>
              </a:lnSpc>
              <a:buNone/>
            </a:pPr>
            <a:r>
              <a:rPr lang="en-US" sz="1150" dirty="0">
                <a:solidFill>
                  <a:srgbClr val="6B7187"/>
                </a:solidFill>
              </a:rPr>
              <a:t>We reject &gt;= deliberately, so that rejecting it can say "write is at least". Every rejection in the specification carries the phrase to use instead.</a:t>
            </a:r>
            <a:endParaRPr lang="en-US" sz="1150" dirty="0"/>
          </a:p>
        </p:txBody>
      </p:sp>
      <p:sp>
        <p:nvSpPr>
          <p:cNvPr id="15" name="nov-3"/>
          <p:cNvSpPr/>
          <p:nvPr/>
        </p:nvSpPr>
        <p:spPr>
          <a:xfrm>
            <a:off x="6295644" y="3566160"/>
            <a:ext cx="5326380" cy="1938528"/>
          </a:xfrm>
          <a:prstGeom prst="roundRect">
            <a:avLst>
              <a:gd name="adj" fmla="val 1415"/>
            </a:avLst>
          </a:prstGeom>
          <a:solidFill>
            <a:srgbClr val="FFFFFF"/>
          </a:solidFill>
          <a:ln w="12700">
            <a:solidFill>
              <a:srgbClr val="DDE1EC"/>
            </a:solidFill>
            <a:prstDash val="solid"/>
          </a:ln>
        </p:spPr>
      </p:sp>
      <p:sp>
        <p:nvSpPr>
          <p:cNvPr id="16" name="nov-dot-3"/>
          <p:cNvSpPr/>
          <p:nvPr/>
        </p:nvSpPr>
        <p:spPr>
          <a:xfrm>
            <a:off x="6551676" y="3822192"/>
            <a:ext cx="274320" cy="274320"/>
          </a:xfrm>
          <a:prstGeom prst="ellipse">
            <a:avLst/>
          </a:prstGeom>
          <a:solidFill>
            <a:srgbClr val="4E9163"/>
          </a:solidFill>
          <a:ln w="12700">
            <a:solidFill>
              <a:srgbClr val="4E9163"/>
            </a:solidFill>
            <a:prstDash val="solid"/>
          </a:ln>
        </p:spPr>
      </p:sp>
      <p:sp>
        <p:nvSpPr>
          <p:cNvPr id="17" name="Text 15"/>
          <p:cNvSpPr txBox="1"/>
          <p:nvPr/>
        </p:nvSpPr>
        <p:spPr>
          <a:xfrm>
            <a:off x="6935724" y="3749040"/>
            <a:ext cx="4411980" cy="475488"/>
          </a:xfrm>
          <a:prstGeom prst="rect">
            <a:avLst/>
          </a:prstGeom>
          <a:noFill/>
          <a:ln/>
        </p:spPr>
        <p:txBody>
          <a:bodyPr wrap="square" lIns="0" tIns="0" rIns="0" bIns="0" rtlCol="0" anchor="ctr"/>
          <a:lstStyle/>
          <a:p>
            <a:pPr indent="0" marL="0">
              <a:lnSpc>
                <a:spcPct val="100000"/>
              </a:lnSpc>
              <a:buNone/>
            </a:pPr>
            <a:r>
              <a:rPr lang="en-US" sz="1450" b="1" dirty="0">
                <a:solidFill>
                  <a:srgbClr val="0E1020"/>
                </a:solidFill>
              </a:rPr>
              <a:t>One AST, two planned consumers</a:t>
            </a:r>
            <a:endParaRPr lang="en-US" sz="1450" dirty="0"/>
          </a:p>
        </p:txBody>
      </p:sp>
      <p:sp>
        <p:nvSpPr>
          <p:cNvPr id="18" name="Text 16"/>
          <p:cNvSpPr txBox="1"/>
          <p:nvPr/>
        </p:nvSpPr>
        <p:spPr>
          <a:xfrm>
            <a:off x="6551676" y="4315968"/>
            <a:ext cx="4814316" cy="1042416"/>
          </a:xfrm>
          <a:prstGeom prst="rect">
            <a:avLst/>
          </a:prstGeom>
          <a:noFill/>
          <a:ln/>
        </p:spPr>
        <p:txBody>
          <a:bodyPr wrap="square" lIns="0" tIns="0" rIns="0" bIns="0" rtlCol="0" anchor="t"/>
          <a:lstStyle/>
          <a:p>
            <a:pPr indent="0" marL="0">
              <a:lnSpc>
                <a:spcPct val="112000"/>
              </a:lnSpc>
              <a:buNone/>
            </a:pPr>
            <a:r>
              <a:rPr lang="en-US" sz="1150" dirty="0">
                <a:solidFill>
                  <a:srgbClr val="6B7187"/>
                </a:solidFill>
              </a:rPr>
              <a:t>The tree is designed as a true intermediate representation: an interpreter and, later, a code generator both consume it, which is what proves it is an IR and not an interpreter's private data structure.</a:t>
            </a:r>
            <a:endParaRPr lang="en-US" sz="115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Proposed system architecture</a:t>
            </a:r>
            <a:endParaRPr lang="en-US" sz="3200" dirty="0"/>
          </a:p>
        </p:txBody>
      </p:sp>
      <p:sp>
        <p:nvSpPr>
          <p:cNvPr id="3" name="Text 1"/>
          <p:cNvSpPr txBox="1"/>
          <p:nvPr/>
        </p:nvSpPr>
        <p:spPr>
          <a:xfrm>
            <a:off x="566928" y="1097280"/>
            <a:ext cx="11055096" cy="274320"/>
          </a:xfrm>
          <a:prstGeom prst="rect">
            <a:avLst/>
          </a:prstGeom>
          <a:noFill/>
          <a:ln/>
        </p:spPr>
        <p:txBody>
          <a:bodyPr wrap="square" lIns="0" tIns="0" rIns="0" bIns="0" rtlCol="0" anchor="ctr"/>
          <a:lstStyle/>
          <a:p>
            <a:pPr indent="0" marL="0">
              <a:buNone/>
            </a:pPr>
            <a:r>
              <a:rPr lang="en-US" sz="1300" dirty="0">
                <a:solidFill>
                  <a:srgbClr val="B9BFD2"/>
                </a:solidFill>
              </a:rPr>
              <a:t>The classical pipeline. The AST in the middle is the intermediate representation.</a:t>
            </a:r>
            <a:endParaRPr lang="en-US" sz="1300" dirty="0"/>
          </a:p>
        </p:txBody>
      </p:sp>
      <p:sp>
        <p:nvSpPr>
          <p:cNvPr id="4" name="stage-0"/>
          <p:cNvSpPr/>
          <p:nvPr/>
        </p:nvSpPr>
        <p:spPr>
          <a:xfrm>
            <a:off x="566928" y="1700784"/>
            <a:ext cx="1920240" cy="1755648"/>
          </a:xfrm>
          <a:prstGeom prst="roundRect">
            <a:avLst>
              <a:gd name="adj" fmla="val 1563"/>
            </a:avLst>
          </a:prstGeom>
          <a:solidFill>
            <a:srgbClr val="171B30"/>
          </a:solidFill>
          <a:ln w="12700">
            <a:solidFill>
              <a:srgbClr val="2A3154"/>
            </a:solidFill>
            <a:prstDash val="solid"/>
          </a:ln>
        </p:spPr>
      </p:sp>
      <p:sp>
        <p:nvSpPr>
          <p:cNvPr id="5" name="Text 3"/>
          <p:cNvSpPr txBox="1"/>
          <p:nvPr/>
        </p:nvSpPr>
        <p:spPr>
          <a:xfrm>
            <a:off x="694944" y="1847088"/>
            <a:ext cx="1664208" cy="310896"/>
          </a:xfrm>
          <a:prstGeom prst="rect">
            <a:avLst/>
          </a:prstGeom>
          <a:noFill/>
          <a:ln/>
        </p:spPr>
        <p:txBody>
          <a:bodyPr wrap="square" lIns="0" tIns="0" rIns="0" bIns="0" rtlCol="0" anchor="ctr"/>
          <a:lstStyle/>
          <a:p>
            <a:pPr algn="ctr" indent="0" marL="0">
              <a:buNone/>
            </a:pPr>
            <a:r>
              <a:rPr lang="en-US" sz="1500" b="1" dirty="0">
                <a:solidFill>
                  <a:srgbClr val="B9BFD2"/>
                </a:solidFill>
              </a:rPr>
              <a:t>Source</a:t>
            </a:r>
            <a:endParaRPr lang="en-US" sz="1500" dirty="0"/>
          </a:p>
        </p:txBody>
      </p:sp>
      <p:sp>
        <p:nvSpPr>
          <p:cNvPr id="6" name="Text 4"/>
          <p:cNvSpPr txBox="1"/>
          <p:nvPr/>
        </p:nvSpPr>
        <p:spPr>
          <a:xfrm>
            <a:off x="694944" y="2212848"/>
            <a:ext cx="1664208" cy="676656"/>
          </a:xfrm>
          <a:prstGeom prst="rect">
            <a:avLst/>
          </a:prstGeom>
          <a:noFill/>
          <a:ln/>
        </p:spPr>
        <p:txBody>
          <a:bodyPr wrap="square" lIns="0" tIns="0" rIns="0" bIns="0" rtlCol="0" anchor="ctr"/>
          <a:lstStyle/>
          <a:p>
            <a:pPr algn="ctr" indent="0" marL="0">
              <a:lnSpc>
                <a:spcPct val="110000"/>
              </a:lnSpc>
              <a:buNone/>
            </a:pPr>
            <a:r>
              <a:rPr lang="en-US" sz="1050" dirty="0">
                <a:solidFill>
                  <a:srgbClr val="6B7187"/>
                </a:solidFill>
              </a:rPr>
              <a:t>.sn file</a:t>
            </a:r>
            <a:endParaRPr lang="en-US" sz="1050" dirty="0"/>
          </a:p>
        </p:txBody>
      </p:sp>
      <p:sp>
        <p:nvSpPr>
          <p:cNvPr id="7" name="arrow-0"/>
          <p:cNvSpPr/>
          <p:nvPr/>
        </p:nvSpPr>
        <p:spPr>
          <a:xfrm>
            <a:off x="2542032" y="2578608"/>
            <a:ext cx="253746" cy="0"/>
          </a:xfrm>
          <a:prstGeom prst="line">
            <a:avLst/>
          </a:prstGeom>
          <a:noFill/>
          <a:ln w="19050">
            <a:solidFill>
              <a:srgbClr val="4B548A"/>
            </a:solidFill>
            <a:prstDash val="solid"/>
            <a:tailEnd type="triangle"/>
          </a:ln>
        </p:spPr>
      </p:sp>
      <p:sp>
        <p:nvSpPr>
          <p:cNvPr id="8" name="stage-1"/>
          <p:cNvSpPr/>
          <p:nvPr/>
        </p:nvSpPr>
        <p:spPr>
          <a:xfrm>
            <a:off x="2850642" y="1700784"/>
            <a:ext cx="1920240" cy="1755648"/>
          </a:xfrm>
          <a:prstGeom prst="roundRect">
            <a:avLst>
              <a:gd name="adj" fmla="val 1563"/>
            </a:avLst>
          </a:prstGeom>
          <a:solidFill>
            <a:srgbClr val="2A3154"/>
          </a:solidFill>
          <a:ln w="12700">
            <a:solidFill>
              <a:srgbClr val="3C4675"/>
            </a:solidFill>
            <a:prstDash val="solid"/>
          </a:ln>
        </p:spPr>
      </p:sp>
      <p:sp>
        <p:nvSpPr>
          <p:cNvPr id="9" name="Text 7"/>
          <p:cNvSpPr txBox="1"/>
          <p:nvPr/>
        </p:nvSpPr>
        <p:spPr>
          <a:xfrm>
            <a:off x="2978658" y="1847088"/>
            <a:ext cx="1664208" cy="310896"/>
          </a:xfrm>
          <a:prstGeom prst="rect">
            <a:avLst/>
          </a:prstGeom>
          <a:noFill/>
          <a:ln/>
        </p:spPr>
        <p:txBody>
          <a:bodyPr wrap="square" lIns="0" tIns="0" rIns="0" bIns="0" rtlCol="0" anchor="ctr"/>
          <a:lstStyle/>
          <a:p>
            <a:pPr algn="ctr" indent="0" marL="0">
              <a:buNone/>
            </a:pPr>
            <a:r>
              <a:rPr lang="en-US" sz="1500" b="1" dirty="0">
                <a:solidFill>
                  <a:srgbClr val="FFFFFF"/>
                </a:solidFill>
              </a:rPr>
              <a:t>Lexer</a:t>
            </a:r>
            <a:endParaRPr lang="en-US" sz="1500" dirty="0"/>
          </a:p>
        </p:txBody>
      </p:sp>
      <p:sp>
        <p:nvSpPr>
          <p:cNvPr id="10" name="Text 8"/>
          <p:cNvSpPr txBox="1"/>
          <p:nvPr/>
        </p:nvSpPr>
        <p:spPr>
          <a:xfrm>
            <a:off x="2978658" y="2212848"/>
            <a:ext cx="1664208" cy="676656"/>
          </a:xfrm>
          <a:prstGeom prst="rect">
            <a:avLst/>
          </a:prstGeom>
          <a:noFill/>
          <a:ln/>
        </p:spPr>
        <p:txBody>
          <a:bodyPr wrap="square" lIns="0" tIns="0" rIns="0" bIns="0" rtlCol="0" anchor="ctr"/>
          <a:lstStyle/>
          <a:p>
            <a:pPr algn="ctr" indent="0" marL="0">
              <a:lnSpc>
                <a:spcPct val="110000"/>
              </a:lnSpc>
              <a:buNone/>
            </a:pPr>
            <a:r>
              <a:rPr lang="en-US" sz="1050" dirty="0">
                <a:solidFill>
                  <a:srgbClr val="B9BFD2"/>
                </a:solidFill>
              </a:rPr>
              <a:t>characters to tokens</a:t>
            </a:r>
            <a:endParaRPr lang="en-US" sz="1050" dirty="0"/>
          </a:p>
          <a:p>
            <a:pPr algn="ctr" indent="0" marL="0">
              <a:lnSpc>
                <a:spcPct val="110000"/>
              </a:lnSpc>
              <a:buNone/>
            </a:pPr>
            <a:r>
              <a:rPr lang="en-US" sz="1050" dirty="0">
                <a:solidFill>
                  <a:srgbClr val="B9BFD2"/>
                </a:solidFill>
              </a:rPr>
              <a:t>synthesises INDENT / DEDENT</a:t>
            </a:r>
            <a:endParaRPr lang="en-US" sz="1050" dirty="0"/>
          </a:p>
        </p:txBody>
      </p:sp>
      <p:sp>
        <p:nvSpPr>
          <p:cNvPr id="11" name="chip"/>
          <p:cNvSpPr/>
          <p:nvPr/>
        </p:nvSpPr>
        <p:spPr>
          <a:xfrm>
            <a:off x="3216402" y="3017520"/>
            <a:ext cx="1188720" cy="237744"/>
          </a:xfrm>
          <a:prstGeom prst="roundRect">
            <a:avLst>
              <a:gd name="adj" fmla="val 46154"/>
            </a:avLst>
          </a:prstGeom>
          <a:solidFill>
            <a:srgbClr val="4E9163"/>
          </a:solidFill>
          <a:ln w="12700">
            <a:solidFill>
              <a:srgbClr val="4E9163"/>
            </a:solidFill>
            <a:prstDash val="solid"/>
          </a:ln>
        </p:spPr>
      </p:sp>
      <p:sp>
        <p:nvSpPr>
          <p:cNvPr id="12" name="Text 10"/>
          <p:cNvSpPr txBox="1"/>
          <p:nvPr/>
        </p:nvSpPr>
        <p:spPr>
          <a:xfrm>
            <a:off x="3216402" y="3017520"/>
            <a:ext cx="1188720" cy="237744"/>
          </a:xfrm>
          <a:prstGeom prst="rect">
            <a:avLst/>
          </a:prstGeom>
          <a:noFill/>
          <a:ln/>
        </p:spPr>
        <p:txBody>
          <a:bodyPr wrap="square" lIns="0" tIns="0" rIns="0" bIns="0" rtlCol="0" anchor="ctr"/>
          <a:lstStyle/>
          <a:p>
            <a:pPr algn="ctr" indent="0" marL="0">
              <a:buNone/>
            </a:pPr>
            <a:r>
              <a:rPr lang="en-US" sz="950" b="1" dirty="0">
                <a:solidFill>
                  <a:srgbClr val="0E1020"/>
                </a:solidFill>
              </a:rPr>
              <a:t>COMPLETE</a:t>
            </a:r>
            <a:endParaRPr lang="en-US" sz="950" dirty="0"/>
          </a:p>
        </p:txBody>
      </p:sp>
      <p:sp>
        <p:nvSpPr>
          <p:cNvPr id="13" name="arrow-1"/>
          <p:cNvSpPr/>
          <p:nvPr/>
        </p:nvSpPr>
        <p:spPr>
          <a:xfrm>
            <a:off x="4825746" y="2578608"/>
            <a:ext cx="253746" cy="0"/>
          </a:xfrm>
          <a:prstGeom prst="line">
            <a:avLst/>
          </a:prstGeom>
          <a:noFill/>
          <a:ln w="19050">
            <a:solidFill>
              <a:srgbClr val="4B548A"/>
            </a:solidFill>
            <a:prstDash val="solid"/>
            <a:tailEnd type="triangle"/>
          </a:ln>
        </p:spPr>
      </p:sp>
      <p:sp>
        <p:nvSpPr>
          <p:cNvPr id="14" name="stage-2"/>
          <p:cNvSpPr/>
          <p:nvPr/>
        </p:nvSpPr>
        <p:spPr>
          <a:xfrm>
            <a:off x="5134356" y="1700784"/>
            <a:ext cx="1920240" cy="1755648"/>
          </a:xfrm>
          <a:prstGeom prst="roundRect">
            <a:avLst>
              <a:gd name="adj" fmla="val 1563"/>
            </a:avLst>
          </a:prstGeom>
          <a:solidFill>
            <a:srgbClr val="2A3154"/>
          </a:solidFill>
          <a:ln w="12700">
            <a:solidFill>
              <a:srgbClr val="3C4675"/>
            </a:solidFill>
            <a:prstDash val="solid"/>
          </a:ln>
        </p:spPr>
      </p:sp>
      <p:sp>
        <p:nvSpPr>
          <p:cNvPr id="15" name="Text 13"/>
          <p:cNvSpPr txBox="1"/>
          <p:nvPr/>
        </p:nvSpPr>
        <p:spPr>
          <a:xfrm>
            <a:off x="5262372" y="1847088"/>
            <a:ext cx="1664208" cy="310896"/>
          </a:xfrm>
          <a:prstGeom prst="rect">
            <a:avLst/>
          </a:prstGeom>
          <a:noFill/>
          <a:ln/>
        </p:spPr>
        <p:txBody>
          <a:bodyPr wrap="square" lIns="0" tIns="0" rIns="0" bIns="0" rtlCol="0" anchor="ctr"/>
          <a:lstStyle/>
          <a:p>
            <a:pPr algn="ctr" indent="0" marL="0">
              <a:buNone/>
            </a:pPr>
            <a:r>
              <a:rPr lang="en-US" sz="1500" b="1" dirty="0">
                <a:solidFill>
                  <a:srgbClr val="FFFFFF"/>
                </a:solidFill>
              </a:rPr>
              <a:t>Parser</a:t>
            </a:r>
            <a:endParaRPr lang="en-US" sz="1500" dirty="0"/>
          </a:p>
        </p:txBody>
      </p:sp>
      <p:sp>
        <p:nvSpPr>
          <p:cNvPr id="16" name="Text 14"/>
          <p:cNvSpPr txBox="1"/>
          <p:nvPr/>
        </p:nvSpPr>
        <p:spPr>
          <a:xfrm>
            <a:off x="5262372" y="2212848"/>
            <a:ext cx="1664208" cy="676656"/>
          </a:xfrm>
          <a:prstGeom prst="rect">
            <a:avLst/>
          </a:prstGeom>
          <a:noFill/>
          <a:ln/>
        </p:spPr>
        <p:txBody>
          <a:bodyPr wrap="square" lIns="0" tIns="0" rIns="0" bIns="0" rtlCol="0" anchor="ctr"/>
          <a:lstStyle/>
          <a:p>
            <a:pPr algn="ctr" indent="0" marL="0">
              <a:lnSpc>
                <a:spcPct val="110000"/>
              </a:lnSpc>
              <a:buNone/>
            </a:pPr>
            <a:r>
              <a:rPr lang="en-US" sz="1050" dirty="0">
                <a:solidFill>
                  <a:srgbClr val="B9BFD2"/>
                </a:solidFill>
              </a:rPr>
              <a:t>tokens to AST</a:t>
            </a:r>
            <a:endParaRPr lang="en-US" sz="1050" dirty="0"/>
          </a:p>
          <a:p>
            <a:pPr algn="ctr" indent="0" marL="0">
              <a:lnSpc>
                <a:spcPct val="110000"/>
              </a:lnSpc>
              <a:buNone/>
            </a:pPr>
            <a:r>
              <a:rPr lang="en-US" sz="1050" dirty="0">
                <a:solidFill>
                  <a:srgbClr val="B9BFD2"/>
                </a:solidFill>
              </a:rPr>
              <a:t>folds operator phrases</a:t>
            </a:r>
            <a:endParaRPr lang="en-US" sz="1050" dirty="0"/>
          </a:p>
        </p:txBody>
      </p:sp>
      <p:sp>
        <p:nvSpPr>
          <p:cNvPr id="17" name="chip"/>
          <p:cNvSpPr/>
          <p:nvPr/>
        </p:nvSpPr>
        <p:spPr>
          <a:xfrm>
            <a:off x="5500116" y="3017520"/>
            <a:ext cx="1188720" cy="237744"/>
          </a:xfrm>
          <a:prstGeom prst="roundRect">
            <a:avLst>
              <a:gd name="adj" fmla="val 46154"/>
            </a:avLst>
          </a:prstGeom>
          <a:solidFill>
            <a:srgbClr val="FFC857"/>
          </a:solidFill>
          <a:ln w="12700">
            <a:solidFill>
              <a:srgbClr val="FFC857"/>
            </a:solidFill>
            <a:prstDash val="solid"/>
          </a:ln>
        </p:spPr>
      </p:sp>
      <p:sp>
        <p:nvSpPr>
          <p:cNvPr id="18" name="Text 16"/>
          <p:cNvSpPr txBox="1"/>
          <p:nvPr/>
        </p:nvSpPr>
        <p:spPr>
          <a:xfrm>
            <a:off x="5500116" y="3017520"/>
            <a:ext cx="1188720" cy="237744"/>
          </a:xfrm>
          <a:prstGeom prst="rect">
            <a:avLst/>
          </a:prstGeom>
          <a:noFill/>
          <a:ln/>
        </p:spPr>
        <p:txBody>
          <a:bodyPr wrap="square" lIns="0" tIns="0" rIns="0" bIns="0" rtlCol="0" anchor="ctr"/>
          <a:lstStyle/>
          <a:p>
            <a:pPr algn="ctr" indent="0" marL="0">
              <a:buNone/>
            </a:pPr>
            <a:r>
              <a:rPr lang="en-US" sz="950" b="1" dirty="0">
                <a:solidFill>
                  <a:srgbClr val="0E1020"/>
                </a:solidFill>
              </a:rPr>
              <a:t>IN PROGRESS</a:t>
            </a:r>
            <a:endParaRPr lang="en-US" sz="950" dirty="0"/>
          </a:p>
        </p:txBody>
      </p:sp>
      <p:sp>
        <p:nvSpPr>
          <p:cNvPr id="19" name="arrow-2"/>
          <p:cNvSpPr/>
          <p:nvPr/>
        </p:nvSpPr>
        <p:spPr>
          <a:xfrm>
            <a:off x="7109460" y="2578608"/>
            <a:ext cx="253746" cy="0"/>
          </a:xfrm>
          <a:prstGeom prst="line">
            <a:avLst/>
          </a:prstGeom>
          <a:noFill/>
          <a:ln w="19050">
            <a:solidFill>
              <a:srgbClr val="4B548A"/>
            </a:solidFill>
            <a:prstDash val="solid"/>
            <a:tailEnd type="triangle"/>
          </a:ln>
        </p:spPr>
      </p:sp>
      <p:sp>
        <p:nvSpPr>
          <p:cNvPr id="20" name="stage-3"/>
          <p:cNvSpPr/>
          <p:nvPr/>
        </p:nvSpPr>
        <p:spPr>
          <a:xfrm>
            <a:off x="7418070" y="1700784"/>
            <a:ext cx="1920240" cy="1755648"/>
          </a:xfrm>
          <a:prstGeom prst="roundRect">
            <a:avLst>
              <a:gd name="adj" fmla="val 1563"/>
            </a:avLst>
          </a:prstGeom>
          <a:solidFill>
            <a:srgbClr val="2A3154"/>
          </a:solidFill>
          <a:ln w="12700">
            <a:solidFill>
              <a:srgbClr val="3C4675"/>
            </a:solidFill>
            <a:prstDash val="solid"/>
          </a:ln>
        </p:spPr>
      </p:sp>
      <p:sp>
        <p:nvSpPr>
          <p:cNvPr id="21" name="Text 19"/>
          <p:cNvSpPr txBox="1"/>
          <p:nvPr/>
        </p:nvSpPr>
        <p:spPr>
          <a:xfrm>
            <a:off x="7546086" y="1847088"/>
            <a:ext cx="1664208" cy="310896"/>
          </a:xfrm>
          <a:prstGeom prst="rect">
            <a:avLst/>
          </a:prstGeom>
          <a:noFill/>
          <a:ln/>
        </p:spPr>
        <p:txBody>
          <a:bodyPr wrap="square" lIns="0" tIns="0" rIns="0" bIns="0" rtlCol="0" anchor="ctr"/>
          <a:lstStyle/>
          <a:p>
            <a:pPr algn="ctr" indent="0" marL="0">
              <a:buNone/>
            </a:pPr>
            <a:r>
              <a:rPr lang="en-US" sz="1500" b="1" dirty="0">
                <a:solidFill>
                  <a:srgbClr val="FFFFFF"/>
                </a:solidFill>
              </a:rPr>
              <a:t>Interpreter</a:t>
            </a:r>
            <a:endParaRPr lang="en-US" sz="1500" dirty="0"/>
          </a:p>
        </p:txBody>
      </p:sp>
      <p:sp>
        <p:nvSpPr>
          <p:cNvPr id="22" name="Text 20"/>
          <p:cNvSpPr txBox="1"/>
          <p:nvPr/>
        </p:nvSpPr>
        <p:spPr>
          <a:xfrm>
            <a:off x="7546086" y="2212848"/>
            <a:ext cx="1664208" cy="676656"/>
          </a:xfrm>
          <a:prstGeom prst="rect">
            <a:avLst/>
          </a:prstGeom>
          <a:noFill/>
          <a:ln/>
        </p:spPr>
        <p:txBody>
          <a:bodyPr wrap="square" lIns="0" tIns="0" rIns="0" bIns="0" rtlCol="0" anchor="ctr"/>
          <a:lstStyle/>
          <a:p>
            <a:pPr algn="ctr" indent="0" marL="0">
              <a:lnSpc>
                <a:spcPct val="110000"/>
              </a:lnSpc>
              <a:buNone/>
            </a:pPr>
            <a:r>
              <a:rPr lang="en-US" sz="1050" dirty="0">
                <a:solidFill>
                  <a:srgbClr val="B9BFD2"/>
                </a:solidFill>
              </a:rPr>
              <a:t>walks the AST</a:t>
            </a:r>
            <a:endParaRPr lang="en-US" sz="1050" dirty="0"/>
          </a:p>
          <a:p>
            <a:pPr algn="ctr" indent="0" marL="0">
              <a:lnSpc>
                <a:spcPct val="110000"/>
              </a:lnSpc>
              <a:buNone/>
            </a:pPr>
            <a:r>
              <a:rPr lang="en-US" sz="1050" dirty="0">
                <a:solidFill>
                  <a:srgbClr val="B9BFD2"/>
                </a:solidFill>
              </a:rPr>
              <a:t>scope, calls, control flow</a:t>
            </a:r>
            <a:endParaRPr lang="en-US" sz="1050" dirty="0"/>
          </a:p>
        </p:txBody>
      </p:sp>
      <p:sp>
        <p:nvSpPr>
          <p:cNvPr id="23" name="chip"/>
          <p:cNvSpPr/>
          <p:nvPr/>
        </p:nvSpPr>
        <p:spPr>
          <a:xfrm>
            <a:off x="7783830" y="3017520"/>
            <a:ext cx="1188720" cy="237744"/>
          </a:xfrm>
          <a:prstGeom prst="roundRect">
            <a:avLst>
              <a:gd name="adj" fmla="val 46154"/>
            </a:avLst>
          </a:prstGeom>
          <a:solidFill>
            <a:srgbClr val="6B7187"/>
          </a:solidFill>
          <a:ln w="12700">
            <a:solidFill>
              <a:srgbClr val="6B7187"/>
            </a:solidFill>
            <a:prstDash val="solid"/>
          </a:ln>
        </p:spPr>
      </p:sp>
      <p:sp>
        <p:nvSpPr>
          <p:cNvPr id="24" name="Text 22"/>
          <p:cNvSpPr txBox="1"/>
          <p:nvPr/>
        </p:nvSpPr>
        <p:spPr>
          <a:xfrm>
            <a:off x="7783830" y="3017520"/>
            <a:ext cx="1188720" cy="237744"/>
          </a:xfrm>
          <a:prstGeom prst="rect">
            <a:avLst/>
          </a:prstGeom>
          <a:noFill/>
          <a:ln/>
        </p:spPr>
        <p:txBody>
          <a:bodyPr wrap="square" lIns="0" tIns="0" rIns="0" bIns="0" rtlCol="0" anchor="ctr"/>
          <a:lstStyle/>
          <a:p>
            <a:pPr algn="ctr" indent="0" marL="0">
              <a:buNone/>
            </a:pPr>
            <a:r>
              <a:rPr lang="en-US" sz="950" b="1" dirty="0">
                <a:solidFill>
                  <a:srgbClr val="FFFFFF"/>
                </a:solidFill>
              </a:rPr>
              <a:t>PLANNED</a:t>
            </a:r>
            <a:endParaRPr lang="en-US" sz="950" dirty="0"/>
          </a:p>
        </p:txBody>
      </p:sp>
      <p:sp>
        <p:nvSpPr>
          <p:cNvPr id="25" name="arrow-3"/>
          <p:cNvSpPr/>
          <p:nvPr/>
        </p:nvSpPr>
        <p:spPr>
          <a:xfrm>
            <a:off x="9393174" y="2578608"/>
            <a:ext cx="253746" cy="0"/>
          </a:xfrm>
          <a:prstGeom prst="line">
            <a:avLst/>
          </a:prstGeom>
          <a:noFill/>
          <a:ln w="19050">
            <a:solidFill>
              <a:srgbClr val="4B548A"/>
            </a:solidFill>
            <a:prstDash val="solid"/>
            <a:tailEnd type="triangle"/>
          </a:ln>
        </p:spPr>
      </p:sp>
      <p:sp>
        <p:nvSpPr>
          <p:cNvPr id="26" name="stage-4"/>
          <p:cNvSpPr/>
          <p:nvPr/>
        </p:nvSpPr>
        <p:spPr>
          <a:xfrm>
            <a:off x="9701784" y="1700784"/>
            <a:ext cx="1920240" cy="1755648"/>
          </a:xfrm>
          <a:prstGeom prst="roundRect">
            <a:avLst>
              <a:gd name="adj" fmla="val 1563"/>
            </a:avLst>
          </a:prstGeom>
          <a:solidFill>
            <a:srgbClr val="171B30"/>
          </a:solidFill>
          <a:ln w="12700">
            <a:solidFill>
              <a:srgbClr val="2A3154"/>
            </a:solidFill>
            <a:prstDash val="solid"/>
          </a:ln>
        </p:spPr>
      </p:sp>
      <p:sp>
        <p:nvSpPr>
          <p:cNvPr id="27" name="Text 25"/>
          <p:cNvSpPr txBox="1"/>
          <p:nvPr/>
        </p:nvSpPr>
        <p:spPr>
          <a:xfrm>
            <a:off x="9829800" y="1847088"/>
            <a:ext cx="1664208" cy="310896"/>
          </a:xfrm>
          <a:prstGeom prst="rect">
            <a:avLst/>
          </a:prstGeom>
          <a:noFill/>
          <a:ln/>
        </p:spPr>
        <p:txBody>
          <a:bodyPr wrap="square" lIns="0" tIns="0" rIns="0" bIns="0" rtlCol="0" anchor="ctr"/>
          <a:lstStyle/>
          <a:p>
            <a:pPr algn="ctr" indent="0" marL="0">
              <a:buNone/>
            </a:pPr>
            <a:r>
              <a:rPr lang="en-US" sz="1500" b="1" dirty="0">
                <a:solidFill>
                  <a:srgbClr val="B9BFD2"/>
                </a:solidFill>
              </a:rPr>
              <a:t>Output</a:t>
            </a:r>
            <a:endParaRPr lang="en-US" sz="1500" dirty="0"/>
          </a:p>
        </p:txBody>
      </p:sp>
      <p:sp>
        <p:nvSpPr>
          <p:cNvPr id="28" name="Text 26"/>
          <p:cNvSpPr txBox="1"/>
          <p:nvPr/>
        </p:nvSpPr>
        <p:spPr>
          <a:xfrm>
            <a:off x="9829800" y="2212848"/>
            <a:ext cx="1664208" cy="676656"/>
          </a:xfrm>
          <a:prstGeom prst="rect">
            <a:avLst/>
          </a:prstGeom>
          <a:noFill/>
          <a:ln/>
        </p:spPr>
        <p:txBody>
          <a:bodyPr wrap="square" lIns="0" tIns="0" rIns="0" bIns="0" rtlCol="0" anchor="ctr"/>
          <a:lstStyle/>
          <a:p>
            <a:pPr algn="ctr" indent="0" marL="0">
              <a:lnSpc>
                <a:spcPct val="110000"/>
              </a:lnSpc>
              <a:buNone/>
            </a:pPr>
            <a:r>
              <a:rPr lang="en-US" sz="1050" dirty="0">
                <a:solidFill>
                  <a:srgbClr val="6B7187"/>
                </a:solidFill>
              </a:rPr>
              <a:t>program result</a:t>
            </a:r>
            <a:endParaRPr lang="en-US" sz="1050" dirty="0"/>
          </a:p>
        </p:txBody>
      </p:sp>
      <p:sp>
        <p:nvSpPr>
          <p:cNvPr id="29" name="Text 27"/>
          <p:cNvSpPr txBox="1"/>
          <p:nvPr/>
        </p:nvSpPr>
        <p:spPr>
          <a:xfrm>
            <a:off x="2494437" y="3529584"/>
            <a:ext cx="2283714" cy="237744"/>
          </a:xfrm>
          <a:prstGeom prst="rect">
            <a:avLst/>
          </a:prstGeom>
          <a:noFill/>
          <a:ln/>
        </p:spPr>
        <p:txBody>
          <a:bodyPr wrap="square" lIns="0" tIns="0" rIns="0" bIns="0" rtlCol="0" anchor="ctr"/>
          <a:lstStyle/>
          <a:p>
            <a:pPr algn="ctr" indent="0" marL="0">
              <a:buNone/>
            </a:pPr>
            <a:r>
              <a:rPr lang="en-US" sz="1000" i="1" dirty="0">
                <a:solidFill>
                  <a:srgbClr val="6B7187"/>
                </a:solidFill>
              </a:rPr>
              <a:t>Token stream</a:t>
            </a:r>
            <a:endParaRPr lang="en-US" sz="1000" dirty="0"/>
          </a:p>
        </p:txBody>
      </p:sp>
      <p:sp>
        <p:nvSpPr>
          <p:cNvPr id="30" name="Text 28"/>
          <p:cNvSpPr txBox="1"/>
          <p:nvPr/>
        </p:nvSpPr>
        <p:spPr>
          <a:xfrm>
            <a:off x="5141625" y="3529584"/>
            <a:ext cx="2283714" cy="237744"/>
          </a:xfrm>
          <a:prstGeom prst="rect">
            <a:avLst/>
          </a:prstGeom>
          <a:noFill/>
          <a:ln/>
        </p:spPr>
        <p:txBody>
          <a:bodyPr wrap="square" lIns="0" tIns="0" rIns="0" bIns="0" rtlCol="0" anchor="ctr"/>
          <a:lstStyle/>
          <a:p>
            <a:pPr algn="ctr" indent="0" marL="0">
              <a:buNone/>
            </a:pPr>
            <a:r>
              <a:rPr lang="en-US" sz="1000" i="1" dirty="0">
                <a:solidFill>
                  <a:srgbClr val="6B7187"/>
                </a:solidFill>
              </a:rPr>
              <a:t>Abstract syntax tree</a:t>
            </a:r>
            <a:endParaRPr lang="en-US" sz="1000" dirty="0"/>
          </a:p>
        </p:txBody>
      </p:sp>
      <p:sp>
        <p:nvSpPr>
          <p:cNvPr id="31" name="arch-note"/>
          <p:cNvSpPr/>
          <p:nvPr/>
        </p:nvSpPr>
        <p:spPr>
          <a:xfrm>
            <a:off x="566928" y="4059936"/>
            <a:ext cx="11055096" cy="1371600"/>
          </a:xfrm>
          <a:prstGeom prst="roundRect">
            <a:avLst>
              <a:gd name="adj" fmla="val 2000"/>
            </a:avLst>
          </a:prstGeom>
          <a:solidFill>
            <a:srgbClr val="171B30"/>
          </a:solidFill>
          <a:ln w="12700">
            <a:solidFill>
              <a:srgbClr val="2A3154"/>
            </a:solidFill>
            <a:prstDash val="solid"/>
          </a:ln>
        </p:spPr>
      </p:sp>
      <p:sp>
        <p:nvSpPr>
          <p:cNvPr id="32" name="Text 30"/>
          <p:cNvSpPr txBox="1"/>
          <p:nvPr/>
        </p:nvSpPr>
        <p:spPr>
          <a:xfrm>
            <a:off x="859536" y="4224528"/>
            <a:ext cx="10469880" cy="274320"/>
          </a:xfrm>
          <a:prstGeom prst="rect">
            <a:avLst/>
          </a:prstGeom>
          <a:noFill/>
          <a:ln/>
        </p:spPr>
        <p:txBody>
          <a:bodyPr wrap="square" lIns="0" tIns="0" rIns="0" bIns="0" rtlCol="0" anchor="ctr"/>
          <a:lstStyle/>
          <a:p>
            <a:pPr indent="0" marL="0">
              <a:buNone/>
            </a:pPr>
            <a:r>
              <a:rPr lang="en-US" sz="1300" b="1" dirty="0">
                <a:solidFill>
                  <a:srgbClr val="FFC857"/>
                </a:solidFill>
              </a:rPr>
              <a:t>Why the AST matters</a:t>
            </a:r>
            <a:endParaRPr lang="en-US" sz="1300" dirty="0"/>
          </a:p>
        </p:txBody>
      </p:sp>
      <p:sp>
        <p:nvSpPr>
          <p:cNvPr id="33" name="Text 31"/>
          <p:cNvSpPr txBox="1"/>
          <p:nvPr/>
        </p:nvSpPr>
        <p:spPr>
          <a:xfrm>
            <a:off x="859536" y="4517136"/>
            <a:ext cx="10469880" cy="786384"/>
          </a:xfrm>
          <a:prstGeom prst="rect">
            <a:avLst/>
          </a:prstGeom>
          <a:noFill/>
          <a:ln/>
        </p:spPr>
        <p:txBody>
          <a:bodyPr wrap="square" lIns="0" tIns="0" rIns="0" bIns="0" rtlCol="0" anchor="ctr"/>
          <a:lstStyle/>
          <a:p>
            <a:pPr indent="0" marL="0">
              <a:lnSpc>
                <a:spcPct val="115000"/>
              </a:lnSpc>
              <a:buNone/>
            </a:pPr>
            <a:r>
              <a:rPr lang="en-US" sz="1250" dirty="0">
                <a:solidFill>
                  <a:srgbClr val="B9BFD2"/>
                </a:solidFill>
              </a:rPr>
              <a:t>A second consumer of the same tree — a code generator — is planned for the final phase. Designing the AST so that two independent back ends can walk it is what makes it an intermediate representation rather than an implementation detail of the interpreter.</a:t>
            </a:r>
            <a:endParaRPr lang="en-US" sz="125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Language design decisions, and what each costs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316736"/>
          <a:ext cx="11055096" cy="914400"/>
        </p:xfrm>
        <a:graphic>
          <a:graphicData uri="http://schemas.openxmlformats.org/drawingml/2006/table">
            <a:tbl>
              <a:tblPr/>
              <a:tblGrid>
                <a:gridCol w="3200400"/>
                <a:gridCol w="4206240"/>
                <a:gridCol w="3648456"/>
              </a:tblGrid>
              <a:tr h="475488">
                <a:tc>
                  <a:txBody>
                    <a:bodyPr/>
                    <a:lstStyle/>
                    <a:p>
                      <a:pPr indent="0" marL="0">
                        <a:buNone/>
                      </a:pPr>
                      <a:r>
                        <a:rPr lang="en-US" sz="1150" b="1" dirty="0">
                          <a:solidFill>
                            <a:srgbClr val="FFFFFF"/>
                          </a:solidFill>
                        </a:rPr>
                        <a:t>Decision</a:t>
                      </a:r>
                      <a:endParaRPr lang="en-US" sz="115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1E2340"/>
                    </a:solidFill>
                  </a:tcPr>
                </a:tc>
                <a:tc>
                  <a:txBody>
                    <a:bodyPr/>
                    <a:lstStyle/>
                    <a:p>
                      <a:pPr indent="0" marL="0">
                        <a:buNone/>
                      </a:pPr>
                      <a:r>
                        <a:rPr lang="en-US" sz="1150" b="1" dirty="0">
                          <a:solidFill>
                            <a:srgbClr val="FFFFFF"/>
                          </a:solidFill>
                        </a:rPr>
                        <a:t>Why</a:t>
                      </a:r>
                      <a:endParaRPr lang="en-US" sz="115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1E2340"/>
                    </a:solidFill>
                  </a:tcPr>
                </a:tc>
                <a:tc>
                  <a:txBody>
                    <a:bodyPr/>
                    <a:lstStyle/>
                    <a:p>
                      <a:pPr indent="0" marL="0">
                        <a:buNone/>
                      </a:pPr>
                      <a:r>
                        <a:rPr lang="en-US" sz="1150" b="1" dirty="0">
                          <a:solidFill>
                            <a:srgbClr val="FFFFFF"/>
                          </a:solidFill>
                        </a:rPr>
                        <a:t>What it costs</a:t>
                      </a:r>
                      <a:endParaRPr lang="en-US" sz="115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solidFill>
                      <a:srgbClr val="1E2340"/>
                    </a:solidFill>
                  </a:tcPr>
                </a:tc>
              </a:tr>
              <a:tr h="475488">
                <a:tc>
                  <a:txBody>
                    <a:bodyPr/>
                    <a:lstStyle/>
                    <a:p>
                      <a:pPr indent="0" marL="0">
                        <a:buNone/>
                      </a:pPr>
                      <a:r>
                        <a:rPr lang="en-US" sz="1200" b="1" dirty="0">
                          <a:solidFill>
                            <a:srgbClr val="0E1020"/>
                          </a:solidFill>
                        </a:rPr>
                        <a:t>Indentation, not braces</a:t>
                      </a:r>
                      <a:endParaRPr lang="en-US" sz="120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200" dirty="0">
                          <a:solidFill>
                            <a:srgbClr val="6B7187"/>
                          </a:solidFill>
                        </a:rPr>
                        <a:t>Block structure matches what the reader already sees on the page</a:t>
                      </a:r>
                      <a:endParaRPr lang="en-US" sz="120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200" dirty="0">
                          <a:solidFill>
                            <a:srgbClr val="6B7187"/>
                          </a:solidFill>
                        </a:rPr>
                        <a:t>Whitespace becomes significant; tabs must be rejected outright</a:t>
                      </a:r>
                      <a:endParaRPr lang="en-US" sz="120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r>
              <a:tr h="475488">
                <a:tc>
                  <a:txBody>
                    <a:bodyPr/>
                    <a:lstStyle/>
                    <a:p>
                      <a:pPr indent="0" marL="0">
                        <a:buNone/>
                      </a:pPr>
                      <a:r>
                        <a:rPr lang="en-US" sz="1200" b="1" dirty="0">
                          <a:solidFill>
                            <a:srgbClr val="0E1020"/>
                          </a:solidFill>
                        </a:rPr>
                        <a:t>Phrases, not symbols, for comparison</a:t>
                      </a:r>
                      <a:endParaRPr lang="en-US" sz="120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200" dirty="0">
                          <a:solidFill>
                            <a:srgbClr val="6B7187"/>
                          </a:solidFill>
                        </a:rPr>
                        <a:t>"&gt;=" has to be taught; "is at least" does not</a:t>
                      </a:r>
                      <a:endParaRPr lang="en-US" sz="120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200" dirty="0">
                          <a:solidFill>
                            <a:srgbClr val="6B7187"/>
                          </a:solidFill>
                        </a:rPr>
                        <a:t>Longer lines, and a larger keyword set</a:t>
                      </a:r>
                      <a:endParaRPr lang="en-US" sz="120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r>
              <a:tr h="475488">
                <a:tc>
                  <a:txBody>
                    <a:bodyPr/>
                    <a:lstStyle/>
                    <a:p>
                      <a:pPr indent="0" marL="0">
                        <a:buNone/>
                      </a:pPr>
                      <a:r>
                        <a:rPr lang="en-US" sz="1200" b="1" dirty="0">
                          <a:solidFill>
                            <a:srgbClr val="0E1020"/>
                          </a:solidFill>
                        </a:rPr>
                        <a:t>Arithmetic symbols kept (+ − * /)</a:t>
                      </a:r>
                      <a:endParaRPr lang="en-US" sz="120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200" dirty="0">
                          <a:solidFill>
                            <a:srgbClr val="6B7187"/>
                          </a:solidFill>
                        </a:rPr>
                        <a:t>Learned in school years before programming</a:t>
                      </a:r>
                      <a:endParaRPr lang="en-US" sz="120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200" dirty="0">
                          <a:solidFill>
                            <a:srgbClr val="6B7187"/>
                          </a:solidFill>
                        </a:rPr>
                        <a:t>Two spellings of one operator to support</a:t>
                      </a:r>
                      <a:endParaRPr lang="en-US" sz="120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r>
              <a:tr h="475488">
                <a:tc>
                  <a:txBody>
                    <a:bodyPr/>
                    <a:lstStyle/>
                    <a:p>
                      <a:pPr indent="0" marL="0">
                        <a:buNone/>
                      </a:pPr>
                      <a:r>
                        <a:rPr lang="en-US" sz="1200" b="1" dirty="0">
                          <a:solidFill>
                            <a:srgbClr val="0E1020"/>
                          </a:solidFill>
                        </a:rPr>
                        <a:t>"set" to create, "change" to update</a:t>
                      </a:r>
                      <a:endParaRPr lang="en-US" sz="120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200" dirty="0">
                          <a:solidFill>
                            <a:srgbClr val="6B7187"/>
                          </a:solidFill>
                        </a:rPr>
                        <a:t>A mistyped name can be reported instead of silently creating a second variable</a:t>
                      </a:r>
                      <a:endParaRPr lang="en-US" sz="120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200" dirty="0">
                          <a:solidFill>
                            <a:srgbClr val="6B7187"/>
                          </a:solidFill>
                        </a:rPr>
                        <a:t>One extra keyword to learn on day one</a:t>
                      </a:r>
                      <a:endParaRPr lang="en-US" sz="120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r>
              <a:tr h="475488">
                <a:tc>
                  <a:txBody>
                    <a:bodyPr/>
                    <a:lstStyle/>
                    <a:p>
                      <a:pPr indent="0" marL="0">
                        <a:buNone/>
                      </a:pPr>
                      <a:r>
                        <a:rPr lang="en-US" sz="1200" b="1" dirty="0">
                          <a:solidFill>
                            <a:srgbClr val="0E1020"/>
                          </a:solidFill>
                        </a:rPr>
                        <a:t>Positions count from 1</a:t>
                      </a:r>
                      <a:endParaRPr lang="en-US" sz="120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200" dirty="0">
                          <a:solidFill>
                            <a:srgbClr val="6B7187"/>
                          </a:solidFill>
                        </a:rPr>
                        <a:t>"item 1" is the first item, as the word is used outside programming</a:t>
                      </a:r>
                      <a:endParaRPr lang="en-US" sz="120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c>
                  <a:txBody>
                    <a:bodyPr/>
                    <a:lstStyle/>
                    <a:p>
                      <a:pPr indent="0" marL="0">
                        <a:buNone/>
                      </a:pPr>
                      <a:r>
                        <a:rPr lang="en-US" sz="1200" dirty="0">
                          <a:solidFill>
                            <a:srgbClr val="6B7187"/>
                          </a:solidFill>
                        </a:rPr>
                        <a:t>One subtraction in the implementation</a:t>
                      </a:r>
                      <a:endParaRPr lang="en-US" sz="1200" dirty="0"/>
                    </a:p>
                  </a:txBody>
                  <a:tcPr marL="91440" marR="91440" marT="91440" marB="91440" anchor="ctr">
                    <a:lnL w="12700" cap="flat" cmpd="sng" algn="ctr">
                      <a:solidFill>
                        <a:srgbClr val="E2E5EE"/>
                      </a:solidFill>
                      <a:prstDash val="solid"/>
                      <a:round/>
                      <a:headEnd type="none" w="med" len="med"/>
                      <a:tailEnd type="none" w="med" len="med"/>
                    </a:lnL>
                    <a:lnR w="12700" cap="flat" cmpd="sng" algn="ctr">
                      <a:solidFill>
                        <a:srgbClr val="E2E5EE"/>
                      </a:solidFill>
                      <a:prstDash val="solid"/>
                      <a:round/>
                      <a:headEnd type="none" w="med" len="med"/>
                      <a:tailEnd type="none" w="med" len="med"/>
                    </a:lnR>
                    <a:lnT w="12700" cap="flat" cmpd="sng" algn="ctr">
                      <a:solidFill>
                        <a:srgbClr val="E2E5EE"/>
                      </a:solidFill>
                      <a:prstDash val="solid"/>
                      <a:round/>
                      <a:headEnd type="none" w="med" len="med"/>
                      <a:tailEnd type="none" w="med" len="med"/>
                    </a:lnT>
                    <a:lnB w="12700" cap="flat" cmpd="sng" algn="ctr">
                      <a:solidFill>
                        <a:srgbClr val="E2E5EE"/>
                      </a:solidFill>
                      <a:prstDash val="solid"/>
                      <a:round/>
                      <a:headEnd type="none" w="med" len="med"/>
                      <a:tailEnd type="none" w="med" len="med"/>
                    </a:lnB>
                  </a:tcPr>
                </a:tc>
              </a:tr>
            </a:tbl>
          </a:graphicData>
        </a:graphic>
      </p:graphicFrame>
      <p:sp>
        <p:nvSpPr>
          <p:cNvPr id="4" name="Text 1"/>
          <p:cNvSpPr txBox="1"/>
          <p:nvPr/>
        </p:nvSpPr>
        <p:spPr>
          <a:xfrm>
            <a:off x="566928" y="5230368"/>
            <a:ext cx="11055096" cy="365760"/>
          </a:xfrm>
          <a:prstGeom prst="rect">
            <a:avLst/>
          </a:prstGeom>
          <a:noFill/>
          <a:ln/>
        </p:spPr>
        <p:txBody>
          <a:bodyPr wrap="square" lIns="0" tIns="0" rIns="0" bIns="0" rtlCol="0" anchor="ctr"/>
          <a:lstStyle/>
          <a:p>
            <a:pPr indent="0" marL="0">
              <a:buNone/>
            </a:pPr>
            <a:r>
              <a:rPr lang="en-US" sz="1150" i="1" dirty="0">
                <a:solidFill>
                  <a:srgbClr val="6B7187"/>
                </a:solidFill>
              </a:rPr>
              <a:t>Each decision is recorded in the specification with its trade-off stated, so it can be defended rather than merely asserted.</a:t>
            </a:r>
            <a:endParaRPr lang="en-US" sz="115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Formal grammar, written before the implementation</a:t>
            </a:r>
            <a:endParaRPr lang="en-US" sz="3200" dirty="0"/>
          </a:p>
        </p:txBody>
      </p:sp>
      <p:sp>
        <p:nvSpPr>
          <p:cNvPr id="3" name="code-ebnf"/>
          <p:cNvSpPr/>
          <p:nvPr/>
        </p:nvSpPr>
        <p:spPr>
          <a:xfrm>
            <a:off x="566928" y="1316736"/>
            <a:ext cx="6675120" cy="3310128"/>
          </a:xfrm>
          <a:prstGeom prst="roundRect">
            <a:avLst>
              <a:gd name="adj" fmla="val 829"/>
            </a:avLst>
          </a:prstGeom>
          <a:solidFill>
            <a:srgbClr val="F2F3F8"/>
          </a:solidFill>
          <a:ln w="12700">
            <a:solidFill>
              <a:srgbClr val="E2E5EE"/>
            </a:solidFill>
            <a:prstDash val="solid"/>
          </a:ln>
        </p:spPr>
      </p:sp>
      <p:sp>
        <p:nvSpPr>
          <p:cNvPr id="4" name="Text 2"/>
          <p:cNvSpPr txBox="1"/>
          <p:nvPr/>
        </p:nvSpPr>
        <p:spPr>
          <a:xfrm>
            <a:off x="713232" y="1426464"/>
            <a:ext cx="6382512" cy="3090672"/>
          </a:xfrm>
          <a:prstGeom prst="rect">
            <a:avLst/>
          </a:prstGeom>
          <a:noFill/>
          <a:ln/>
        </p:spPr>
        <p:txBody>
          <a:bodyPr wrap="square" lIns="0" tIns="0" rIns="0" bIns="0" rtlCol="0" anchor="t"/>
          <a:lstStyle/>
          <a:p>
            <a:pPr algn="l" indent="0" marL="0">
              <a:lnSpc>
                <a:spcPct val="112000"/>
              </a:lnSpc>
              <a:buNone/>
            </a:pPr>
            <a:r>
              <a:rPr lang="en-US" sz="1150" dirty="0">
                <a:solidFill>
                  <a:srgbClr val="0E1020"/>
                </a:solidFill>
                <a:latin typeface="Courier New" pitchFamily="34" charset="0"/>
                <a:ea typeface="Courier New" pitchFamily="34" charset="-122"/>
                <a:cs typeface="Courier New" pitchFamily="34" charset="-120"/>
              </a:rPr>
              <a:t>program         = { statement } EOF ;</a:t>
            </a:r>
            <a:endParaRPr lang="en-US" sz="1150" dirty="0"/>
          </a:p>
          <a:p>
            <a:pPr algn="l" indent="0" marL="0">
              <a:lnSpc>
                <a:spcPct val="112000"/>
              </a:lnSpc>
              <a:buNone/>
            </a:pPr>
            <a:endParaRPr lang="en-US" sz="1150" dirty="0"/>
          </a:p>
          <a:p>
            <a:pPr algn="l" indent="0" marL="0">
              <a:lnSpc>
                <a:spcPct val="112000"/>
              </a:lnSpc>
              <a:buNone/>
            </a:pPr>
            <a:r>
              <a:rPr lang="en-US" sz="1150" dirty="0">
                <a:solidFill>
                  <a:srgbClr val="0E1020"/>
                </a:solidFill>
                <a:latin typeface="Courier New" pitchFamily="34" charset="0"/>
                <a:ea typeface="Courier New" pitchFamily="34" charset="-122"/>
                <a:cs typeface="Courier New" pitchFamily="34" charset="-120"/>
              </a:rPr>
              <a:t>if_stmt         = "if" expression block</a:t>
            </a:r>
            <a:endParaRPr lang="en-US" sz="1150" dirty="0"/>
          </a:p>
          <a:p>
            <a:pPr algn="l" indent="0" marL="0">
              <a:lnSpc>
                <a:spcPct val="112000"/>
              </a:lnSpc>
              <a:buNone/>
            </a:pPr>
            <a:r>
              <a:rPr lang="en-US" sz="1150" dirty="0">
                <a:solidFill>
                  <a:srgbClr val="0E1020"/>
                </a:solidFill>
                <a:latin typeface="Courier New" pitchFamily="34" charset="0"/>
                <a:ea typeface="Courier New" pitchFamily="34" charset="-122"/>
                <a:cs typeface="Courier New" pitchFamily="34" charset="-120"/>
              </a:rPr>
              <a:t>                  { "otherwise" "if" expression block }</a:t>
            </a:r>
            <a:endParaRPr lang="en-US" sz="1150" dirty="0"/>
          </a:p>
          <a:p>
            <a:pPr algn="l" indent="0" marL="0">
              <a:lnSpc>
                <a:spcPct val="112000"/>
              </a:lnSpc>
              <a:buNone/>
            </a:pPr>
            <a:r>
              <a:rPr lang="en-US" sz="1150" dirty="0">
                <a:solidFill>
                  <a:srgbClr val="0E1020"/>
                </a:solidFill>
                <a:latin typeface="Courier New" pitchFamily="34" charset="0"/>
                <a:ea typeface="Courier New" pitchFamily="34" charset="-122"/>
                <a:cs typeface="Courier New" pitchFamily="34" charset="-120"/>
              </a:rPr>
              <a:t>                  [ "otherwise" block ] ;</a:t>
            </a:r>
            <a:endParaRPr lang="en-US" sz="1150" dirty="0"/>
          </a:p>
          <a:p>
            <a:pPr algn="l" indent="0" marL="0">
              <a:lnSpc>
                <a:spcPct val="112000"/>
              </a:lnSpc>
              <a:buNone/>
            </a:pPr>
            <a:endParaRPr lang="en-US" sz="1150" dirty="0"/>
          </a:p>
          <a:p>
            <a:pPr algn="l" indent="0" marL="0">
              <a:lnSpc>
                <a:spcPct val="112000"/>
              </a:lnSpc>
              <a:buNone/>
            </a:pPr>
            <a:r>
              <a:rPr lang="en-US" sz="1150" dirty="0">
                <a:solidFill>
                  <a:srgbClr val="0E1020"/>
                </a:solidFill>
                <a:latin typeface="Courier New" pitchFamily="34" charset="0"/>
                <a:ea typeface="Courier New" pitchFamily="34" charset="-122"/>
                <a:cs typeface="Courier New" pitchFamily="34" charset="-120"/>
              </a:rPr>
              <a:t>block           = ":" NEWLINE INDENT</a:t>
            </a:r>
            <a:endParaRPr lang="en-US" sz="1150" dirty="0"/>
          </a:p>
          <a:p>
            <a:pPr algn="l" indent="0" marL="0">
              <a:lnSpc>
                <a:spcPct val="112000"/>
              </a:lnSpc>
              <a:buNone/>
            </a:pPr>
            <a:r>
              <a:rPr lang="en-US" sz="1150" dirty="0">
                <a:solidFill>
                  <a:srgbClr val="0E1020"/>
                </a:solidFill>
                <a:latin typeface="Courier New" pitchFamily="34" charset="0"/>
                <a:ea typeface="Courier New" pitchFamily="34" charset="-122"/>
                <a:cs typeface="Courier New" pitchFamily="34" charset="-120"/>
              </a:rPr>
              <a:t>                      statement { statement }</a:t>
            </a:r>
            <a:endParaRPr lang="en-US" sz="1150" dirty="0"/>
          </a:p>
          <a:p>
            <a:pPr algn="l" indent="0" marL="0">
              <a:lnSpc>
                <a:spcPct val="112000"/>
              </a:lnSpc>
              <a:buNone/>
            </a:pPr>
            <a:r>
              <a:rPr lang="en-US" sz="1150" dirty="0">
                <a:solidFill>
                  <a:srgbClr val="0E1020"/>
                </a:solidFill>
                <a:latin typeface="Courier New" pitchFamily="34" charset="0"/>
                <a:ea typeface="Courier New" pitchFamily="34" charset="-122"/>
                <a:cs typeface="Courier New" pitchFamily="34" charset="-120"/>
              </a:rPr>
              <a:t>                  DEDENT ;</a:t>
            </a:r>
            <a:endParaRPr lang="en-US" sz="1150" dirty="0"/>
          </a:p>
          <a:p>
            <a:pPr algn="l" indent="0" marL="0">
              <a:lnSpc>
                <a:spcPct val="112000"/>
              </a:lnSpc>
              <a:buNone/>
            </a:pPr>
            <a:endParaRPr lang="en-US" sz="1150" dirty="0"/>
          </a:p>
          <a:p>
            <a:pPr algn="l" indent="0" marL="0">
              <a:lnSpc>
                <a:spcPct val="112000"/>
              </a:lnSpc>
              <a:buNone/>
            </a:pPr>
            <a:r>
              <a:rPr lang="en-US" sz="1150" dirty="0">
                <a:solidFill>
                  <a:srgbClr val="0E1020"/>
                </a:solidFill>
                <a:latin typeface="Courier New" pitchFamily="34" charset="0"/>
                <a:ea typeface="Courier New" pitchFamily="34" charset="-122"/>
                <a:cs typeface="Courier New" pitchFamily="34" charset="-120"/>
              </a:rPr>
              <a:t>comparison      = term { compare_phrase term } ;</a:t>
            </a:r>
            <a:endParaRPr lang="en-US" sz="1150" dirty="0"/>
          </a:p>
          <a:p>
            <a:pPr algn="l" indent="0" marL="0">
              <a:lnSpc>
                <a:spcPct val="112000"/>
              </a:lnSpc>
              <a:buNone/>
            </a:pPr>
            <a:endParaRPr lang="en-US" sz="1150" dirty="0"/>
          </a:p>
          <a:p>
            <a:pPr algn="l" indent="0" marL="0">
              <a:lnSpc>
                <a:spcPct val="112000"/>
              </a:lnSpc>
              <a:buNone/>
            </a:pPr>
            <a:r>
              <a:rPr lang="en-US" sz="1150" dirty="0">
                <a:solidFill>
                  <a:srgbClr val="0E1020"/>
                </a:solidFill>
                <a:latin typeface="Courier New" pitchFamily="34" charset="0"/>
                <a:ea typeface="Courier New" pitchFamily="34" charset="-122"/>
                <a:cs typeface="Courier New" pitchFamily="34" charset="-120"/>
              </a:rPr>
              <a:t>compare_phrase  = "is" [ "not"</a:t>
            </a:r>
            <a:endParaRPr lang="en-US" sz="1150" dirty="0"/>
          </a:p>
          <a:p>
            <a:pPr algn="l" indent="0" marL="0">
              <a:lnSpc>
                <a:spcPct val="112000"/>
              </a:lnSpc>
              <a:buNone/>
            </a:pPr>
            <a:r>
              <a:rPr lang="en-US" sz="1150" dirty="0">
                <a:solidFill>
                  <a:srgbClr val="0E1020"/>
                </a:solidFill>
                <a:latin typeface="Courier New" pitchFamily="34" charset="0"/>
                <a:ea typeface="Courier New" pitchFamily="34" charset="-122"/>
                <a:cs typeface="Courier New" pitchFamily="34" charset="-120"/>
              </a:rPr>
              <a:t>                       | "at" ( "least" | "most" )</a:t>
            </a:r>
            <a:endParaRPr lang="en-US" sz="1150" dirty="0"/>
          </a:p>
          <a:p>
            <a:pPr algn="l" indent="0" marL="0">
              <a:lnSpc>
                <a:spcPct val="112000"/>
              </a:lnSpc>
              <a:buNone/>
            </a:pPr>
            <a:r>
              <a:rPr lang="en-US" sz="1150" dirty="0">
                <a:solidFill>
                  <a:srgbClr val="0E1020"/>
                </a:solidFill>
                <a:latin typeface="Courier New" pitchFamily="34" charset="0"/>
                <a:ea typeface="Courier New" pitchFamily="34" charset="-122"/>
                <a:cs typeface="Courier New" pitchFamily="34" charset="-120"/>
              </a:rPr>
              <a:t>                       | "more" "than"</a:t>
            </a:r>
            <a:endParaRPr lang="en-US" sz="1150" dirty="0"/>
          </a:p>
          <a:p>
            <a:pPr algn="l" indent="0" marL="0">
              <a:lnSpc>
                <a:spcPct val="112000"/>
              </a:lnSpc>
              <a:buNone/>
            </a:pPr>
            <a:r>
              <a:rPr lang="en-US" sz="1150" dirty="0">
                <a:solidFill>
                  <a:srgbClr val="0E1020"/>
                </a:solidFill>
                <a:latin typeface="Courier New" pitchFamily="34" charset="0"/>
                <a:ea typeface="Courier New" pitchFamily="34" charset="-122"/>
                <a:cs typeface="Courier New" pitchFamily="34" charset="-120"/>
              </a:rPr>
              <a:t>                       | "less" "than" ] ;</a:t>
            </a:r>
            <a:endParaRPr lang="en-US" sz="1150" dirty="0"/>
          </a:p>
        </p:txBody>
      </p:sp>
      <p:sp>
        <p:nvSpPr>
          <p:cNvPr id="5" name="Text 3"/>
          <p:cNvSpPr txBox="1"/>
          <p:nvPr/>
        </p:nvSpPr>
        <p:spPr>
          <a:xfrm>
            <a:off x="7644384" y="1316736"/>
            <a:ext cx="3977640" cy="292608"/>
          </a:xfrm>
          <a:prstGeom prst="rect">
            <a:avLst/>
          </a:prstGeom>
          <a:noFill/>
          <a:ln/>
        </p:spPr>
        <p:txBody>
          <a:bodyPr wrap="square" lIns="0" tIns="0" rIns="0" bIns="0" rtlCol="0" anchor="ctr"/>
          <a:lstStyle/>
          <a:p>
            <a:pPr indent="0" marL="0">
              <a:buNone/>
            </a:pPr>
            <a:r>
              <a:rPr lang="en-US" sz="1500" b="1" dirty="0">
                <a:solidFill>
                  <a:srgbClr val="0E1020"/>
                </a:solidFill>
              </a:rPr>
              <a:t>How it is used</a:t>
            </a:r>
            <a:endParaRPr lang="en-US" sz="1500" dirty="0"/>
          </a:p>
        </p:txBody>
      </p:sp>
      <p:sp>
        <p:nvSpPr>
          <p:cNvPr id="6" name="Text 4"/>
          <p:cNvSpPr txBox="1"/>
          <p:nvPr/>
        </p:nvSpPr>
        <p:spPr>
          <a:xfrm>
            <a:off x="7644384" y="1700784"/>
            <a:ext cx="3977640" cy="2926080"/>
          </a:xfrm>
          <a:prstGeom prst="rect">
            <a:avLst/>
          </a:prstGeom>
          <a:noFill/>
          <a:ln/>
        </p:spPr>
        <p:txBody>
          <a:bodyPr wrap="square" lIns="0" tIns="0" rIns="0" bIns="0" rtlCol="0" anchor="ctr"/>
          <a:lstStyle/>
          <a:p>
            <a:pPr marL="342900" indent="-342900">
              <a:lnSpc>
                <a:spcPct val="112000"/>
              </a:lnSpc>
              <a:spcAft>
                <a:spcPts val="1000"/>
              </a:spcAft>
              <a:buSzPct val="100000"/>
              <a:buChar char="•"/>
            </a:pPr>
            <a:r>
              <a:rPr lang="en-US" sz="1200" dirty="0">
                <a:solidFill>
                  <a:srgbClr val="6B7187"/>
                </a:solidFill>
              </a:rPr>
              <a:t>Every non-terminal above becomes one method of the same name in the parser, so the grammar and the code can be read side by side.</a:t>
            </a:r>
            <a:endParaRPr lang="en-US" sz="1200" dirty="0"/>
          </a:p>
          <a:p>
            <a:pPr marL="342900" indent="-342900">
              <a:lnSpc>
                <a:spcPct val="112000"/>
              </a:lnSpc>
              <a:spcAft>
                <a:spcPts val="1000"/>
              </a:spcAft>
              <a:buSzPct val="100000"/>
              <a:buChar char="•"/>
            </a:pPr>
            <a:r>
              <a:rPr lang="en-US" sz="1200" dirty="0">
                <a:solidFill>
                  <a:srgbClr val="6B7187"/>
                </a:solidFill>
              </a:rPr>
              <a:t>INDENT and DEDENT are not characters. The lexer produces them, which is what lets the grammar describe blocks without braces.</a:t>
            </a:r>
            <a:endParaRPr lang="en-US" sz="1200" dirty="0"/>
          </a:p>
          <a:p>
            <a:pPr marL="342900" indent="-342900">
              <a:lnSpc>
                <a:spcPct val="112000"/>
              </a:lnSpc>
              <a:spcAft>
                <a:spcPts val="1000"/>
              </a:spcAft>
              <a:buSzPct val="100000"/>
              <a:buChar char="•"/>
            </a:pPr>
            <a:r>
              <a:rPr lang="en-US" sz="1200" dirty="0">
                <a:solidFill>
                  <a:srgbClr val="6B7187"/>
                </a:solidFill>
              </a:rPr>
              <a:t>compare_phrase is where the multi-word operators are folded — decided by the next one or two tokens, never by backtracking.</a:t>
            </a:r>
            <a:endParaRPr lang="en-US" sz="1200" dirty="0"/>
          </a:p>
        </p:txBody>
      </p:sp>
      <p:sp>
        <p:nvSpPr>
          <p:cNvPr id="7" name="stat-0"/>
          <p:cNvSpPr/>
          <p:nvPr/>
        </p:nvSpPr>
        <p:spPr>
          <a:xfrm>
            <a:off x="566928" y="4846320"/>
            <a:ext cx="3441192" cy="859536"/>
          </a:xfrm>
          <a:prstGeom prst="roundRect">
            <a:avLst>
              <a:gd name="adj" fmla="val 3191"/>
            </a:avLst>
          </a:prstGeom>
          <a:solidFill>
            <a:srgbClr val="F2F3F8"/>
          </a:solidFill>
          <a:ln w="12700">
            <a:solidFill>
              <a:srgbClr val="E2E5EE"/>
            </a:solidFill>
            <a:prstDash val="solid"/>
          </a:ln>
        </p:spPr>
      </p:sp>
      <p:sp>
        <p:nvSpPr>
          <p:cNvPr id="8" name="Text 6"/>
          <p:cNvSpPr txBox="1"/>
          <p:nvPr/>
        </p:nvSpPr>
        <p:spPr>
          <a:xfrm>
            <a:off x="786384" y="4956048"/>
            <a:ext cx="3002280" cy="384048"/>
          </a:xfrm>
          <a:prstGeom prst="rect">
            <a:avLst/>
          </a:prstGeom>
          <a:noFill/>
          <a:ln/>
        </p:spPr>
        <p:txBody>
          <a:bodyPr wrap="square" lIns="0" tIns="0" rIns="0" bIns="0" rtlCol="0" anchor="ctr"/>
          <a:lstStyle/>
          <a:p>
            <a:pPr indent="0" marL="0">
              <a:buNone/>
            </a:pPr>
            <a:r>
              <a:rPr lang="en-US" sz="2400" b="1" dirty="0">
                <a:solidFill>
                  <a:srgbClr val="0E1020"/>
                </a:solidFill>
                <a:latin typeface="Cambria" pitchFamily="34" charset="0"/>
                <a:ea typeface="Cambria" pitchFamily="34" charset="-122"/>
                <a:cs typeface="Cambria" pitchFamily="34" charset="-120"/>
              </a:rPr>
              <a:t>47</a:t>
            </a:r>
            <a:endParaRPr lang="en-US" sz="2400" dirty="0"/>
          </a:p>
        </p:txBody>
      </p:sp>
      <p:sp>
        <p:nvSpPr>
          <p:cNvPr id="9" name="Text 7"/>
          <p:cNvSpPr txBox="1"/>
          <p:nvPr/>
        </p:nvSpPr>
        <p:spPr>
          <a:xfrm>
            <a:off x="786384" y="5340096"/>
            <a:ext cx="3002280" cy="256032"/>
          </a:xfrm>
          <a:prstGeom prst="rect">
            <a:avLst/>
          </a:prstGeom>
          <a:noFill/>
          <a:ln/>
        </p:spPr>
        <p:txBody>
          <a:bodyPr wrap="square" lIns="0" tIns="0" rIns="0" bIns="0" rtlCol="0" anchor="ctr"/>
          <a:lstStyle/>
          <a:p>
            <a:pPr indent="0" marL="0">
              <a:buNone/>
            </a:pPr>
            <a:r>
              <a:rPr lang="en-US" sz="1100" dirty="0">
                <a:solidFill>
                  <a:srgbClr val="6B7187"/>
                </a:solidFill>
              </a:rPr>
              <a:t>keywords</a:t>
            </a:r>
            <a:endParaRPr lang="en-US" sz="1100" dirty="0"/>
          </a:p>
        </p:txBody>
      </p:sp>
      <p:sp>
        <p:nvSpPr>
          <p:cNvPr id="10" name="stat-1"/>
          <p:cNvSpPr/>
          <p:nvPr/>
        </p:nvSpPr>
        <p:spPr>
          <a:xfrm>
            <a:off x="4373880" y="4846320"/>
            <a:ext cx="3441192" cy="859536"/>
          </a:xfrm>
          <a:prstGeom prst="roundRect">
            <a:avLst>
              <a:gd name="adj" fmla="val 3191"/>
            </a:avLst>
          </a:prstGeom>
          <a:solidFill>
            <a:srgbClr val="F2F3F8"/>
          </a:solidFill>
          <a:ln w="12700">
            <a:solidFill>
              <a:srgbClr val="E2E5EE"/>
            </a:solidFill>
            <a:prstDash val="solid"/>
          </a:ln>
        </p:spPr>
      </p:sp>
      <p:sp>
        <p:nvSpPr>
          <p:cNvPr id="11" name="Text 9"/>
          <p:cNvSpPr txBox="1"/>
          <p:nvPr/>
        </p:nvSpPr>
        <p:spPr>
          <a:xfrm>
            <a:off x="4593336" y="4956048"/>
            <a:ext cx="3002280" cy="384048"/>
          </a:xfrm>
          <a:prstGeom prst="rect">
            <a:avLst/>
          </a:prstGeom>
          <a:noFill/>
          <a:ln/>
        </p:spPr>
        <p:txBody>
          <a:bodyPr wrap="square" lIns="0" tIns="0" rIns="0" bIns="0" rtlCol="0" anchor="ctr"/>
          <a:lstStyle/>
          <a:p>
            <a:pPr indent="0" marL="0">
              <a:buNone/>
            </a:pPr>
            <a:r>
              <a:rPr lang="en-US" sz="2400" b="1" dirty="0">
                <a:solidFill>
                  <a:srgbClr val="0E1020"/>
                </a:solidFill>
                <a:latin typeface="Cambria" pitchFamily="34" charset="0"/>
                <a:ea typeface="Cambria" pitchFamily="34" charset="-122"/>
                <a:cs typeface="Cambria" pitchFamily="34" charset="-120"/>
              </a:rPr>
              <a:t>6</a:t>
            </a:r>
            <a:endParaRPr lang="en-US" sz="2400" dirty="0"/>
          </a:p>
        </p:txBody>
      </p:sp>
      <p:sp>
        <p:nvSpPr>
          <p:cNvPr id="12" name="Text 10"/>
          <p:cNvSpPr txBox="1"/>
          <p:nvPr/>
        </p:nvSpPr>
        <p:spPr>
          <a:xfrm>
            <a:off x="4593336" y="5340096"/>
            <a:ext cx="3002280" cy="256032"/>
          </a:xfrm>
          <a:prstGeom prst="rect">
            <a:avLst/>
          </a:prstGeom>
          <a:noFill/>
          <a:ln/>
        </p:spPr>
        <p:txBody>
          <a:bodyPr wrap="square" lIns="0" tIns="0" rIns="0" bIns="0" rtlCol="0" anchor="ctr"/>
          <a:lstStyle/>
          <a:p>
            <a:pPr indent="0" marL="0">
              <a:buNone/>
            </a:pPr>
            <a:r>
              <a:rPr lang="en-US" sz="1100" dirty="0">
                <a:solidFill>
                  <a:srgbClr val="6B7187"/>
                </a:solidFill>
              </a:rPr>
              <a:t>value types</a:t>
            </a:r>
            <a:endParaRPr lang="en-US" sz="1100" dirty="0"/>
          </a:p>
        </p:txBody>
      </p:sp>
      <p:sp>
        <p:nvSpPr>
          <p:cNvPr id="13" name="stat-2"/>
          <p:cNvSpPr/>
          <p:nvPr/>
        </p:nvSpPr>
        <p:spPr>
          <a:xfrm>
            <a:off x="8180832" y="4846320"/>
            <a:ext cx="3441192" cy="859536"/>
          </a:xfrm>
          <a:prstGeom prst="roundRect">
            <a:avLst>
              <a:gd name="adj" fmla="val 3191"/>
            </a:avLst>
          </a:prstGeom>
          <a:solidFill>
            <a:srgbClr val="F2F3F8"/>
          </a:solidFill>
          <a:ln w="12700">
            <a:solidFill>
              <a:srgbClr val="E2E5EE"/>
            </a:solidFill>
            <a:prstDash val="solid"/>
          </a:ln>
        </p:spPr>
      </p:sp>
      <p:sp>
        <p:nvSpPr>
          <p:cNvPr id="14" name="Text 12"/>
          <p:cNvSpPr txBox="1"/>
          <p:nvPr/>
        </p:nvSpPr>
        <p:spPr>
          <a:xfrm>
            <a:off x="8400288" y="4956048"/>
            <a:ext cx="3002280" cy="384048"/>
          </a:xfrm>
          <a:prstGeom prst="rect">
            <a:avLst/>
          </a:prstGeom>
          <a:noFill/>
          <a:ln/>
        </p:spPr>
        <p:txBody>
          <a:bodyPr wrap="square" lIns="0" tIns="0" rIns="0" bIns="0" rtlCol="0" anchor="ctr"/>
          <a:lstStyle/>
          <a:p>
            <a:pPr indent="0" marL="0">
              <a:buNone/>
            </a:pPr>
            <a:r>
              <a:rPr lang="en-US" sz="2400" b="1" dirty="0">
                <a:solidFill>
                  <a:srgbClr val="0E1020"/>
                </a:solidFill>
                <a:latin typeface="Cambria" pitchFamily="34" charset="0"/>
                <a:ea typeface="Cambria" pitchFamily="34" charset="-122"/>
                <a:cs typeface="Cambria" pitchFamily="34" charset="-120"/>
              </a:rPr>
              <a:t>LL(k)</a:t>
            </a:r>
            <a:endParaRPr lang="en-US" sz="2400" dirty="0"/>
          </a:p>
        </p:txBody>
      </p:sp>
      <p:sp>
        <p:nvSpPr>
          <p:cNvPr id="15" name="Text 13"/>
          <p:cNvSpPr txBox="1"/>
          <p:nvPr/>
        </p:nvSpPr>
        <p:spPr>
          <a:xfrm>
            <a:off x="8400288" y="5340096"/>
            <a:ext cx="3002280" cy="256032"/>
          </a:xfrm>
          <a:prstGeom prst="rect">
            <a:avLst/>
          </a:prstGeom>
          <a:noFill/>
          <a:ln/>
        </p:spPr>
        <p:txBody>
          <a:bodyPr wrap="square" lIns="0" tIns="0" rIns="0" bIns="0" rtlCol="0" anchor="ctr"/>
          <a:lstStyle/>
          <a:p>
            <a:pPr indent="0" marL="0">
              <a:buNone/>
            </a:pPr>
            <a:r>
              <a:rPr lang="en-US" sz="1100" dirty="0">
                <a:solidFill>
                  <a:srgbClr val="6B7187"/>
                </a:solidFill>
              </a:rPr>
              <a:t>no backtracking</a:t>
            </a:r>
            <a:endParaRPr lang="en-US" sz="110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Work progress</a:t>
            </a:r>
            <a:endParaRPr lang="en-US" sz="3200" dirty="0"/>
          </a:p>
        </p:txBody>
      </p:sp>
      <p:sp>
        <p:nvSpPr>
          <p:cNvPr id="3" name="prog-stat-0"/>
          <p:cNvSpPr/>
          <p:nvPr/>
        </p:nvSpPr>
        <p:spPr>
          <a:xfrm>
            <a:off x="566928" y="1298448"/>
            <a:ext cx="3441192" cy="1060704"/>
          </a:xfrm>
          <a:prstGeom prst="roundRect">
            <a:avLst>
              <a:gd name="adj" fmla="val 2586"/>
            </a:avLst>
          </a:prstGeom>
          <a:solidFill>
            <a:srgbClr val="F2F3F8"/>
          </a:solidFill>
          <a:ln w="12700">
            <a:solidFill>
              <a:srgbClr val="E2E5EE"/>
            </a:solidFill>
            <a:prstDash val="solid"/>
          </a:ln>
        </p:spPr>
      </p:sp>
      <p:sp>
        <p:nvSpPr>
          <p:cNvPr id="4" name="Text 2"/>
          <p:cNvSpPr txBox="1"/>
          <p:nvPr/>
        </p:nvSpPr>
        <p:spPr>
          <a:xfrm>
            <a:off x="822960" y="1408176"/>
            <a:ext cx="2929128" cy="512064"/>
          </a:xfrm>
          <a:prstGeom prst="rect">
            <a:avLst/>
          </a:prstGeom>
          <a:noFill/>
          <a:ln/>
        </p:spPr>
        <p:txBody>
          <a:bodyPr wrap="square" lIns="0" tIns="0" rIns="0" bIns="0" rtlCol="0" anchor="ctr"/>
          <a:lstStyle/>
          <a:p>
            <a:pPr indent="0" marL="0">
              <a:buNone/>
            </a:pPr>
            <a:r>
              <a:rPr lang="en-US" sz="3200" b="1" dirty="0">
                <a:solidFill>
                  <a:srgbClr val="4E9163"/>
                </a:solidFill>
                <a:latin typeface="Cambria" pitchFamily="34" charset="0"/>
                <a:ea typeface="Cambria" pitchFamily="34" charset="-122"/>
                <a:cs typeface="Cambria" pitchFamily="34" charset="-120"/>
              </a:rPr>
              <a:t>2 of 6</a:t>
            </a:r>
            <a:endParaRPr lang="en-US" sz="3200" dirty="0"/>
          </a:p>
        </p:txBody>
      </p:sp>
      <p:sp>
        <p:nvSpPr>
          <p:cNvPr id="5" name="Text 3"/>
          <p:cNvSpPr txBox="1"/>
          <p:nvPr/>
        </p:nvSpPr>
        <p:spPr>
          <a:xfrm>
            <a:off x="822960" y="1920240"/>
            <a:ext cx="2929128" cy="274320"/>
          </a:xfrm>
          <a:prstGeom prst="rect">
            <a:avLst/>
          </a:prstGeom>
          <a:noFill/>
          <a:ln/>
        </p:spPr>
        <p:txBody>
          <a:bodyPr wrap="square" lIns="0" tIns="0" rIns="0" bIns="0" rtlCol="0" anchor="ctr"/>
          <a:lstStyle/>
          <a:p>
            <a:pPr indent="0" marL="0">
              <a:buNone/>
            </a:pPr>
            <a:r>
              <a:rPr lang="en-US" sz="1200" dirty="0">
                <a:solidFill>
                  <a:srgbClr val="6B7187"/>
                </a:solidFill>
              </a:rPr>
              <a:t>phases complete</a:t>
            </a:r>
            <a:endParaRPr lang="en-US" sz="1200" dirty="0"/>
          </a:p>
        </p:txBody>
      </p:sp>
      <p:sp>
        <p:nvSpPr>
          <p:cNvPr id="6" name="prog-stat-1"/>
          <p:cNvSpPr/>
          <p:nvPr/>
        </p:nvSpPr>
        <p:spPr>
          <a:xfrm>
            <a:off x="4373880" y="1298448"/>
            <a:ext cx="3441192" cy="1060704"/>
          </a:xfrm>
          <a:prstGeom prst="roundRect">
            <a:avLst>
              <a:gd name="adj" fmla="val 2586"/>
            </a:avLst>
          </a:prstGeom>
          <a:solidFill>
            <a:srgbClr val="F2F3F8"/>
          </a:solidFill>
          <a:ln w="12700">
            <a:solidFill>
              <a:srgbClr val="E2E5EE"/>
            </a:solidFill>
            <a:prstDash val="solid"/>
          </a:ln>
        </p:spPr>
      </p:sp>
      <p:sp>
        <p:nvSpPr>
          <p:cNvPr id="7" name="Text 5"/>
          <p:cNvSpPr txBox="1"/>
          <p:nvPr/>
        </p:nvSpPr>
        <p:spPr>
          <a:xfrm>
            <a:off x="4629912" y="1408176"/>
            <a:ext cx="2929128" cy="512064"/>
          </a:xfrm>
          <a:prstGeom prst="rect">
            <a:avLst/>
          </a:prstGeom>
          <a:noFill/>
          <a:ln/>
        </p:spPr>
        <p:txBody>
          <a:bodyPr wrap="square" lIns="0" tIns="0" rIns="0" bIns="0" rtlCol="0" anchor="ctr"/>
          <a:lstStyle/>
          <a:p>
            <a:pPr indent="0" marL="0">
              <a:buNone/>
            </a:pPr>
            <a:r>
              <a:rPr lang="en-US" sz="3200" b="1" dirty="0">
                <a:solidFill>
                  <a:srgbClr val="FFC857"/>
                </a:solidFill>
                <a:latin typeface="Cambria" pitchFamily="34" charset="0"/>
                <a:ea typeface="Cambria" pitchFamily="34" charset="-122"/>
                <a:cs typeface="Cambria" pitchFamily="34" charset="-120"/>
              </a:rPr>
              <a:t>~30%</a:t>
            </a:r>
            <a:endParaRPr lang="en-US" sz="3200" dirty="0"/>
          </a:p>
        </p:txBody>
      </p:sp>
      <p:sp>
        <p:nvSpPr>
          <p:cNvPr id="8" name="Text 6"/>
          <p:cNvSpPr txBox="1"/>
          <p:nvPr/>
        </p:nvSpPr>
        <p:spPr>
          <a:xfrm>
            <a:off x="4629912" y="1920240"/>
            <a:ext cx="2929128" cy="274320"/>
          </a:xfrm>
          <a:prstGeom prst="rect">
            <a:avLst/>
          </a:prstGeom>
          <a:noFill/>
          <a:ln/>
        </p:spPr>
        <p:txBody>
          <a:bodyPr wrap="square" lIns="0" tIns="0" rIns="0" bIns="0" rtlCol="0" anchor="ctr"/>
          <a:lstStyle/>
          <a:p>
            <a:pPr indent="0" marL="0">
              <a:buNone/>
            </a:pPr>
            <a:r>
              <a:rPr lang="en-US" sz="1200" dirty="0">
                <a:solidFill>
                  <a:srgbClr val="6B7187"/>
                </a:solidFill>
              </a:rPr>
              <a:t>of implementation</a:t>
            </a:r>
            <a:endParaRPr lang="en-US" sz="1200" dirty="0"/>
          </a:p>
        </p:txBody>
      </p:sp>
      <p:sp>
        <p:nvSpPr>
          <p:cNvPr id="9" name="prog-stat-2"/>
          <p:cNvSpPr/>
          <p:nvPr/>
        </p:nvSpPr>
        <p:spPr>
          <a:xfrm>
            <a:off x="8180832" y="1298448"/>
            <a:ext cx="3441192" cy="1060704"/>
          </a:xfrm>
          <a:prstGeom prst="roundRect">
            <a:avLst>
              <a:gd name="adj" fmla="val 2586"/>
            </a:avLst>
          </a:prstGeom>
          <a:solidFill>
            <a:srgbClr val="F2F3F8"/>
          </a:solidFill>
          <a:ln w="12700">
            <a:solidFill>
              <a:srgbClr val="E2E5EE"/>
            </a:solidFill>
            <a:prstDash val="solid"/>
          </a:ln>
        </p:spPr>
      </p:sp>
      <p:sp>
        <p:nvSpPr>
          <p:cNvPr id="10" name="Text 8"/>
          <p:cNvSpPr txBox="1"/>
          <p:nvPr/>
        </p:nvSpPr>
        <p:spPr>
          <a:xfrm>
            <a:off x="8436864" y="1408176"/>
            <a:ext cx="2929128" cy="512064"/>
          </a:xfrm>
          <a:prstGeom prst="rect">
            <a:avLst/>
          </a:prstGeom>
          <a:noFill/>
          <a:ln/>
        </p:spPr>
        <p:txBody>
          <a:bodyPr wrap="square" lIns="0" tIns="0" rIns="0" bIns="0" rtlCol="0" anchor="ctr"/>
          <a:lstStyle/>
          <a:p>
            <a:pPr indent="0" marL="0">
              <a:buNone/>
            </a:pPr>
            <a:r>
              <a:rPr lang="en-US" sz="3200" b="1" dirty="0">
                <a:solidFill>
                  <a:srgbClr val="3D7DD6"/>
                </a:solidFill>
                <a:latin typeface="Cambria" pitchFamily="34" charset="0"/>
                <a:ea typeface="Cambria" pitchFamily="34" charset="-122"/>
                <a:cs typeface="Cambria" pitchFamily="34" charset="-120"/>
              </a:rPr>
              <a:t>47</a:t>
            </a:r>
            <a:endParaRPr lang="en-US" sz="3200" dirty="0"/>
          </a:p>
        </p:txBody>
      </p:sp>
      <p:sp>
        <p:nvSpPr>
          <p:cNvPr id="11" name="Text 9"/>
          <p:cNvSpPr txBox="1"/>
          <p:nvPr/>
        </p:nvSpPr>
        <p:spPr>
          <a:xfrm>
            <a:off x="8436864" y="1920240"/>
            <a:ext cx="2929128" cy="274320"/>
          </a:xfrm>
          <a:prstGeom prst="rect">
            <a:avLst/>
          </a:prstGeom>
          <a:noFill/>
          <a:ln/>
        </p:spPr>
        <p:txBody>
          <a:bodyPr wrap="square" lIns="0" tIns="0" rIns="0" bIns="0" rtlCol="0" anchor="ctr"/>
          <a:lstStyle/>
          <a:p>
            <a:pPr indent="0" marL="0">
              <a:buNone/>
            </a:pPr>
            <a:r>
              <a:rPr lang="en-US" sz="1200" dirty="0">
                <a:solidFill>
                  <a:srgbClr val="6B7187"/>
                </a:solidFill>
              </a:rPr>
              <a:t>keywords specified</a:t>
            </a:r>
            <a:endParaRPr lang="en-US" sz="1200" dirty="0"/>
          </a:p>
        </p:txBody>
      </p:sp>
      <p:sp>
        <p:nvSpPr>
          <p:cNvPr id="12" name="row-0"/>
          <p:cNvSpPr/>
          <p:nvPr/>
        </p:nvSpPr>
        <p:spPr>
          <a:xfrm>
            <a:off x="566928" y="2615184"/>
            <a:ext cx="11055096" cy="512064"/>
          </a:xfrm>
          <a:prstGeom prst="roundRect">
            <a:avLst>
              <a:gd name="adj" fmla="val 5357"/>
            </a:avLst>
          </a:prstGeom>
          <a:solidFill>
            <a:srgbClr val="F2F3F8"/>
          </a:solidFill>
          <a:ln w="12700">
            <a:solidFill>
              <a:srgbClr val="F2F3F8"/>
            </a:solidFill>
            <a:prstDash val="solid"/>
          </a:ln>
        </p:spPr>
      </p:sp>
      <p:sp>
        <p:nvSpPr>
          <p:cNvPr id="13" name="Text 11"/>
          <p:cNvSpPr txBox="1"/>
          <p:nvPr/>
        </p:nvSpPr>
        <p:spPr>
          <a:xfrm>
            <a:off x="786384" y="2670048"/>
            <a:ext cx="914400" cy="402336"/>
          </a:xfrm>
          <a:prstGeom prst="rect">
            <a:avLst/>
          </a:prstGeom>
          <a:noFill/>
          <a:ln/>
        </p:spPr>
        <p:txBody>
          <a:bodyPr wrap="square" lIns="0" tIns="0" rIns="0" bIns="0" rtlCol="0" anchor="ctr"/>
          <a:lstStyle/>
          <a:p>
            <a:pPr indent="0" marL="0">
              <a:buNone/>
            </a:pPr>
            <a:r>
              <a:rPr lang="en-US" sz="1250" b="1" dirty="0">
                <a:solidFill>
                  <a:srgbClr val="0E1020"/>
                </a:solidFill>
              </a:rPr>
              <a:t>Phase 1</a:t>
            </a:r>
            <a:endParaRPr lang="en-US" sz="1250" dirty="0"/>
          </a:p>
        </p:txBody>
      </p:sp>
      <p:sp>
        <p:nvSpPr>
          <p:cNvPr id="14" name="Text 12"/>
          <p:cNvSpPr txBox="1"/>
          <p:nvPr/>
        </p:nvSpPr>
        <p:spPr>
          <a:xfrm>
            <a:off x="1755648" y="2670048"/>
            <a:ext cx="7589520" cy="402336"/>
          </a:xfrm>
          <a:prstGeom prst="rect">
            <a:avLst/>
          </a:prstGeom>
          <a:noFill/>
          <a:ln/>
        </p:spPr>
        <p:txBody>
          <a:bodyPr wrap="square" lIns="0" tIns="0" rIns="0" bIns="0" rtlCol="0" anchor="ctr"/>
          <a:lstStyle/>
          <a:p>
            <a:pPr indent="0" marL="0">
              <a:buNone/>
            </a:pPr>
            <a:r>
              <a:rPr lang="en-US" sz="1250" dirty="0">
                <a:solidFill>
                  <a:srgbClr val="6B7187"/>
                </a:solidFill>
              </a:rPr>
              <a:t>Language design, keyword set, EBNF grammar</a:t>
            </a:r>
            <a:endParaRPr lang="en-US" sz="1250" dirty="0"/>
          </a:p>
        </p:txBody>
      </p:sp>
      <p:sp>
        <p:nvSpPr>
          <p:cNvPr id="15" name="chip"/>
          <p:cNvSpPr/>
          <p:nvPr/>
        </p:nvSpPr>
        <p:spPr>
          <a:xfrm>
            <a:off x="10204704" y="2752344"/>
            <a:ext cx="1188720" cy="237744"/>
          </a:xfrm>
          <a:prstGeom prst="roundRect">
            <a:avLst>
              <a:gd name="adj" fmla="val 46154"/>
            </a:avLst>
          </a:prstGeom>
          <a:solidFill>
            <a:srgbClr val="4E9163"/>
          </a:solidFill>
          <a:ln w="12700">
            <a:solidFill>
              <a:srgbClr val="4E9163"/>
            </a:solidFill>
            <a:prstDash val="solid"/>
          </a:ln>
        </p:spPr>
      </p:sp>
      <p:sp>
        <p:nvSpPr>
          <p:cNvPr id="16" name="Text 14"/>
          <p:cNvSpPr txBox="1"/>
          <p:nvPr/>
        </p:nvSpPr>
        <p:spPr>
          <a:xfrm>
            <a:off x="10204704" y="2752344"/>
            <a:ext cx="1188720" cy="237744"/>
          </a:xfrm>
          <a:prstGeom prst="rect">
            <a:avLst/>
          </a:prstGeom>
          <a:noFill/>
          <a:ln/>
        </p:spPr>
        <p:txBody>
          <a:bodyPr wrap="square" lIns="0" tIns="0" rIns="0" bIns="0" rtlCol="0" anchor="ctr"/>
          <a:lstStyle/>
          <a:p>
            <a:pPr algn="ctr" indent="0" marL="0">
              <a:buNone/>
            </a:pPr>
            <a:r>
              <a:rPr lang="en-US" sz="950" b="1" dirty="0">
                <a:solidFill>
                  <a:srgbClr val="0E1020"/>
                </a:solidFill>
              </a:rPr>
              <a:t>COMPLETE</a:t>
            </a:r>
            <a:endParaRPr lang="en-US" sz="950" dirty="0"/>
          </a:p>
        </p:txBody>
      </p:sp>
      <p:sp>
        <p:nvSpPr>
          <p:cNvPr id="17" name="Text 15"/>
          <p:cNvSpPr txBox="1"/>
          <p:nvPr/>
        </p:nvSpPr>
        <p:spPr>
          <a:xfrm>
            <a:off x="786384" y="3236976"/>
            <a:ext cx="914400" cy="402336"/>
          </a:xfrm>
          <a:prstGeom prst="rect">
            <a:avLst/>
          </a:prstGeom>
          <a:noFill/>
          <a:ln/>
        </p:spPr>
        <p:txBody>
          <a:bodyPr wrap="square" lIns="0" tIns="0" rIns="0" bIns="0" rtlCol="0" anchor="ctr"/>
          <a:lstStyle/>
          <a:p>
            <a:pPr indent="0" marL="0">
              <a:buNone/>
            </a:pPr>
            <a:r>
              <a:rPr lang="en-US" sz="1250" b="1" dirty="0">
                <a:solidFill>
                  <a:srgbClr val="0E1020"/>
                </a:solidFill>
              </a:rPr>
              <a:t>Phase 2</a:t>
            </a:r>
            <a:endParaRPr lang="en-US" sz="1250" dirty="0"/>
          </a:p>
        </p:txBody>
      </p:sp>
      <p:sp>
        <p:nvSpPr>
          <p:cNvPr id="18" name="Text 16"/>
          <p:cNvSpPr txBox="1"/>
          <p:nvPr/>
        </p:nvSpPr>
        <p:spPr>
          <a:xfrm>
            <a:off x="1755648" y="3236976"/>
            <a:ext cx="7589520" cy="402336"/>
          </a:xfrm>
          <a:prstGeom prst="rect">
            <a:avLst/>
          </a:prstGeom>
          <a:noFill/>
          <a:ln/>
        </p:spPr>
        <p:txBody>
          <a:bodyPr wrap="square" lIns="0" tIns="0" rIns="0" bIns="0" rtlCol="0" anchor="ctr"/>
          <a:lstStyle/>
          <a:p>
            <a:pPr indent="0" marL="0">
              <a:buNone/>
            </a:pPr>
            <a:r>
              <a:rPr lang="en-US" sz="1250" dirty="0">
                <a:solidFill>
                  <a:srgbClr val="6B7187"/>
                </a:solidFill>
              </a:rPr>
              <a:t>Lexical analyser with INDENT / DEDENT synthesis</a:t>
            </a:r>
            <a:endParaRPr lang="en-US" sz="1250" dirty="0"/>
          </a:p>
        </p:txBody>
      </p:sp>
      <p:sp>
        <p:nvSpPr>
          <p:cNvPr id="19" name="chip"/>
          <p:cNvSpPr/>
          <p:nvPr/>
        </p:nvSpPr>
        <p:spPr>
          <a:xfrm>
            <a:off x="10204704" y="3319272"/>
            <a:ext cx="1188720" cy="237744"/>
          </a:xfrm>
          <a:prstGeom prst="roundRect">
            <a:avLst>
              <a:gd name="adj" fmla="val 46154"/>
            </a:avLst>
          </a:prstGeom>
          <a:solidFill>
            <a:srgbClr val="4E9163"/>
          </a:solidFill>
          <a:ln w="12700">
            <a:solidFill>
              <a:srgbClr val="4E9163"/>
            </a:solidFill>
            <a:prstDash val="solid"/>
          </a:ln>
        </p:spPr>
      </p:sp>
      <p:sp>
        <p:nvSpPr>
          <p:cNvPr id="20" name="Text 18"/>
          <p:cNvSpPr txBox="1"/>
          <p:nvPr/>
        </p:nvSpPr>
        <p:spPr>
          <a:xfrm>
            <a:off x="10204704" y="3319272"/>
            <a:ext cx="1188720" cy="237744"/>
          </a:xfrm>
          <a:prstGeom prst="rect">
            <a:avLst/>
          </a:prstGeom>
          <a:noFill/>
          <a:ln/>
        </p:spPr>
        <p:txBody>
          <a:bodyPr wrap="square" lIns="0" tIns="0" rIns="0" bIns="0" rtlCol="0" anchor="ctr"/>
          <a:lstStyle/>
          <a:p>
            <a:pPr algn="ctr" indent="0" marL="0">
              <a:buNone/>
            </a:pPr>
            <a:r>
              <a:rPr lang="en-US" sz="950" b="1" dirty="0">
                <a:solidFill>
                  <a:srgbClr val="0E1020"/>
                </a:solidFill>
              </a:rPr>
              <a:t>COMPLETE</a:t>
            </a:r>
            <a:endParaRPr lang="en-US" sz="950" dirty="0"/>
          </a:p>
        </p:txBody>
      </p:sp>
      <p:sp>
        <p:nvSpPr>
          <p:cNvPr id="21" name="row-2"/>
          <p:cNvSpPr/>
          <p:nvPr/>
        </p:nvSpPr>
        <p:spPr>
          <a:xfrm>
            <a:off x="566928" y="3749040"/>
            <a:ext cx="11055096" cy="512064"/>
          </a:xfrm>
          <a:prstGeom prst="roundRect">
            <a:avLst>
              <a:gd name="adj" fmla="val 5357"/>
            </a:avLst>
          </a:prstGeom>
          <a:solidFill>
            <a:srgbClr val="F2F3F8"/>
          </a:solidFill>
          <a:ln w="12700">
            <a:solidFill>
              <a:srgbClr val="F2F3F8"/>
            </a:solidFill>
            <a:prstDash val="solid"/>
          </a:ln>
        </p:spPr>
      </p:sp>
      <p:sp>
        <p:nvSpPr>
          <p:cNvPr id="22" name="Text 20"/>
          <p:cNvSpPr txBox="1"/>
          <p:nvPr/>
        </p:nvSpPr>
        <p:spPr>
          <a:xfrm>
            <a:off x="786384" y="3803904"/>
            <a:ext cx="914400" cy="402336"/>
          </a:xfrm>
          <a:prstGeom prst="rect">
            <a:avLst/>
          </a:prstGeom>
          <a:noFill/>
          <a:ln/>
        </p:spPr>
        <p:txBody>
          <a:bodyPr wrap="square" lIns="0" tIns="0" rIns="0" bIns="0" rtlCol="0" anchor="ctr"/>
          <a:lstStyle/>
          <a:p>
            <a:pPr indent="0" marL="0">
              <a:buNone/>
            </a:pPr>
            <a:r>
              <a:rPr lang="en-US" sz="1250" b="1" dirty="0">
                <a:solidFill>
                  <a:srgbClr val="0E1020"/>
                </a:solidFill>
              </a:rPr>
              <a:t>Phase 3</a:t>
            </a:r>
            <a:endParaRPr lang="en-US" sz="1250" dirty="0"/>
          </a:p>
        </p:txBody>
      </p:sp>
      <p:sp>
        <p:nvSpPr>
          <p:cNvPr id="23" name="Text 21"/>
          <p:cNvSpPr txBox="1"/>
          <p:nvPr/>
        </p:nvSpPr>
        <p:spPr>
          <a:xfrm>
            <a:off x="1755648" y="3803904"/>
            <a:ext cx="7589520" cy="402336"/>
          </a:xfrm>
          <a:prstGeom prst="rect">
            <a:avLst/>
          </a:prstGeom>
          <a:noFill/>
          <a:ln/>
        </p:spPr>
        <p:txBody>
          <a:bodyPr wrap="square" lIns="0" tIns="0" rIns="0" bIns="0" rtlCol="0" anchor="ctr"/>
          <a:lstStyle/>
          <a:p>
            <a:pPr indent="0" marL="0">
              <a:buNone/>
            </a:pPr>
            <a:r>
              <a:rPr lang="en-US" sz="1250" dirty="0">
                <a:solidFill>
                  <a:srgbClr val="6B7187"/>
                </a:solidFill>
              </a:rPr>
              <a:t>Recursive-descent parser and AST construction</a:t>
            </a:r>
            <a:endParaRPr lang="en-US" sz="1250" dirty="0"/>
          </a:p>
        </p:txBody>
      </p:sp>
      <p:sp>
        <p:nvSpPr>
          <p:cNvPr id="24" name="chip"/>
          <p:cNvSpPr/>
          <p:nvPr/>
        </p:nvSpPr>
        <p:spPr>
          <a:xfrm>
            <a:off x="10204704" y="3886200"/>
            <a:ext cx="1188720" cy="237744"/>
          </a:xfrm>
          <a:prstGeom prst="roundRect">
            <a:avLst>
              <a:gd name="adj" fmla="val 46154"/>
            </a:avLst>
          </a:prstGeom>
          <a:solidFill>
            <a:srgbClr val="FFC857"/>
          </a:solidFill>
          <a:ln w="12700">
            <a:solidFill>
              <a:srgbClr val="FFC857"/>
            </a:solidFill>
            <a:prstDash val="solid"/>
          </a:ln>
        </p:spPr>
      </p:sp>
      <p:sp>
        <p:nvSpPr>
          <p:cNvPr id="25" name="Text 23"/>
          <p:cNvSpPr txBox="1"/>
          <p:nvPr/>
        </p:nvSpPr>
        <p:spPr>
          <a:xfrm>
            <a:off x="10204704" y="3886200"/>
            <a:ext cx="1188720" cy="237744"/>
          </a:xfrm>
          <a:prstGeom prst="rect">
            <a:avLst/>
          </a:prstGeom>
          <a:noFill/>
          <a:ln/>
        </p:spPr>
        <p:txBody>
          <a:bodyPr wrap="square" lIns="0" tIns="0" rIns="0" bIns="0" rtlCol="0" anchor="ctr"/>
          <a:lstStyle/>
          <a:p>
            <a:pPr algn="ctr" indent="0" marL="0">
              <a:buNone/>
            </a:pPr>
            <a:r>
              <a:rPr lang="en-US" sz="950" b="1" dirty="0">
                <a:solidFill>
                  <a:srgbClr val="0E1020"/>
                </a:solidFill>
              </a:rPr>
              <a:t>IN PROGRESS</a:t>
            </a:r>
            <a:endParaRPr lang="en-US" sz="950" dirty="0"/>
          </a:p>
        </p:txBody>
      </p:sp>
      <p:sp>
        <p:nvSpPr>
          <p:cNvPr id="26" name="Text 24"/>
          <p:cNvSpPr txBox="1"/>
          <p:nvPr/>
        </p:nvSpPr>
        <p:spPr>
          <a:xfrm>
            <a:off x="786384" y="4370832"/>
            <a:ext cx="914400" cy="402336"/>
          </a:xfrm>
          <a:prstGeom prst="rect">
            <a:avLst/>
          </a:prstGeom>
          <a:noFill/>
          <a:ln/>
        </p:spPr>
        <p:txBody>
          <a:bodyPr wrap="square" lIns="0" tIns="0" rIns="0" bIns="0" rtlCol="0" anchor="ctr"/>
          <a:lstStyle/>
          <a:p>
            <a:pPr indent="0" marL="0">
              <a:buNone/>
            </a:pPr>
            <a:r>
              <a:rPr lang="en-US" sz="1250" b="1" dirty="0">
                <a:solidFill>
                  <a:srgbClr val="0E1020"/>
                </a:solidFill>
              </a:rPr>
              <a:t>Phase 4</a:t>
            </a:r>
            <a:endParaRPr lang="en-US" sz="1250" dirty="0"/>
          </a:p>
        </p:txBody>
      </p:sp>
      <p:sp>
        <p:nvSpPr>
          <p:cNvPr id="27" name="Text 25"/>
          <p:cNvSpPr txBox="1"/>
          <p:nvPr/>
        </p:nvSpPr>
        <p:spPr>
          <a:xfrm>
            <a:off x="1755648" y="4370832"/>
            <a:ext cx="7589520" cy="402336"/>
          </a:xfrm>
          <a:prstGeom prst="rect">
            <a:avLst/>
          </a:prstGeom>
          <a:noFill/>
          <a:ln/>
        </p:spPr>
        <p:txBody>
          <a:bodyPr wrap="square" lIns="0" tIns="0" rIns="0" bIns="0" rtlCol="0" anchor="ctr"/>
          <a:lstStyle/>
          <a:p>
            <a:pPr indent="0" marL="0">
              <a:buNone/>
            </a:pPr>
            <a:r>
              <a:rPr lang="en-US" sz="1250" dirty="0">
                <a:solidFill>
                  <a:srgbClr val="6B7187"/>
                </a:solidFill>
              </a:rPr>
              <a:t>Scope handling and tree-walking interpreter</a:t>
            </a:r>
            <a:endParaRPr lang="en-US" sz="1250" dirty="0"/>
          </a:p>
        </p:txBody>
      </p:sp>
      <p:sp>
        <p:nvSpPr>
          <p:cNvPr id="28" name="chip"/>
          <p:cNvSpPr/>
          <p:nvPr/>
        </p:nvSpPr>
        <p:spPr>
          <a:xfrm>
            <a:off x="10204704" y="4453128"/>
            <a:ext cx="1188720" cy="237744"/>
          </a:xfrm>
          <a:prstGeom prst="roundRect">
            <a:avLst>
              <a:gd name="adj" fmla="val 46154"/>
            </a:avLst>
          </a:prstGeom>
          <a:solidFill>
            <a:srgbClr val="6B7187"/>
          </a:solidFill>
          <a:ln w="12700">
            <a:solidFill>
              <a:srgbClr val="6B7187"/>
            </a:solidFill>
            <a:prstDash val="solid"/>
          </a:ln>
        </p:spPr>
      </p:sp>
      <p:sp>
        <p:nvSpPr>
          <p:cNvPr id="29" name="Text 27"/>
          <p:cNvSpPr txBox="1"/>
          <p:nvPr/>
        </p:nvSpPr>
        <p:spPr>
          <a:xfrm>
            <a:off x="10204704" y="4453128"/>
            <a:ext cx="1188720" cy="237744"/>
          </a:xfrm>
          <a:prstGeom prst="rect">
            <a:avLst/>
          </a:prstGeom>
          <a:noFill/>
          <a:ln/>
        </p:spPr>
        <p:txBody>
          <a:bodyPr wrap="square" lIns="0" tIns="0" rIns="0" bIns="0" rtlCol="0" anchor="ctr"/>
          <a:lstStyle/>
          <a:p>
            <a:pPr algn="ctr" indent="0" marL="0">
              <a:buNone/>
            </a:pPr>
            <a:r>
              <a:rPr lang="en-US" sz="950" b="1" dirty="0">
                <a:solidFill>
                  <a:srgbClr val="FFFFFF"/>
                </a:solidFill>
              </a:rPr>
              <a:t>PLANNED</a:t>
            </a:r>
            <a:endParaRPr lang="en-US" sz="950" dirty="0"/>
          </a:p>
        </p:txBody>
      </p:sp>
      <p:sp>
        <p:nvSpPr>
          <p:cNvPr id="30" name="row-4"/>
          <p:cNvSpPr/>
          <p:nvPr/>
        </p:nvSpPr>
        <p:spPr>
          <a:xfrm>
            <a:off x="566928" y="4882896"/>
            <a:ext cx="11055096" cy="512064"/>
          </a:xfrm>
          <a:prstGeom prst="roundRect">
            <a:avLst>
              <a:gd name="adj" fmla="val 5357"/>
            </a:avLst>
          </a:prstGeom>
          <a:solidFill>
            <a:srgbClr val="F2F3F8"/>
          </a:solidFill>
          <a:ln w="12700">
            <a:solidFill>
              <a:srgbClr val="F2F3F8"/>
            </a:solidFill>
            <a:prstDash val="solid"/>
          </a:ln>
        </p:spPr>
      </p:sp>
      <p:sp>
        <p:nvSpPr>
          <p:cNvPr id="31" name="Text 29"/>
          <p:cNvSpPr txBox="1"/>
          <p:nvPr/>
        </p:nvSpPr>
        <p:spPr>
          <a:xfrm>
            <a:off x="786384" y="4937760"/>
            <a:ext cx="914400" cy="402336"/>
          </a:xfrm>
          <a:prstGeom prst="rect">
            <a:avLst/>
          </a:prstGeom>
          <a:noFill/>
          <a:ln/>
        </p:spPr>
        <p:txBody>
          <a:bodyPr wrap="square" lIns="0" tIns="0" rIns="0" bIns="0" rtlCol="0" anchor="ctr"/>
          <a:lstStyle/>
          <a:p>
            <a:pPr indent="0" marL="0">
              <a:buNone/>
            </a:pPr>
            <a:r>
              <a:rPr lang="en-US" sz="1250" b="1" dirty="0">
                <a:solidFill>
                  <a:srgbClr val="0E1020"/>
                </a:solidFill>
              </a:rPr>
              <a:t>Phase 5</a:t>
            </a:r>
            <a:endParaRPr lang="en-US" sz="1250" dirty="0"/>
          </a:p>
        </p:txBody>
      </p:sp>
      <p:sp>
        <p:nvSpPr>
          <p:cNvPr id="32" name="Text 30"/>
          <p:cNvSpPr txBox="1"/>
          <p:nvPr/>
        </p:nvSpPr>
        <p:spPr>
          <a:xfrm>
            <a:off x="1755648" y="4937760"/>
            <a:ext cx="7589520" cy="402336"/>
          </a:xfrm>
          <a:prstGeom prst="rect">
            <a:avLst/>
          </a:prstGeom>
          <a:noFill/>
          <a:ln/>
        </p:spPr>
        <p:txBody>
          <a:bodyPr wrap="square" lIns="0" tIns="0" rIns="0" bIns="0" rtlCol="0" anchor="ctr"/>
          <a:lstStyle/>
          <a:p>
            <a:pPr indent="0" marL="0">
              <a:buNone/>
            </a:pPr>
            <a:r>
              <a:rPr lang="en-US" sz="1250" dirty="0">
                <a:solidFill>
                  <a:srgbClr val="6B7187"/>
                </a:solidFill>
              </a:rPr>
              <a:t>Unified error reporting across every stage</a:t>
            </a:r>
            <a:endParaRPr lang="en-US" sz="1250" dirty="0"/>
          </a:p>
        </p:txBody>
      </p:sp>
      <p:sp>
        <p:nvSpPr>
          <p:cNvPr id="33" name="chip"/>
          <p:cNvSpPr/>
          <p:nvPr/>
        </p:nvSpPr>
        <p:spPr>
          <a:xfrm>
            <a:off x="10204704" y="5020056"/>
            <a:ext cx="1188720" cy="237744"/>
          </a:xfrm>
          <a:prstGeom prst="roundRect">
            <a:avLst>
              <a:gd name="adj" fmla="val 46154"/>
            </a:avLst>
          </a:prstGeom>
          <a:solidFill>
            <a:srgbClr val="6B7187"/>
          </a:solidFill>
          <a:ln w="12700">
            <a:solidFill>
              <a:srgbClr val="6B7187"/>
            </a:solidFill>
            <a:prstDash val="solid"/>
          </a:ln>
        </p:spPr>
      </p:sp>
      <p:sp>
        <p:nvSpPr>
          <p:cNvPr id="34" name="Text 32"/>
          <p:cNvSpPr txBox="1"/>
          <p:nvPr/>
        </p:nvSpPr>
        <p:spPr>
          <a:xfrm>
            <a:off x="10204704" y="5020056"/>
            <a:ext cx="1188720" cy="237744"/>
          </a:xfrm>
          <a:prstGeom prst="rect">
            <a:avLst/>
          </a:prstGeom>
          <a:noFill/>
          <a:ln/>
        </p:spPr>
        <p:txBody>
          <a:bodyPr wrap="square" lIns="0" tIns="0" rIns="0" bIns="0" rtlCol="0" anchor="ctr"/>
          <a:lstStyle/>
          <a:p>
            <a:pPr algn="ctr" indent="0" marL="0">
              <a:buNone/>
            </a:pPr>
            <a:r>
              <a:rPr lang="en-US" sz="950" b="1" dirty="0">
                <a:solidFill>
                  <a:srgbClr val="FFFFFF"/>
                </a:solidFill>
              </a:rPr>
              <a:t>PLANNED</a:t>
            </a:r>
            <a:endParaRPr lang="en-US" sz="950" dirty="0"/>
          </a:p>
        </p:txBody>
      </p:sp>
      <p:sp>
        <p:nvSpPr>
          <p:cNvPr id="35" name="Text 33"/>
          <p:cNvSpPr txBox="1"/>
          <p:nvPr/>
        </p:nvSpPr>
        <p:spPr>
          <a:xfrm>
            <a:off x="786384" y="5504688"/>
            <a:ext cx="914400" cy="402336"/>
          </a:xfrm>
          <a:prstGeom prst="rect">
            <a:avLst/>
          </a:prstGeom>
          <a:noFill/>
          <a:ln/>
        </p:spPr>
        <p:txBody>
          <a:bodyPr wrap="square" lIns="0" tIns="0" rIns="0" bIns="0" rtlCol="0" anchor="ctr"/>
          <a:lstStyle/>
          <a:p>
            <a:pPr indent="0" marL="0">
              <a:buNone/>
            </a:pPr>
            <a:r>
              <a:rPr lang="en-US" sz="1250" b="1" dirty="0">
                <a:solidFill>
                  <a:srgbClr val="0E1020"/>
                </a:solidFill>
              </a:rPr>
              <a:t>Phase 6</a:t>
            </a:r>
            <a:endParaRPr lang="en-US" sz="1250" dirty="0"/>
          </a:p>
        </p:txBody>
      </p:sp>
      <p:sp>
        <p:nvSpPr>
          <p:cNvPr id="36" name="Text 34"/>
          <p:cNvSpPr txBox="1"/>
          <p:nvPr/>
        </p:nvSpPr>
        <p:spPr>
          <a:xfrm>
            <a:off x="1755648" y="5504688"/>
            <a:ext cx="7589520" cy="402336"/>
          </a:xfrm>
          <a:prstGeom prst="rect">
            <a:avLst/>
          </a:prstGeom>
          <a:noFill/>
          <a:ln/>
        </p:spPr>
        <p:txBody>
          <a:bodyPr wrap="square" lIns="0" tIns="0" rIns="0" bIns="0" rtlCol="0" anchor="ctr"/>
          <a:lstStyle/>
          <a:p>
            <a:pPr indent="0" marL="0">
              <a:buNone/>
            </a:pPr>
            <a:r>
              <a:rPr lang="en-US" sz="1250" dirty="0">
                <a:solidFill>
                  <a:srgbClr val="6B7187"/>
                </a:solidFill>
              </a:rPr>
              <a:t>Code generation back end and browser playground</a:t>
            </a:r>
            <a:endParaRPr lang="en-US" sz="1250" dirty="0"/>
          </a:p>
        </p:txBody>
      </p:sp>
      <p:sp>
        <p:nvSpPr>
          <p:cNvPr id="37" name="chip"/>
          <p:cNvSpPr/>
          <p:nvPr/>
        </p:nvSpPr>
        <p:spPr>
          <a:xfrm>
            <a:off x="10204704" y="5586984"/>
            <a:ext cx="1188720" cy="237744"/>
          </a:xfrm>
          <a:prstGeom prst="roundRect">
            <a:avLst>
              <a:gd name="adj" fmla="val 46154"/>
            </a:avLst>
          </a:prstGeom>
          <a:solidFill>
            <a:srgbClr val="6B7187"/>
          </a:solidFill>
          <a:ln w="12700">
            <a:solidFill>
              <a:srgbClr val="6B7187"/>
            </a:solidFill>
            <a:prstDash val="solid"/>
          </a:ln>
        </p:spPr>
      </p:sp>
      <p:sp>
        <p:nvSpPr>
          <p:cNvPr id="38" name="Text 36"/>
          <p:cNvSpPr txBox="1"/>
          <p:nvPr/>
        </p:nvSpPr>
        <p:spPr>
          <a:xfrm>
            <a:off x="10204704" y="5586984"/>
            <a:ext cx="1188720" cy="237744"/>
          </a:xfrm>
          <a:prstGeom prst="rect">
            <a:avLst/>
          </a:prstGeom>
          <a:noFill/>
          <a:ln/>
        </p:spPr>
        <p:txBody>
          <a:bodyPr wrap="square" lIns="0" tIns="0" rIns="0" bIns="0" rtlCol="0" anchor="ctr"/>
          <a:lstStyle/>
          <a:p>
            <a:pPr algn="ctr" indent="0" marL="0">
              <a:buNone/>
            </a:pPr>
            <a:r>
              <a:rPr lang="en-US" sz="950" b="1" dirty="0">
                <a:solidFill>
                  <a:srgbClr val="FFFFFF"/>
                </a:solidFill>
              </a:rPr>
              <a:t>PLANNED</a:t>
            </a:r>
            <a:endParaRPr lang="en-US" sz="95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0E1020"/>
                </a:solidFill>
                <a:latin typeface="Cambria" pitchFamily="34" charset="0"/>
                <a:ea typeface="Cambria" pitchFamily="34" charset="-122"/>
                <a:cs typeface="Cambria" pitchFamily="34" charset="-120"/>
              </a:rPr>
              <a:t>Phase 2 output: the lexical analyser</a:t>
            </a:r>
            <a:endParaRPr lang="en-US" sz="3200" dirty="0"/>
          </a:p>
        </p:txBody>
      </p:sp>
      <p:sp>
        <p:nvSpPr>
          <p:cNvPr id="3" name="Text 1"/>
          <p:cNvSpPr txBox="1"/>
          <p:nvPr/>
        </p:nvSpPr>
        <p:spPr>
          <a:xfrm>
            <a:off x="566928" y="1280160"/>
            <a:ext cx="6675120" cy="219456"/>
          </a:xfrm>
          <a:prstGeom prst="rect">
            <a:avLst/>
          </a:prstGeom>
          <a:noFill/>
          <a:ln/>
        </p:spPr>
        <p:txBody>
          <a:bodyPr wrap="square" lIns="0" tIns="0" rIns="0" bIns="0" rtlCol="0" anchor="ctr"/>
          <a:lstStyle/>
          <a:p>
            <a:pPr indent="0" marL="0">
              <a:buNone/>
            </a:pPr>
            <a:r>
              <a:rPr lang="en-US" sz="1000" b="1" spc="120" kern="0" dirty="0">
                <a:solidFill>
                  <a:srgbClr val="6B7187"/>
                </a:solidFill>
              </a:rPr>
              <a:t>SOURCE</a:t>
            </a:r>
            <a:endParaRPr lang="en-US" sz="1000" dirty="0"/>
          </a:p>
        </p:txBody>
      </p:sp>
      <p:sp>
        <p:nvSpPr>
          <p:cNvPr id="4" name="code-src"/>
          <p:cNvSpPr/>
          <p:nvPr/>
        </p:nvSpPr>
        <p:spPr>
          <a:xfrm>
            <a:off x="566928" y="1536192"/>
            <a:ext cx="6675120" cy="914400"/>
          </a:xfrm>
          <a:prstGeom prst="roundRect">
            <a:avLst>
              <a:gd name="adj" fmla="val 3000"/>
            </a:avLst>
          </a:prstGeom>
          <a:solidFill>
            <a:srgbClr val="1E2340"/>
          </a:solidFill>
          <a:ln w="12700">
            <a:solidFill>
              <a:srgbClr val="1E2340"/>
            </a:solidFill>
            <a:prstDash val="solid"/>
          </a:ln>
        </p:spPr>
      </p:sp>
      <p:sp>
        <p:nvSpPr>
          <p:cNvPr id="5" name="Text 3"/>
          <p:cNvSpPr txBox="1"/>
          <p:nvPr/>
        </p:nvSpPr>
        <p:spPr>
          <a:xfrm>
            <a:off x="713232" y="1645920"/>
            <a:ext cx="6382512" cy="694944"/>
          </a:xfrm>
          <a:prstGeom prst="rect">
            <a:avLst/>
          </a:prstGeom>
          <a:noFill/>
          <a:ln/>
        </p:spPr>
        <p:txBody>
          <a:bodyPr wrap="square" lIns="0" tIns="0" rIns="0" bIns="0" rtlCol="0" anchor="t"/>
          <a:lstStyle/>
          <a:p>
            <a:pPr algn="l" indent="0" marL="0">
              <a:lnSpc>
                <a:spcPct val="112000"/>
              </a:lnSpc>
              <a:buNone/>
            </a:pPr>
            <a:r>
              <a:rPr lang="en-US" sz="1200" dirty="0">
                <a:solidFill>
                  <a:srgbClr val="FFFFFF"/>
                </a:solidFill>
                <a:latin typeface="Courier New" pitchFamily="34" charset="0"/>
                <a:ea typeface="Courier New" pitchFamily="34" charset="-122"/>
                <a:cs typeface="Courier New" pitchFamily="34" charset="-120"/>
              </a:rPr>
              <a:t>define classify with score:</a:t>
            </a:r>
            <a:endParaRPr lang="en-US" sz="1200" dirty="0"/>
          </a:p>
          <a:p>
            <a:pPr algn="l" indent="0" marL="0">
              <a:lnSpc>
                <a:spcPct val="112000"/>
              </a:lnSpc>
              <a:buNone/>
            </a:pPr>
            <a:r>
              <a:rPr lang="en-US" sz="1200" dirty="0">
                <a:solidFill>
                  <a:srgbClr val="FFFFFF"/>
                </a:solidFill>
                <a:latin typeface="Courier New" pitchFamily="34" charset="0"/>
                <a:ea typeface="Courier New" pitchFamily="34" charset="-122"/>
                <a:cs typeface="Courier New" pitchFamily="34" charset="-120"/>
              </a:rPr>
              <a:t>    if score is at least 90:</a:t>
            </a:r>
            <a:endParaRPr lang="en-US" sz="1200" dirty="0"/>
          </a:p>
          <a:p>
            <a:pPr algn="l" indent="0" marL="0">
              <a:lnSpc>
                <a:spcPct val="112000"/>
              </a:lnSpc>
              <a:buNone/>
            </a:pPr>
            <a:r>
              <a:rPr lang="en-US" sz="1200" dirty="0">
                <a:solidFill>
                  <a:srgbClr val="FFFFFF"/>
                </a:solidFill>
                <a:latin typeface="Courier New" pitchFamily="34" charset="0"/>
                <a:ea typeface="Courier New" pitchFamily="34" charset="-122"/>
                <a:cs typeface="Courier New" pitchFamily="34" charset="-120"/>
              </a:rPr>
              <a:t>        give back "A"</a:t>
            </a:r>
            <a:endParaRPr lang="en-US" sz="1200" dirty="0"/>
          </a:p>
        </p:txBody>
      </p:sp>
      <p:sp>
        <p:nvSpPr>
          <p:cNvPr id="6" name="Text 4"/>
          <p:cNvSpPr txBox="1"/>
          <p:nvPr/>
        </p:nvSpPr>
        <p:spPr>
          <a:xfrm>
            <a:off x="566928" y="2615184"/>
            <a:ext cx="6675120" cy="219456"/>
          </a:xfrm>
          <a:prstGeom prst="rect">
            <a:avLst/>
          </a:prstGeom>
          <a:noFill/>
          <a:ln/>
        </p:spPr>
        <p:txBody>
          <a:bodyPr wrap="square" lIns="0" tIns="0" rIns="0" bIns="0" rtlCol="0" anchor="ctr"/>
          <a:lstStyle/>
          <a:p>
            <a:pPr indent="0" marL="0">
              <a:buNone/>
            </a:pPr>
            <a:r>
              <a:rPr lang="en-US" sz="1000" b="1" spc="120" kern="0" dirty="0">
                <a:solidFill>
                  <a:srgbClr val="6B7187"/>
                </a:solidFill>
              </a:rPr>
              <a:t>TOKEN STREAM PRODUCED</a:t>
            </a:r>
            <a:endParaRPr lang="en-US" sz="1000" dirty="0"/>
          </a:p>
        </p:txBody>
      </p:sp>
      <p:sp>
        <p:nvSpPr>
          <p:cNvPr id="7" name="code-tokens"/>
          <p:cNvSpPr/>
          <p:nvPr/>
        </p:nvSpPr>
        <p:spPr>
          <a:xfrm>
            <a:off x="566928" y="2871216"/>
            <a:ext cx="6675120" cy="2505456"/>
          </a:xfrm>
          <a:prstGeom prst="roundRect">
            <a:avLst>
              <a:gd name="adj" fmla="val 1095"/>
            </a:avLst>
          </a:prstGeom>
          <a:solidFill>
            <a:srgbClr val="F2F3F8"/>
          </a:solidFill>
          <a:ln w="12700">
            <a:solidFill>
              <a:srgbClr val="E2E5EE"/>
            </a:solidFill>
            <a:prstDash val="solid"/>
          </a:ln>
        </p:spPr>
      </p:sp>
      <p:sp>
        <p:nvSpPr>
          <p:cNvPr id="8" name="Text 6"/>
          <p:cNvSpPr txBox="1"/>
          <p:nvPr/>
        </p:nvSpPr>
        <p:spPr>
          <a:xfrm>
            <a:off x="713232" y="2980944"/>
            <a:ext cx="6382512" cy="2286000"/>
          </a:xfrm>
          <a:prstGeom prst="rect">
            <a:avLst/>
          </a:prstGeom>
          <a:noFill/>
          <a:ln/>
        </p:spPr>
        <p:txBody>
          <a:bodyPr wrap="square" lIns="0" tIns="0" rIns="0" bIns="0" rtlCol="0" anchor="t"/>
          <a:lstStyle/>
          <a:p>
            <a:pPr indent="0" marL="0">
              <a:lnSpc>
                <a:spcPct val="102000"/>
              </a:lnSpc>
              <a:buNone/>
            </a:pPr>
            <a:r>
              <a:rPr lang="en-US" sz="1100" dirty="0">
                <a:solidFill>
                  <a:srgbClr val="0E1020"/>
                </a:solidFill>
                <a:latin typeface="Courier New" pitchFamily="34" charset="0"/>
                <a:ea typeface="Courier New" pitchFamily="34" charset="-122"/>
                <a:cs typeface="Courier New" pitchFamily="34" charset="-120"/>
              </a:rPr>
              <a:t>DEFINE        define</a:t>
            </a:r>
            <a:endParaRPr lang="en-US" sz="1100" dirty="0"/>
          </a:p>
          <a:p>
            <a:pPr indent="0" marL="0">
              <a:lnSpc>
                <a:spcPct val="102000"/>
              </a:lnSpc>
              <a:buNone/>
            </a:pPr>
            <a:r>
              <a:rPr lang="en-US" sz="1100" dirty="0">
                <a:solidFill>
                  <a:srgbClr val="0E1020"/>
                </a:solidFill>
                <a:latin typeface="Courier New" pitchFamily="34" charset="0"/>
                <a:ea typeface="Courier New" pitchFamily="34" charset="-122"/>
                <a:cs typeface="Courier New" pitchFamily="34" charset="-120"/>
              </a:rPr>
              <a:t>IDENTIFIER    classify</a:t>
            </a:r>
            <a:endParaRPr lang="en-US" sz="1100" dirty="0"/>
          </a:p>
          <a:p>
            <a:pPr indent="0" marL="0">
              <a:lnSpc>
                <a:spcPct val="102000"/>
              </a:lnSpc>
              <a:buNone/>
            </a:pPr>
            <a:r>
              <a:rPr lang="en-US" sz="1100" dirty="0">
                <a:solidFill>
                  <a:srgbClr val="0E1020"/>
                </a:solidFill>
                <a:latin typeface="Courier New" pitchFamily="34" charset="0"/>
                <a:ea typeface="Courier New" pitchFamily="34" charset="-122"/>
                <a:cs typeface="Courier New" pitchFamily="34" charset="-120"/>
              </a:rPr>
              <a:t>WITH          with</a:t>
            </a:r>
            <a:endParaRPr lang="en-US" sz="1100" dirty="0"/>
          </a:p>
          <a:p>
            <a:pPr indent="0" marL="0">
              <a:lnSpc>
                <a:spcPct val="102000"/>
              </a:lnSpc>
              <a:buNone/>
            </a:pPr>
            <a:r>
              <a:rPr lang="en-US" sz="1100" dirty="0">
                <a:solidFill>
                  <a:srgbClr val="0E1020"/>
                </a:solidFill>
                <a:latin typeface="Courier New" pitchFamily="34" charset="0"/>
                <a:ea typeface="Courier New" pitchFamily="34" charset="-122"/>
                <a:cs typeface="Courier New" pitchFamily="34" charset="-120"/>
              </a:rPr>
              <a:t>IDENTIFIER    score</a:t>
            </a:r>
            <a:endParaRPr lang="en-US" sz="1100" dirty="0"/>
          </a:p>
          <a:p>
            <a:pPr indent="0" marL="0">
              <a:lnSpc>
                <a:spcPct val="102000"/>
              </a:lnSpc>
              <a:buNone/>
            </a:pPr>
            <a:r>
              <a:rPr lang="en-US" sz="1100" dirty="0">
                <a:solidFill>
                  <a:srgbClr val="0E1020"/>
                </a:solidFill>
                <a:latin typeface="Courier New" pitchFamily="34" charset="0"/>
                <a:ea typeface="Courier New" pitchFamily="34" charset="-122"/>
                <a:cs typeface="Courier New" pitchFamily="34" charset="-120"/>
              </a:rPr>
              <a:t>COLON         :</a:t>
            </a:r>
            <a:endParaRPr lang="en-US" sz="1100" dirty="0"/>
          </a:p>
          <a:p>
            <a:pPr indent="0" marL="0">
              <a:lnSpc>
                <a:spcPct val="102000"/>
              </a:lnSpc>
              <a:buNone/>
            </a:pPr>
            <a:r>
              <a:rPr lang="en-US" sz="1100" dirty="0">
                <a:solidFill>
                  <a:srgbClr val="0E1020"/>
                </a:solidFill>
                <a:latin typeface="Courier New" pitchFamily="34" charset="0"/>
                <a:ea typeface="Courier New" pitchFamily="34" charset="-122"/>
                <a:cs typeface="Courier New" pitchFamily="34" charset="-120"/>
              </a:rPr>
              <a:t>NEWLINE       \n</a:t>
            </a:r>
            <a:endParaRPr lang="en-US" sz="1100" dirty="0"/>
          </a:p>
          <a:p>
            <a:pPr indent="0" marL="0">
              <a:lnSpc>
                <a:spcPct val="102000"/>
              </a:lnSpc>
              <a:buNone/>
            </a:pPr>
            <a:r>
              <a:rPr lang="en-US" sz="1100" b="1" dirty="0">
                <a:solidFill>
                  <a:srgbClr val="C4404B"/>
                </a:solidFill>
                <a:latin typeface="Courier New" pitchFamily="34" charset="0"/>
                <a:ea typeface="Courier New" pitchFamily="34" charset="-122"/>
                <a:cs typeface="Courier New" pitchFamily="34" charset="-120"/>
              </a:rPr>
              <a:t>INDENT                      &lt;- synthesised</a:t>
            </a:r>
            <a:endParaRPr lang="en-US" sz="1100" dirty="0"/>
          </a:p>
          <a:p>
            <a:pPr indent="0" marL="0">
              <a:lnSpc>
                <a:spcPct val="102000"/>
              </a:lnSpc>
              <a:buNone/>
            </a:pPr>
            <a:r>
              <a:rPr lang="en-US" sz="1100" dirty="0">
                <a:solidFill>
                  <a:srgbClr val="7C5CFF"/>
                </a:solidFill>
                <a:latin typeface="Courier New" pitchFamily="34" charset="0"/>
                <a:ea typeface="Courier New" pitchFamily="34" charset="-122"/>
                <a:cs typeface="Courier New" pitchFamily="34" charset="-120"/>
              </a:rPr>
              <a:t>  IS          is</a:t>
            </a:r>
            <a:endParaRPr lang="en-US" sz="1100" dirty="0"/>
          </a:p>
          <a:p>
            <a:pPr indent="0" marL="0">
              <a:lnSpc>
                <a:spcPct val="102000"/>
              </a:lnSpc>
              <a:buNone/>
            </a:pPr>
            <a:r>
              <a:rPr lang="en-US" sz="1100" dirty="0">
                <a:solidFill>
                  <a:srgbClr val="7C5CFF"/>
                </a:solidFill>
                <a:latin typeface="Courier New" pitchFamily="34" charset="0"/>
                <a:ea typeface="Courier New" pitchFamily="34" charset="-122"/>
                <a:cs typeface="Courier New" pitchFamily="34" charset="-120"/>
              </a:rPr>
              <a:t>  AT          at</a:t>
            </a:r>
            <a:endParaRPr lang="en-US" sz="1100" dirty="0"/>
          </a:p>
          <a:p>
            <a:pPr indent="0" marL="0">
              <a:lnSpc>
                <a:spcPct val="102000"/>
              </a:lnSpc>
              <a:buNone/>
            </a:pPr>
            <a:r>
              <a:rPr lang="en-US" sz="1100" dirty="0">
                <a:solidFill>
                  <a:srgbClr val="7C5CFF"/>
                </a:solidFill>
                <a:latin typeface="Courier New" pitchFamily="34" charset="0"/>
                <a:ea typeface="Courier New" pitchFamily="34" charset="-122"/>
                <a:cs typeface="Courier New" pitchFamily="34" charset="-120"/>
              </a:rPr>
              <a:t>  LEAST       least</a:t>
            </a:r>
            <a:endParaRPr lang="en-US" sz="1100" dirty="0"/>
          </a:p>
          <a:p>
            <a:pPr indent="0" marL="0">
              <a:lnSpc>
                <a:spcPct val="102000"/>
              </a:lnSpc>
              <a:buNone/>
            </a:pPr>
            <a:r>
              <a:rPr lang="en-US" sz="1100" dirty="0">
                <a:solidFill>
                  <a:srgbClr val="0E1020"/>
                </a:solidFill>
                <a:latin typeface="Courier New" pitchFamily="34" charset="0"/>
                <a:ea typeface="Courier New" pitchFamily="34" charset="-122"/>
                <a:cs typeface="Courier New" pitchFamily="34" charset="-120"/>
              </a:rPr>
              <a:t>  NUMBER      90</a:t>
            </a:r>
            <a:endParaRPr lang="en-US" sz="1100" dirty="0"/>
          </a:p>
          <a:p>
            <a:pPr indent="0" marL="0">
              <a:lnSpc>
                <a:spcPct val="102000"/>
              </a:lnSpc>
              <a:buNone/>
            </a:pPr>
            <a:r>
              <a:rPr lang="en-US" sz="1100" dirty="0">
                <a:solidFill>
                  <a:srgbClr val="6B7187"/>
                </a:solidFill>
                <a:latin typeface="Courier New" pitchFamily="34" charset="0"/>
                <a:ea typeface="Courier New" pitchFamily="34" charset="-122"/>
                <a:cs typeface="Courier New" pitchFamily="34" charset="-120"/>
              </a:rPr>
              <a:t>  ...</a:t>
            </a:r>
            <a:endParaRPr lang="en-US" sz="1100" dirty="0"/>
          </a:p>
          <a:p>
            <a:pPr indent="0" marL="0">
              <a:lnSpc>
                <a:spcPct val="102000"/>
              </a:lnSpc>
              <a:buNone/>
            </a:pPr>
            <a:r>
              <a:rPr lang="en-US" sz="1100" b="1" dirty="0">
                <a:solidFill>
                  <a:srgbClr val="C4404B"/>
                </a:solidFill>
                <a:latin typeface="Courier New" pitchFamily="34" charset="0"/>
                <a:ea typeface="Courier New" pitchFamily="34" charset="-122"/>
                <a:cs typeface="Courier New" pitchFamily="34" charset="-120"/>
              </a:rPr>
              <a:t>DEDENT                      &lt;- synthesised</a:t>
            </a:r>
            <a:endParaRPr lang="en-US" sz="1100" dirty="0"/>
          </a:p>
        </p:txBody>
      </p:sp>
      <p:sp>
        <p:nvSpPr>
          <p:cNvPr id="9" name="note-indent"/>
          <p:cNvSpPr/>
          <p:nvPr/>
        </p:nvSpPr>
        <p:spPr>
          <a:xfrm>
            <a:off x="7644384" y="1280160"/>
            <a:ext cx="3977640" cy="1920240"/>
          </a:xfrm>
          <a:prstGeom prst="roundRect">
            <a:avLst>
              <a:gd name="adj" fmla="val 1429"/>
            </a:avLst>
          </a:prstGeom>
          <a:solidFill>
            <a:srgbClr val="FFFFFF"/>
          </a:solidFill>
          <a:ln w="12700">
            <a:solidFill>
              <a:srgbClr val="DDE1EC"/>
            </a:solidFill>
            <a:prstDash val="solid"/>
          </a:ln>
        </p:spPr>
      </p:sp>
      <p:sp>
        <p:nvSpPr>
          <p:cNvPr id="10" name="Text 8"/>
          <p:cNvSpPr txBox="1"/>
          <p:nvPr/>
        </p:nvSpPr>
        <p:spPr>
          <a:xfrm>
            <a:off x="7882128" y="1426464"/>
            <a:ext cx="3502152" cy="512064"/>
          </a:xfrm>
          <a:prstGeom prst="rect">
            <a:avLst/>
          </a:prstGeom>
          <a:noFill/>
          <a:ln/>
        </p:spPr>
        <p:txBody>
          <a:bodyPr wrap="square" lIns="0" tIns="0" rIns="0" bIns="0" rtlCol="0" anchor="t"/>
          <a:lstStyle/>
          <a:p>
            <a:pPr indent="0" marL="0">
              <a:lnSpc>
                <a:spcPct val="100000"/>
              </a:lnSpc>
              <a:buNone/>
            </a:pPr>
            <a:r>
              <a:rPr lang="en-US" sz="1450" b="1" dirty="0">
                <a:solidFill>
                  <a:srgbClr val="0E1020"/>
                </a:solidFill>
              </a:rPr>
              <a:t>Indentation becomes tokens</a:t>
            </a:r>
            <a:endParaRPr lang="en-US" sz="1450" dirty="0"/>
          </a:p>
        </p:txBody>
      </p:sp>
      <p:sp>
        <p:nvSpPr>
          <p:cNvPr id="11" name="Text 9"/>
          <p:cNvSpPr txBox="1"/>
          <p:nvPr/>
        </p:nvSpPr>
        <p:spPr>
          <a:xfrm>
            <a:off x="7882128" y="1956816"/>
            <a:ext cx="3502152" cy="1115568"/>
          </a:xfrm>
          <a:prstGeom prst="rect">
            <a:avLst/>
          </a:prstGeom>
          <a:noFill/>
          <a:ln/>
        </p:spPr>
        <p:txBody>
          <a:bodyPr wrap="square" lIns="0" tIns="0" rIns="0" bIns="0" rtlCol="0" anchor="ctr"/>
          <a:lstStyle/>
          <a:p>
            <a:pPr indent="0" marL="0">
              <a:lnSpc>
                <a:spcPct val="112000"/>
              </a:lnSpc>
              <a:buNone/>
            </a:pPr>
            <a:r>
              <a:rPr lang="en-US" sz="1150" dirty="0">
                <a:solidFill>
                  <a:srgbClr val="6B7187"/>
                </a:solidFill>
              </a:rPr>
              <a:t>INDENT and DEDENT appear nowhere in the source. The scanner keeps a stack of indentation columns and emits them where the depth changes — the technique CPython's own tokenizer uses. The parser then sees explicit block delimiters and never looks at a column.</a:t>
            </a:r>
            <a:endParaRPr lang="en-US" sz="1150" dirty="0"/>
          </a:p>
        </p:txBody>
      </p:sp>
      <p:sp>
        <p:nvSpPr>
          <p:cNvPr id="12" name="note-phrase"/>
          <p:cNvSpPr/>
          <p:nvPr/>
        </p:nvSpPr>
        <p:spPr>
          <a:xfrm>
            <a:off x="7644384" y="3346704"/>
            <a:ext cx="3977640" cy="2029968"/>
          </a:xfrm>
          <a:prstGeom prst="roundRect">
            <a:avLst>
              <a:gd name="adj" fmla="val 1351"/>
            </a:avLst>
          </a:prstGeom>
          <a:solidFill>
            <a:srgbClr val="FFFFFF"/>
          </a:solidFill>
          <a:ln w="12700">
            <a:solidFill>
              <a:srgbClr val="DDE1EC"/>
            </a:solidFill>
            <a:prstDash val="solid"/>
          </a:ln>
        </p:spPr>
      </p:sp>
      <p:sp>
        <p:nvSpPr>
          <p:cNvPr id="13" name="Text 11"/>
          <p:cNvSpPr txBox="1"/>
          <p:nvPr/>
        </p:nvSpPr>
        <p:spPr>
          <a:xfrm>
            <a:off x="7882128" y="3493008"/>
            <a:ext cx="3502152" cy="274320"/>
          </a:xfrm>
          <a:prstGeom prst="rect">
            <a:avLst/>
          </a:prstGeom>
          <a:noFill/>
          <a:ln/>
        </p:spPr>
        <p:txBody>
          <a:bodyPr wrap="square" lIns="0" tIns="0" rIns="0" bIns="0" rtlCol="0" anchor="ctr"/>
          <a:lstStyle/>
          <a:p>
            <a:pPr indent="0" marL="0">
              <a:buNone/>
            </a:pPr>
            <a:r>
              <a:rPr lang="en-US" sz="1450" b="1" dirty="0">
                <a:solidFill>
                  <a:srgbClr val="0E1020"/>
                </a:solidFill>
              </a:rPr>
              <a:t>Phrases stay unmerged</a:t>
            </a:r>
            <a:endParaRPr lang="en-US" sz="1450" dirty="0"/>
          </a:p>
        </p:txBody>
      </p:sp>
      <p:sp>
        <p:nvSpPr>
          <p:cNvPr id="14" name="Text 12"/>
          <p:cNvSpPr txBox="1"/>
          <p:nvPr/>
        </p:nvSpPr>
        <p:spPr>
          <a:xfrm>
            <a:off x="7882128" y="3803904"/>
            <a:ext cx="3502152" cy="1188720"/>
          </a:xfrm>
          <a:prstGeom prst="rect">
            <a:avLst/>
          </a:prstGeom>
          <a:noFill/>
          <a:ln/>
        </p:spPr>
        <p:txBody>
          <a:bodyPr wrap="square" lIns="0" tIns="0" rIns="0" bIns="0" rtlCol="0" anchor="ctr"/>
          <a:lstStyle/>
          <a:p>
            <a:pPr indent="0" marL="0">
              <a:lnSpc>
                <a:spcPct val="112000"/>
              </a:lnSpc>
              <a:buNone/>
            </a:pPr>
            <a:r>
              <a:rPr lang="en-US" sz="1150" dirty="0">
                <a:solidFill>
                  <a:srgbClr val="6B7187"/>
                </a:solidFill>
              </a:rPr>
              <a:t>"is at least" leaves the lexer as three separate tokens, shown in violet above. Merging them here would make the scanner context-sensitive and require backtracking; the parser folds them instead, which is Phase 3.</a:t>
            </a:r>
            <a:endParaRPr lang="en-US" sz="115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66928" y="384048"/>
            <a:ext cx="11055096" cy="658368"/>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Conclusion and next steps</a:t>
            </a:r>
            <a:endParaRPr lang="en-US" sz="3200" dirty="0"/>
          </a:p>
        </p:txBody>
      </p:sp>
      <p:sp>
        <p:nvSpPr>
          <p:cNvPr id="3" name="Text 1"/>
          <p:cNvSpPr txBox="1"/>
          <p:nvPr/>
        </p:nvSpPr>
        <p:spPr>
          <a:xfrm>
            <a:off x="566928" y="1225296"/>
            <a:ext cx="5298948" cy="237744"/>
          </a:xfrm>
          <a:prstGeom prst="rect">
            <a:avLst/>
          </a:prstGeom>
          <a:noFill/>
          <a:ln/>
        </p:spPr>
        <p:txBody>
          <a:bodyPr wrap="square" lIns="0" tIns="0" rIns="0" bIns="0" rtlCol="0" anchor="ctr"/>
          <a:lstStyle/>
          <a:p>
            <a:pPr indent="0" marL="0">
              <a:buNone/>
            </a:pPr>
            <a:r>
              <a:rPr lang="en-US" sz="1000" b="1" spc="120" kern="0" dirty="0">
                <a:solidFill>
                  <a:srgbClr val="FFC857"/>
                </a:solidFill>
              </a:rPr>
              <a:t>ESTABLISHED SO FAR</a:t>
            </a:r>
            <a:endParaRPr lang="en-US" sz="1000" dirty="0"/>
          </a:p>
        </p:txBody>
      </p:sp>
      <p:sp>
        <p:nvSpPr>
          <p:cNvPr id="4" name="Text 2"/>
          <p:cNvSpPr txBox="1"/>
          <p:nvPr/>
        </p:nvSpPr>
        <p:spPr>
          <a:xfrm>
            <a:off x="566928" y="1572768"/>
            <a:ext cx="5298948" cy="2560320"/>
          </a:xfrm>
          <a:prstGeom prst="rect">
            <a:avLst/>
          </a:prstGeom>
          <a:noFill/>
          <a:ln/>
        </p:spPr>
        <p:txBody>
          <a:bodyPr wrap="square" lIns="0" tIns="0" rIns="0" bIns="0" rtlCol="0" anchor="ctr"/>
          <a:lstStyle/>
          <a:p>
            <a:pPr marL="342900" indent="-342900">
              <a:lnSpc>
                <a:spcPct val="115000"/>
              </a:lnSpc>
              <a:spcAft>
                <a:spcPts val="1100"/>
              </a:spcAft>
              <a:buSzPct val="100000"/>
              <a:buChar char="•"/>
            </a:pPr>
            <a:r>
              <a:rPr lang="en-US" sz="1300" dirty="0">
                <a:solidFill>
                  <a:srgbClr val="D5D9E6"/>
                </a:solidFill>
              </a:rPr>
              <a:t>A complete language specification with 47 keywords, a formal EBNF grammar, and every design decision recorded with its cost.</a:t>
            </a:r>
            <a:endParaRPr lang="en-US" sz="1300" dirty="0"/>
          </a:p>
          <a:p>
            <a:pPr marL="342900" indent="-342900">
              <a:lnSpc>
                <a:spcPct val="115000"/>
              </a:lnSpc>
              <a:spcAft>
                <a:spcPts val="1100"/>
              </a:spcAft>
              <a:buSzPct val="100000"/>
              <a:buChar char="•"/>
            </a:pPr>
            <a:r>
              <a:rPr lang="en-US" sz="1300" dirty="0">
                <a:solidFill>
                  <a:srgbClr val="D5D9E6"/>
                </a:solidFill>
              </a:rPr>
              <a:t>A working lexical analyser, hand-written with no regular expressions, recovering block structure from indentation.</a:t>
            </a:r>
            <a:endParaRPr lang="en-US" sz="1300" dirty="0"/>
          </a:p>
          <a:p>
            <a:pPr marL="342900" indent="-342900">
              <a:lnSpc>
                <a:spcPct val="115000"/>
              </a:lnSpc>
              <a:spcAft>
                <a:spcPts val="1100"/>
              </a:spcAft>
              <a:buSzPct val="100000"/>
              <a:buChar char="•"/>
            </a:pPr>
            <a:r>
              <a:rPr lang="en-US" sz="1300" dirty="0">
                <a:solidFill>
                  <a:srgbClr val="D5D9E6"/>
                </a:solidFill>
              </a:rPr>
              <a:t>A token and AST contract fixed up front, which let the two of us build the front end and back end in parallel rather than in sequence.</a:t>
            </a:r>
            <a:endParaRPr lang="en-US" sz="1300" dirty="0"/>
          </a:p>
        </p:txBody>
      </p:sp>
      <p:sp>
        <p:nvSpPr>
          <p:cNvPr id="5" name="Text 3"/>
          <p:cNvSpPr txBox="1"/>
          <p:nvPr/>
        </p:nvSpPr>
        <p:spPr>
          <a:xfrm>
            <a:off x="6323076" y="1225296"/>
            <a:ext cx="5298948" cy="237744"/>
          </a:xfrm>
          <a:prstGeom prst="rect">
            <a:avLst/>
          </a:prstGeom>
          <a:noFill/>
          <a:ln/>
        </p:spPr>
        <p:txBody>
          <a:bodyPr wrap="square" lIns="0" tIns="0" rIns="0" bIns="0" rtlCol="0" anchor="ctr"/>
          <a:lstStyle/>
          <a:p>
            <a:pPr indent="0" marL="0">
              <a:buNone/>
            </a:pPr>
            <a:r>
              <a:rPr lang="en-US" sz="1000" b="1" spc="120" kern="0" dirty="0">
                <a:solidFill>
                  <a:srgbClr val="FFC857"/>
                </a:solidFill>
              </a:rPr>
              <a:t>NEXT, FOR REVIEW 2</a:t>
            </a:r>
            <a:endParaRPr lang="en-US" sz="1000" dirty="0"/>
          </a:p>
        </p:txBody>
      </p:sp>
      <p:sp>
        <p:nvSpPr>
          <p:cNvPr id="6" name="Text 4"/>
          <p:cNvSpPr txBox="1"/>
          <p:nvPr/>
        </p:nvSpPr>
        <p:spPr>
          <a:xfrm>
            <a:off x="6323076" y="1572768"/>
            <a:ext cx="5298948" cy="2560320"/>
          </a:xfrm>
          <a:prstGeom prst="rect">
            <a:avLst/>
          </a:prstGeom>
          <a:noFill/>
          <a:ln/>
        </p:spPr>
        <p:txBody>
          <a:bodyPr wrap="square" lIns="0" tIns="0" rIns="0" bIns="0" rtlCol="0" anchor="ctr"/>
          <a:lstStyle/>
          <a:p>
            <a:pPr marL="342900" indent="-342900">
              <a:lnSpc>
                <a:spcPct val="115000"/>
              </a:lnSpc>
              <a:spcAft>
                <a:spcPts val="1100"/>
              </a:spcAft>
              <a:buSzPct val="100000"/>
              <a:buChar char="•"/>
            </a:pPr>
            <a:r>
              <a:rPr lang="en-US" sz="1300" dirty="0">
                <a:solidFill>
                  <a:srgbClr val="D5D9E6"/>
                </a:solidFill>
              </a:rPr>
              <a:t>Complete the recursive-descent parser, including the multi-word phrase folding and the "times" ambiguity.</a:t>
            </a:r>
            <a:endParaRPr lang="en-US" sz="1300" dirty="0"/>
          </a:p>
          <a:p>
            <a:pPr marL="342900" indent="-342900">
              <a:lnSpc>
                <a:spcPct val="115000"/>
              </a:lnSpc>
              <a:spcAft>
                <a:spcPts val="1100"/>
              </a:spcAft>
              <a:buSzPct val="100000"/>
              <a:buChar char="•"/>
            </a:pPr>
            <a:r>
              <a:rPr lang="en-US" sz="1300" dirty="0">
                <a:solidFill>
                  <a:srgbClr val="D5D9E6"/>
                </a:solidFill>
              </a:rPr>
              <a:t>Build the scope chain and the tree-walking interpreter, so real programs run end to end.</a:t>
            </a:r>
            <a:endParaRPr lang="en-US" sz="1300" dirty="0"/>
          </a:p>
          <a:p>
            <a:pPr marL="342900" indent="-342900">
              <a:lnSpc>
                <a:spcPct val="115000"/>
              </a:lnSpc>
              <a:spcAft>
                <a:spcPts val="1100"/>
              </a:spcAft>
              <a:buSzPct val="100000"/>
              <a:buChar char="•"/>
            </a:pPr>
            <a:r>
              <a:rPr lang="en-US" sz="1300" dirty="0">
                <a:solidFill>
                  <a:srgbClr val="D5D9E6"/>
                </a:solidFill>
              </a:rPr>
              <a:t>Unify error reporting so the lexer, parser and interpreter all produce the same line-numbered format.</a:t>
            </a:r>
            <a:endParaRPr lang="en-US" sz="1300" dirty="0"/>
          </a:p>
        </p:txBody>
      </p:sp>
      <p:sp>
        <p:nvSpPr>
          <p:cNvPr id="7" name="closing"/>
          <p:cNvSpPr/>
          <p:nvPr/>
        </p:nvSpPr>
        <p:spPr>
          <a:xfrm>
            <a:off x="566928" y="4352544"/>
            <a:ext cx="11055096" cy="1024128"/>
          </a:xfrm>
          <a:prstGeom prst="roundRect">
            <a:avLst>
              <a:gd name="adj" fmla="val 2679"/>
            </a:avLst>
          </a:prstGeom>
          <a:solidFill>
            <a:srgbClr val="171B30"/>
          </a:solidFill>
          <a:ln w="12700">
            <a:solidFill>
              <a:srgbClr val="2A3154"/>
            </a:solidFill>
            <a:prstDash val="solid"/>
          </a:ln>
        </p:spPr>
      </p:sp>
      <p:sp>
        <p:nvSpPr>
          <p:cNvPr id="8" name="sticky-mark"/>
          <p:cNvSpPr/>
          <p:nvPr/>
        </p:nvSpPr>
        <p:spPr>
          <a:xfrm rot="21120000">
            <a:off x="877824" y="4700016"/>
            <a:ext cx="219456" cy="219456"/>
          </a:xfrm>
          <a:prstGeom prst="roundRect">
            <a:avLst>
              <a:gd name="adj" fmla="val 16667"/>
            </a:avLst>
          </a:prstGeom>
          <a:solidFill>
            <a:srgbClr val="FFC857"/>
          </a:solidFill>
          <a:ln w="12700">
            <a:solidFill>
              <a:srgbClr val="FFC857"/>
            </a:solidFill>
            <a:prstDash val="solid"/>
          </a:ln>
        </p:spPr>
      </p:sp>
      <p:sp>
        <p:nvSpPr>
          <p:cNvPr id="9" name="Text 7"/>
          <p:cNvSpPr txBox="1"/>
          <p:nvPr/>
        </p:nvSpPr>
        <p:spPr>
          <a:xfrm>
            <a:off x="1353312" y="4535424"/>
            <a:ext cx="9957816" cy="658368"/>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rPr>
              <a:t>The design phase is finished and the front end runs. What remains is the pipeline the course is about — parser, semantic analysis, and execution.</a:t>
            </a:r>
            <a:endParaRPr lang="en-US" sz="1400" dirty="0"/>
          </a:p>
        </p:txBody>
      </p:sp>
      <p:sp>
        <p:nvSpPr>
          <p:cNvPr id="25" name="Slide Number Placeholder 0"/>
          <p:cNvSpPr>
            <a:spLocks noGrp="1"/>
          </p:cNvSpPr>
          <p:nvPr>
            <p:ph type="sldNum" sz="quarter" idx="4294967295"/>
          </p:nvPr>
        </p:nvSpPr>
        <p:spPr>
          <a:xfrm>
            <a:off x="11164824" y="632764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187"/>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tickynight">
  <a:themeElements>
    <a:clrScheme name="Stickynight">
      <a:dk1>
        <a:srgbClr val="0E1020"/>
      </a:dk1>
      <a:lt1>
        <a:srgbClr val="FFFFFF"/>
      </a:lt1>
      <a:dk2>
        <a:srgbClr val="1E2340"/>
      </a:dk2>
      <a:lt2>
        <a:srgbClr val="F2F3F8"/>
      </a:lt2>
      <a:accent1>
        <a:srgbClr val="FFC857"/>
      </a:accent1>
      <a:accent2>
        <a:srgbClr val="7C5CFF"/>
      </a:accent2>
      <a:accent3>
        <a:srgbClr val="3D7DD6"/>
      </a:accent3>
      <a:accent4>
        <a:srgbClr val="4E9163"/>
      </a:accent4>
      <a:accent5>
        <a:srgbClr val="C4404B"/>
      </a:accent5>
      <a:accent6>
        <a:srgbClr val="6B7187"/>
      </a:accent6>
      <a:hlink>
        <a:srgbClr val="3D7DD6"/>
      </a:hlink>
      <a:folHlink>
        <a:srgbClr val="7C5CFF"/>
      </a:folHlink>
    </a:clrScheme>
    <a:fontScheme name="Sticky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Stickynight — Review 1</dc:title>
  <dc:subject>PptxGenJS Presentation</dc:subject>
  <dc:creator>Stickynight team</dc:creator>
  <cp:lastModifiedBy>Stickynight team</cp:lastModifiedBy>
  <cp:revision>1</cp:revision>
  <dcterms:created xsi:type="dcterms:W3CDTF">2026-10-05T17:45:15Z</dcterms:created>
  <dcterms:modified xsi:type="dcterms:W3CDTF">2026-10-05T17:45:15Z</dcterms:modified>
</cp:coreProperties>
</file>