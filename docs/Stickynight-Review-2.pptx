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2. Five of six phases complete, the sixth under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columns: what was done, what is new, what remains.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green chips. The dashed branch is the work in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violet line: that is the folded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 this before being asked. It is the strongest thing on the parser.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Closures are the proof that the scope chain is real and not a flat symbol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of these run live from the command line — show them rather than reading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stages, one format. This was the integration work of Phase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this example found a genuine bug in our recovery — worth mentioning if asked how we 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suite runs in under half a second. Offer to run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this is partial: the numeric subset only. Say so before being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what remains. Offer a live run of anything on the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658368"/>
          </a:xfrm>
          <a:prstGeom prst="rect">
            <a:avLst/>
          </a:prstGeom>
          <a:noFill/>
          <a:ln/>
        </p:spPr>
        <p:txBody>
          <a:bodyPr wrap="square" rtlCol="0"/>
          <a:lstStyle>
            <a:lvl1pPr algn="l" indent="0" marL="0">
              <a:buNone/>
              <a:defRPr lang="en-US" sz="3200" b="1" dirty="0">
                <a:solidFill>
                  <a:srgbClr val="0E1020"/>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txBox="1"/>
          <p:nvPr/>
        </p:nvSpPr>
        <p:spPr>
          <a:xfrm>
            <a:off x="566928" y="6327648"/>
            <a:ext cx="4572000" cy="274320"/>
          </a:xfrm>
          <a:prstGeom prst="rect">
            <a:avLst/>
          </a:prstGeom>
          <a:noFill/>
          <a:ln/>
        </p:spPr>
        <p:txBody>
          <a:bodyPr wrap="square" lIns="0" tIns="0" rIns="0" bIns="0" rtlCol="0" anchor="ctr"/>
          <a:lstStyle/>
          <a:p>
            <a:pPr indent="0" marL="0">
              <a:buNone/>
            </a:pPr>
            <a:r>
              <a:rPr lang="en-US" sz="900" dirty="0">
                <a:solidFill>
                  <a:srgbClr val="6B7187"/>
                </a:solidFill>
              </a:rPr>
              <a:t>Stickynight · Review 2</a:t>
            </a:r>
            <a:endParaRPr lang="en-US" sz="900" dirty="0"/>
          </a:p>
        </p:txBody>
      </p:sp>
      <p:sp>
        <p:nvSpPr>
          <p:cNvPr id="25" name="Slide Number Placeholder 0"/>
          <p:cNvSpPr>
            <a:spLocks noGrp="1"/>
          </p:cNvSpPr>
          <p:nvPr>
            <p:ph type="sldNum" sz="quarter" idx="4294967295"/>
          </p:nvPr>
        </p:nvSpPr>
        <p:spPr>
          <a:xfrm>
            <a:off x="11164824"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87"/>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E234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658368"/>
          </a:xfrm>
          <a:prstGeom prst="rect">
            <a:avLst/>
          </a:prstGeom>
          <a:noFill/>
          <a:ln/>
        </p:spPr>
        <p:txBody>
          <a:bodyPr wrap="square" rtlCol="0"/>
          <a:lstStyle>
            <a:lvl1pPr algn="l" indent="0" marL="0">
              <a:buNone/>
              <a:defRPr lang="en-US" sz="3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64824"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87"/>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E234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64824"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87"/>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ticky-mark"/>
          <p:cNvSpPr/>
          <p:nvPr/>
        </p:nvSpPr>
        <p:spPr>
          <a:xfrm rot="21120000">
            <a:off x="566928" y="1371600"/>
            <a:ext cx="420624" cy="420624"/>
          </a:xfrm>
          <a:prstGeom prst="roundRect">
            <a:avLst>
              <a:gd name="adj" fmla="val 8696"/>
            </a:avLst>
          </a:prstGeom>
          <a:solidFill>
            <a:srgbClr val="FFC857"/>
          </a:solidFill>
          <a:ln w="12700">
            <a:solidFill>
              <a:srgbClr val="FFC857"/>
            </a:solidFill>
            <a:prstDash val="solid"/>
          </a:ln>
        </p:spPr>
      </p:sp>
      <p:sp>
        <p:nvSpPr>
          <p:cNvPr id="3" name="Text 1"/>
          <p:cNvSpPr txBox="1"/>
          <p:nvPr/>
        </p:nvSpPr>
        <p:spPr>
          <a:xfrm>
            <a:off x="566928" y="1901952"/>
            <a:ext cx="841248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Stickynight</a:t>
            </a:r>
            <a:endParaRPr lang="en-US" sz="5400" dirty="0"/>
          </a:p>
        </p:txBody>
      </p:sp>
      <p:sp>
        <p:nvSpPr>
          <p:cNvPr id="4" name="Text 2"/>
          <p:cNvSpPr txBox="1"/>
          <p:nvPr/>
        </p:nvSpPr>
        <p:spPr>
          <a:xfrm>
            <a:off x="566928" y="2816352"/>
            <a:ext cx="8961120" cy="384048"/>
          </a:xfrm>
          <a:prstGeom prst="rect">
            <a:avLst/>
          </a:prstGeom>
          <a:noFill/>
          <a:ln/>
        </p:spPr>
        <p:txBody>
          <a:bodyPr wrap="square" lIns="0" tIns="0" rIns="0" bIns="0" rtlCol="0" anchor="ctr"/>
          <a:lstStyle/>
          <a:p>
            <a:pPr indent="0" marL="0">
              <a:buNone/>
            </a:pPr>
            <a:r>
              <a:rPr lang="en-US" sz="1800" dirty="0">
                <a:solidFill>
                  <a:srgbClr val="FFC857"/>
                </a:solidFill>
              </a:rPr>
              <a:t>A programming language with English-phrase syntax, and its compiler</a:t>
            </a:r>
            <a:endParaRPr lang="en-US" sz="1800" dirty="0"/>
          </a:p>
        </p:txBody>
      </p:sp>
      <p:sp>
        <p:nvSpPr>
          <p:cNvPr id="5" name="Text 3"/>
          <p:cNvSpPr txBox="1"/>
          <p:nvPr/>
        </p:nvSpPr>
        <p:spPr>
          <a:xfrm>
            <a:off x="566928" y="3328416"/>
            <a:ext cx="8961120" cy="658368"/>
          </a:xfrm>
          <a:prstGeom prst="rect">
            <a:avLst/>
          </a:prstGeom>
          <a:noFill/>
          <a:ln/>
        </p:spPr>
        <p:txBody>
          <a:bodyPr wrap="square" lIns="0" tIns="0" rIns="0" bIns="0" rtlCol="0" anchor="ctr"/>
          <a:lstStyle/>
          <a:p>
            <a:pPr indent="0" marL="0">
              <a:lnSpc>
                <a:spcPct val="120000"/>
              </a:lnSpc>
              <a:buNone/>
            </a:pPr>
            <a:r>
              <a:rPr lang="en-US" sz="1350" dirty="0">
                <a:solidFill>
                  <a:srgbClr val="B9BFD2"/>
                </a:solidFill>
              </a:rPr>
              <a:t>Lexer, parser, interpreter and error reporting complete.</a:t>
            </a:r>
            <a:endParaRPr lang="en-US" sz="1350" dirty="0"/>
          </a:p>
          <a:p>
            <a:pPr indent="0" marL="0">
              <a:lnSpc>
                <a:spcPct val="120000"/>
              </a:lnSpc>
              <a:buNone/>
            </a:pPr>
            <a:r>
              <a:rPr lang="en-US" sz="1350" dirty="0">
                <a:solidFill>
                  <a:srgbClr val="B9BFD2"/>
                </a:solidFill>
              </a:rPr>
              <a:t>Code generation under way.</a:t>
            </a:r>
            <a:endParaRPr lang="en-US" sz="1350" dirty="0"/>
          </a:p>
        </p:txBody>
      </p:sp>
      <p:sp>
        <p:nvSpPr>
          <p:cNvPr id="6" name="rule"/>
          <p:cNvSpPr/>
          <p:nvPr/>
        </p:nvSpPr>
        <p:spPr>
          <a:xfrm>
            <a:off x="566928" y="4315968"/>
            <a:ext cx="2926080" cy="0"/>
          </a:xfrm>
          <a:prstGeom prst="line">
            <a:avLst/>
          </a:prstGeom>
          <a:noFill/>
          <a:ln w="12700">
            <a:solidFill>
              <a:srgbClr val="3A4160"/>
            </a:solidFill>
            <a:prstDash val="solid"/>
          </a:ln>
        </p:spPr>
      </p:sp>
      <p:sp>
        <p:nvSpPr>
          <p:cNvPr id="7" name="Text 5"/>
          <p:cNvSpPr txBox="1"/>
          <p:nvPr/>
        </p:nvSpPr>
        <p:spPr>
          <a:xfrm>
            <a:off x="566928" y="4498848"/>
            <a:ext cx="8961120" cy="274320"/>
          </a:xfrm>
          <a:prstGeom prst="rect">
            <a:avLst/>
          </a:prstGeom>
          <a:noFill/>
          <a:ln/>
        </p:spPr>
        <p:txBody>
          <a:bodyPr wrap="square" lIns="0" tIns="0" rIns="0" bIns="0" rtlCol="0" anchor="ctr"/>
          <a:lstStyle/>
          <a:p>
            <a:pPr indent="0" marL="0">
              <a:buNone/>
            </a:pPr>
            <a:r>
              <a:rPr lang="en-US" sz="1300" b="1" dirty="0">
                <a:solidFill>
                  <a:srgbClr val="FFFFFF"/>
                </a:solidFill>
              </a:rPr>
              <a:t>Review 2</a:t>
            </a:r>
            <a:pPr indent="0" marL="0">
              <a:buNone/>
            </a:pPr>
            <a:r>
              <a:rPr lang="en-US" sz="1300" dirty="0">
                <a:solidFill>
                  <a:srgbClr val="B9BFD2"/>
                </a:solidFill>
              </a:rPr>
              <a:t>   ·   Compiler Design course project</a:t>
            </a:r>
            <a:endParaRPr lang="en-US" sz="1300" dirty="0"/>
          </a:p>
        </p:txBody>
      </p:sp>
      <p:sp>
        <p:nvSpPr>
          <p:cNvPr id="8" name="Text 6"/>
          <p:cNvSpPr txBox="1"/>
          <p:nvPr/>
        </p:nvSpPr>
        <p:spPr>
          <a:xfrm>
            <a:off x="566928" y="4846320"/>
            <a:ext cx="8961120" cy="292608"/>
          </a:xfrm>
          <a:prstGeom prst="rect">
            <a:avLst/>
          </a:prstGeom>
          <a:noFill/>
          <a:ln/>
        </p:spPr>
        <p:txBody>
          <a:bodyPr wrap="square" lIns="0" tIns="0" rIns="0" bIns="0" rtlCol="0" anchor="ctr"/>
          <a:lstStyle/>
          <a:p>
            <a:pPr indent="0" marL="0">
              <a:buNone/>
            </a:pPr>
            <a:r>
              <a:rPr lang="en-US" sz="1500" b="1" dirty="0">
                <a:solidFill>
                  <a:srgbClr val="FFFFFF"/>
                </a:solidFill>
              </a:rPr>
              <a:t>Apoorv Verma  ·  Surjadeep Das</a:t>
            </a:r>
            <a:endParaRPr lang="en-US" sz="1500" dirty="0"/>
          </a:p>
        </p:txBody>
      </p:sp>
      <p:sp>
        <p:nvSpPr>
          <p:cNvPr id="9" name="Text 7"/>
          <p:cNvSpPr txBox="1"/>
          <p:nvPr/>
        </p:nvSpPr>
        <p:spPr>
          <a:xfrm>
            <a:off x="566928" y="5175504"/>
            <a:ext cx="8961120" cy="274320"/>
          </a:xfrm>
          <a:prstGeom prst="rect">
            <a:avLst/>
          </a:prstGeom>
          <a:noFill/>
          <a:ln/>
        </p:spPr>
        <p:txBody>
          <a:bodyPr wrap="square" lIns="0" tIns="0" rIns="0" bIns="0" rtlCol="0" anchor="ctr"/>
          <a:lstStyle/>
          <a:p>
            <a:pPr indent="0" marL="0">
              <a:buNone/>
            </a:pPr>
            <a:r>
              <a:rPr lang="en-US" sz="1200" dirty="0">
                <a:solidFill>
                  <a:srgbClr val="6B7187"/>
                </a:solidFill>
              </a:rPr>
              <a:t>Guide: [Faculty name]</a:t>
            </a:r>
            <a:endParaRPr lang="en-US" sz="1200" dirty="0"/>
          </a:p>
        </p:txBody>
      </p:sp>
      <p:sp>
        <p:nvSpPr>
          <p:cNvPr id="10" name="cover-stat"/>
          <p:cNvSpPr/>
          <p:nvPr/>
        </p:nvSpPr>
        <p:spPr>
          <a:xfrm>
            <a:off x="9144000" y="1901952"/>
            <a:ext cx="2478024" cy="1481328"/>
          </a:xfrm>
          <a:prstGeom prst="roundRect">
            <a:avLst>
              <a:gd name="adj" fmla="val 1852"/>
            </a:avLst>
          </a:prstGeom>
          <a:solidFill>
            <a:srgbClr val="171B30"/>
          </a:solidFill>
          <a:ln w="12700">
            <a:solidFill>
              <a:srgbClr val="2A3154"/>
            </a:solidFill>
            <a:prstDash val="solid"/>
          </a:ln>
        </p:spPr>
      </p:sp>
      <p:sp>
        <p:nvSpPr>
          <p:cNvPr id="11" name="Text 9"/>
          <p:cNvSpPr txBox="1"/>
          <p:nvPr/>
        </p:nvSpPr>
        <p:spPr>
          <a:xfrm>
            <a:off x="9144000" y="2029968"/>
            <a:ext cx="2478024" cy="804672"/>
          </a:xfrm>
          <a:prstGeom prst="rect">
            <a:avLst/>
          </a:prstGeom>
          <a:noFill/>
          <a:ln/>
        </p:spPr>
        <p:txBody>
          <a:bodyPr wrap="square" lIns="0" tIns="0" rIns="0" bIns="0" rtlCol="0" anchor="ctr"/>
          <a:lstStyle/>
          <a:p>
            <a:pPr algn="ctr" indent="0" marL="0">
              <a:buNone/>
            </a:pPr>
            <a:r>
              <a:rPr lang="en-US" sz="4400" b="1" dirty="0">
                <a:solidFill>
                  <a:srgbClr val="FFC857"/>
                </a:solidFill>
                <a:latin typeface="Cambria" pitchFamily="34" charset="0"/>
                <a:ea typeface="Cambria" pitchFamily="34" charset="-122"/>
                <a:cs typeface="Cambria" pitchFamily="34" charset="-120"/>
              </a:rPr>
              <a:t>80%</a:t>
            </a:r>
            <a:endParaRPr lang="en-US" sz="4400" dirty="0"/>
          </a:p>
        </p:txBody>
      </p:sp>
      <p:sp>
        <p:nvSpPr>
          <p:cNvPr id="12" name="Text 10"/>
          <p:cNvSpPr txBox="1"/>
          <p:nvPr/>
        </p:nvSpPr>
        <p:spPr>
          <a:xfrm>
            <a:off x="9144000" y="2798064"/>
            <a:ext cx="2478024" cy="512064"/>
          </a:xfrm>
          <a:prstGeom prst="rect">
            <a:avLst/>
          </a:prstGeom>
          <a:noFill/>
          <a:ln/>
        </p:spPr>
        <p:txBody>
          <a:bodyPr wrap="square" lIns="0" tIns="0" rIns="0" bIns="0" rtlCol="0" anchor="ctr"/>
          <a:lstStyle/>
          <a:p>
            <a:pPr algn="ctr" indent="0" marL="0">
              <a:lnSpc>
                <a:spcPct val="110000"/>
              </a:lnSpc>
              <a:buNone/>
            </a:pPr>
            <a:r>
              <a:rPr lang="en-US" sz="1200" dirty="0">
                <a:solidFill>
                  <a:srgbClr val="B9BFD2"/>
                </a:solidFill>
              </a:rPr>
              <a:t>implementation</a:t>
            </a:r>
            <a:endParaRPr lang="en-US" sz="1200" dirty="0"/>
          </a:p>
          <a:p>
            <a:pPr algn="ctr" indent="0" marL="0">
              <a:lnSpc>
                <a:spcPct val="110000"/>
              </a:lnSpc>
              <a:buNone/>
            </a:pPr>
            <a:r>
              <a:rPr lang="en-US" sz="1200" dirty="0">
                <a:solidFill>
                  <a:srgbClr val="B9BFD2"/>
                </a:solidFill>
              </a:rPr>
              <a:t>complete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658368"/>
          </a:xfrm>
          <a:prstGeom prst="rect">
            <a:avLst/>
          </a:prstGeom>
          <a:noFill/>
          <a:ln/>
        </p:spPr>
        <p:txBody>
          <a:bodyPr wrap="square" lIns="0" tIns="0" rIns="0" bIns="0" rtlCol="0" anchor="ctr"/>
          <a:lstStyle/>
          <a:p>
            <a:pPr algn="l" indent="0" marL="0">
              <a:buNone/>
            </a:pPr>
            <a:r>
              <a:rPr lang="en-US" sz="3200" b="1" dirty="0">
                <a:solidFill>
                  <a:srgbClr val="0E1020"/>
                </a:solidFill>
                <a:latin typeface="Cambria" pitchFamily="34" charset="0"/>
                <a:ea typeface="Cambria" pitchFamily="34" charset="-122"/>
                <a:cs typeface="Cambria" pitchFamily="34" charset="-120"/>
              </a:rPr>
              <a:t>Progress since Review 1</a:t>
            </a:r>
            <a:endParaRPr lang="en-US" sz="3200" dirty="0"/>
          </a:p>
        </p:txBody>
      </p:sp>
      <p:sp>
        <p:nvSpPr>
          <p:cNvPr id="3" name="Text 1"/>
          <p:cNvSpPr txBox="1"/>
          <p:nvPr/>
        </p:nvSpPr>
        <p:spPr>
          <a:xfrm>
            <a:off x="566928" y="1261872"/>
            <a:ext cx="5486400" cy="219456"/>
          </a:xfrm>
          <a:prstGeom prst="rect">
            <a:avLst/>
          </a:prstGeom>
          <a:noFill/>
          <a:ln/>
        </p:spPr>
        <p:txBody>
          <a:bodyPr wrap="square" lIns="0" tIns="0" rIns="0" bIns="0" rtlCol="0" anchor="ctr"/>
          <a:lstStyle/>
          <a:p>
            <a:pPr indent="0" marL="0">
              <a:buNone/>
            </a:pPr>
            <a:r>
              <a:rPr lang="en-US" sz="1000" b="1" spc="120" kern="0" dirty="0">
                <a:solidFill>
                  <a:srgbClr val="6B7187"/>
                </a:solidFill>
              </a:rPr>
              <a:t>IMPLEMENTATION COMPLETED</a:t>
            </a:r>
            <a:endParaRPr lang="en-US" sz="1000" dirty="0"/>
          </a:p>
        </p:txBody>
      </p:sp>
      <p:sp>
        <p:nvSpPr>
          <p:cNvPr id="4" name="bar-track"/>
          <p:cNvSpPr/>
          <p:nvPr/>
        </p:nvSpPr>
        <p:spPr>
          <a:xfrm>
            <a:off x="566928" y="1536192"/>
            <a:ext cx="11055096" cy="402336"/>
          </a:xfrm>
          <a:prstGeom prst="roundRect">
            <a:avLst>
              <a:gd name="adj" fmla="val 18182"/>
            </a:avLst>
          </a:prstGeom>
          <a:solidFill>
            <a:srgbClr val="F2F3F8"/>
          </a:solidFill>
          <a:ln w="12700">
            <a:solidFill>
              <a:srgbClr val="E2E5EE"/>
            </a:solidFill>
            <a:prstDash val="solid"/>
          </a:ln>
        </p:spPr>
      </p:sp>
      <p:sp>
        <p:nvSpPr>
          <p:cNvPr id="5" name="bar-r1"/>
          <p:cNvSpPr/>
          <p:nvPr/>
        </p:nvSpPr>
        <p:spPr>
          <a:xfrm>
            <a:off x="566928" y="1536192"/>
            <a:ext cx="3316529" cy="402336"/>
          </a:xfrm>
          <a:prstGeom prst="roundRect">
            <a:avLst>
              <a:gd name="adj" fmla="val 18182"/>
            </a:avLst>
          </a:prstGeom>
          <a:solidFill>
            <a:srgbClr val="C8CDDC"/>
          </a:solidFill>
          <a:ln w="12700">
            <a:solidFill>
              <a:srgbClr val="C8CDDC"/>
            </a:solidFill>
            <a:prstDash val="solid"/>
          </a:ln>
        </p:spPr>
      </p:sp>
      <p:sp>
        <p:nvSpPr>
          <p:cNvPr id="6" name="bar-r2"/>
          <p:cNvSpPr/>
          <p:nvPr/>
        </p:nvSpPr>
        <p:spPr>
          <a:xfrm>
            <a:off x="566928" y="1536192"/>
            <a:ext cx="8844077" cy="402336"/>
          </a:xfrm>
          <a:prstGeom prst="roundRect">
            <a:avLst>
              <a:gd name="adj" fmla="val 18182"/>
            </a:avLst>
          </a:prstGeom>
          <a:solidFill>
            <a:srgbClr val="FFC857"/>
          </a:solidFill>
          <a:ln w="12700">
            <a:solidFill>
              <a:srgbClr val="FFC857"/>
            </a:solidFill>
            <a:prstDash val="solid"/>
          </a:ln>
        </p:spPr>
      </p:sp>
      <p:sp>
        <p:nvSpPr>
          <p:cNvPr id="7" name="bar-r1b"/>
          <p:cNvSpPr/>
          <p:nvPr/>
        </p:nvSpPr>
        <p:spPr>
          <a:xfrm>
            <a:off x="566928" y="1536192"/>
            <a:ext cx="3316529" cy="402336"/>
          </a:xfrm>
          <a:prstGeom prst="roundRect">
            <a:avLst>
              <a:gd name="adj" fmla="val 18182"/>
            </a:avLst>
          </a:prstGeom>
          <a:solidFill>
            <a:srgbClr val="E0A93B"/>
          </a:solidFill>
          <a:ln w="12700">
            <a:solidFill>
              <a:srgbClr val="E0A93B"/>
            </a:solidFill>
            <a:prstDash val="solid"/>
          </a:ln>
        </p:spPr>
      </p:sp>
      <p:sp>
        <p:nvSpPr>
          <p:cNvPr id="8" name="Text 6"/>
          <p:cNvSpPr txBox="1"/>
          <p:nvPr/>
        </p:nvSpPr>
        <p:spPr>
          <a:xfrm>
            <a:off x="731520" y="1536192"/>
            <a:ext cx="2194560" cy="402336"/>
          </a:xfrm>
          <a:prstGeom prst="rect">
            <a:avLst/>
          </a:prstGeom>
          <a:noFill/>
          <a:ln/>
        </p:spPr>
        <p:txBody>
          <a:bodyPr wrap="square" lIns="0" tIns="0" rIns="0" bIns="0" rtlCol="0" anchor="ctr"/>
          <a:lstStyle/>
          <a:p>
            <a:pPr indent="0" marL="0">
              <a:buNone/>
            </a:pPr>
            <a:r>
              <a:rPr lang="en-US" sz="1150" b="1" dirty="0">
                <a:solidFill>
                  <a:srgbClr val="0E1020"/>
                </a:solidFill>
              </a:rPr>
              <a:t>Review 1  ·  30%</a:t>
            </a:r>
            <a:endParaRPr lang="en-US" sz="1150" dirty="0"/>
          </a:p>
        </p:txBody>
      </p:sp>
      <p:sp>
        <p:nvSpPr>
          <p:cNvPr id="9" name="Text 7"/>
          <p:cNvSpPr txBox="1"/>
          <p:nvPr/>
        </p:nvSpPr>
        <p:spPr>
          <a:xfrm>
            <a:off x="7399325" y="1536192"/>
            <a:ext cx="1828800" cy="402336"/>
          </a:xfrm>
          <a:prstGeom prst="rect">
            <a:avLst/>
          </a:prstGeom>
          <a:noFill/>
          <a:ln/>
        </p:spPr>
        <p:txBody>
          <a:bodyPr wrap="square" lIns="0" tIns="0" rIns="0" bIns="0" rtlCol="0" anchor="ctr"/>
          <a:lstStyle/>
          <a:p>
            <a:pPr algn="r" indent="0" marL="0">
              <a:buNone/>
            </a:pPr>
            <a:r>
              <a:rPr lang="en-US" sz="1150" b="1" dirty="0">
                <a:solidFill>
                  <a:srgbClr val="0E1020"/>
                </a:solidFill>
              </a:rPr>
              <a:t>Review 2  ·  80%</a:t>
            </a:r>
            <a:endParaRPr lang="en-US" sz="1150" dirty="0"/>
          </a:p>
        </p:txBody>
      </p:sp>
      <p:sp>
        <p:nvSpPr>
          <p:cNvPr id="10" name="col-0"/>
          <p:cNvSpPr/>
          <p:nvPr/>
        </p:nvSpPr>
        <p:spPr>
          <a:xfrm>
            <a:off x="566928" y="2340864"/>
            <a:ext cx="3416808" cy="3108960"/>
          </a:xfrm>
          <a:prstGeom prst="roundRect">
            <a:avLst>
              <a:gd name="adj" fmla="val 882"/>
            </a:avLst>
          </a:prstGeom>
          <a:solidFill>
            <a:srgbClr val="FFFFFF"/>
          </a:solidFill>
          <a:ln w="12700">
            <a:solidFill>
              <a:srgbClr val="DDE1EC"/>
            </a:solidFill>
            <a:prstDash val="solid"/>
          </a:ln>
        </p:spPr>
      </p:sp>
      <p:sp>
        <p:nvSpPr>
          <p:cNvPr id="11" name="dot-0"/>
          <p:cNvSpPr/>
          <p:nvPr/>
        </p:nvSpPr>
        <p:spPr>
          <a:xfrm>
            <a:off x="804672" y="2542032"/>
            <a:ext cx="201168" cy="201168"/>
          </a:xfrm>
          <a:prstGeom prst="ellipse">
            <a:avLst/>
          </a:prstGeom>
          <a:solidFill>
            <a:srgbClr val="C8CDDC"/>
          </a:solidFill>
          <a:ln w="12700">
            <a:solidFill>
              <a:srgbClr val="C8CDDC"/>
            </a:solidFill>
            <a:prstDash val="solid"/>
          </a:ln>
        </p:spPr>
      </p:sp>
      <p:sp>
        <p:nvSpPr>
          <p:cNvPr id="12" name="Text 10"/>
          <p:cNvSpPr txBox="1"/>
          <p:nvPr/>
        </p:nvSpPr>
        <p:spPr>
          <a:xfrm>
            <a:off x="1097280" y="2487168"/>
            <a:ext cx="2648712" cy="310896"/>
          </a:xfrm>
          <a:prstGeom prst="rect">
            <a:avLst/>
          </a:prstGeom>
          <a:noFill/>
          <a:ln/>
        </p:spPr>
        <p:txBody>
          <a:bodyPr wrap="square" lIns="0" tIns="0" rIns="0" bIns="0" rtlCol="0" anchor="ctr"/>
          <a:lstStyle/>
          <a:p>
            <a:pPr indent="0" marL="0">
              <a:buNone/>
            </a:pPr>
            <a:r>
              <a:rPr lang="en-US" sz="1400" b="1" dirty="0">
                <a:solidFill>
                  <a:srgbClr val="0E1020"/>
                </a:solidFill>
              </a:rPr>
              <a:t>Completed at Review 1</a:t>
            </a:r>
            <a:endParaRPr lang="en-US" sz="1400" dirty="0"/>
          </a:p>
        </p:txBody>
      </p:sp>
      <p:sp>
        <p:nvSpPr>
          <p:cNvPr id="13" name="Text 11"/>
          <p:cNvSpPr txBox="1"/>
          <p:nvPr/>
        </p:nvSpPr>
        <p:spPr>
          <a:xfrm>
            <a:off x="804672" y="2889504"/>
            <a:ext cx="2941320" cy="2414016"/>
          </a:xfrm>
          <a:prstGeom prst="rect">
            <a:avLst/>
          </a:prstGeom>
          <a:noFill/>
          <a:ln/>
        </p:spPr>
        <p:txBody>
          <a:bodyPr wrap="square" lIns="0" tIns="0" rIns="0" bIns="0" rtlCol="0" anchor="ctr"/>
          <a:lstStyle/>
          <a:p>
            <a:pPr marL="342900" indent="-342900">
              <a:lnSpc>
                <a:spcPct val="110000"/>
              </a:lnSpc>
              <a:spcAft>
                <a:spcPts val="900"/>
              </a:spcAft>
              <a:buSzPct val="100000"/>
              <a:buChar char="•"/>
            </a:pPr>
            <a:r>
              <a:rPr lang="en-US" sz="1200" dirty="0">
                <a:solidFill>
                  <a:srgbClr val="6B7187"/>
                </a:solidFill>
              </a:rPr>
              <a:t>Language specification and EBNF grammar</a:t>
            </a:r>
            <a:endParaRPr lang="en-US" sz="1200" dirty="0"/>
          </a:p>
          <a:p>
            <a:pPr marL="342900" indent="-342900">
              <a:lnSpc>
                <a:spcPct val="110000"/>
              </a:lnSpc>
              <a:spcAft>
                <a:spcPts val="900"/>
              </a:spcAft>
              <a:buSzPct val="100000"/>
              <a:buChar char="•"/>
            </a:pPr>
            <a:r>
              <a:rPr lang="en-US" sz="1200" dirty="0">
                <a:solidFill>
                  <a:srgbClr val="6B7187"/>
                </a:solidFill>
              </a:rPr>
              <a:t>Lexical analyser with INDENT / DEDENT synthesis</a:t>
            </a:r>
            <a:endParaRPr lang="en-US" sz="1200" dirty="0"/>
          </a:p>
        </p:txBody>
      </p:sp>
      <p:sp>
        <p:nvSpPr>
          <p:cNvPr id="14" name="col-1"/>
          <p:cNvSpPr/>
          <p:nvPr/>
        </p:nvSpPr>
        <p:spPr>
          <a:xfrm>
            <a:off x="4386072" y="2340864"/>
            <a:ext cx="3416808" cy="3108960"/>
          </a:xfrm>
          <a:prstGeom prst="roundRect">
            <a:avLst>
              <a:gd name="adj" fmla="val 882"/>
            </a:avLst>
          </a:prstGeom>
          <a:solidFill>
            <a:srgbClr val="F2F3F8"/>
          </a:solidFill>
          <a:ln w="12700">
            <a:solidFill>
              <a:srgbClr val="DDE1EC"/>
            </a:solidFill>
            <a:prstDash val="solid"/>
          </a:ln>
        </p:spPr>
      </p:sp>
      <p:sp>
        <p:nvSpPr>
          <p:cNvPr id="15" name="dot-1"/>
          <p:cNvSpPr/>
          <p:nvPr/>
        </p:nvSpPr>
        <p:spPr>
          <a:xfrm>
            <a:off x="4623816" y="2542032"/>
            <a:ext cx="201168" cy="201168"/>
          </a:xfrm>
          <a:prstGeom prst="ellipse">
            <a:avLst/>
          </a:prstGeom>
          <a:solidFill>
            <a:srgbClr val="4E9163"/>
          </a:solidFill>
          <a:ln w="12700">
            <a:solidFill>
              <a:srgbClr val="4E9163"/>
            </a:solidFill>
            <a:prstDash val="solid"/>
          </a:ln>
        </p:spPr>
      </p:sp>
      <p:sp>
        <p:nvSpPr>
          <p:cNvPr id="16" name="Text 14"/>
          <p:cNvSpPr txBox="1"/>
          <p:nvPr/>
        </p:nvSpPr>
        <p:spPr>
          <a:xfrm>
            <a:off x="4916424" y="2487168"/>
            <a:ext cx="2648712" cy="310896"/>
          </a:xfrm>
          <a:prstGeom prst="rect">
            <a:avLst/>
          </a:prstGeom>
          <a:noFill/>
          <a:ln/>
        </p:spPr>
        <p:txBody>
          <a:bodyPr wrap="square" lIns="0" tIns="0" rIns="0" bIns="0" rtlCol="0" anchor="ctr"/>
          <a:lstStyle/>
          <a:p>
            <a:pPr indent="0" marL="0">
              <a:buNone/>
            </a:pPr>
            <a:r>
              <a:rPr lang="en-US" sz="1400" b="1" dirty="0">
                <a:solidFill>
                  <a:srgbClr val="0E1020"/>
                </a:solidFill>
              </a:rPr>
              <a:t>Completed since</a:t>
            </a:r>
            <a:endParaRPr lang="en-US" sz="1400" dirty="0"/>
          </a:p>
        </p:txBody>
      </p:sp>
      <p:sp>
        <p:nvSpPr>
          <p:cNvPr id="17" name="Text 15"/>
          <p:cNvSpPr txBox="1"/>
          <p:nvPr/>
        </p:nvSpPr>
        <p:spPr>
          <a:xfrm>
            <a:off x="4623816" y="2889504"/>
            <a:ext cx="2941320" cy="2414016"/>
          </a:xfrm>
          <a:prstGeom prst="rect">
            <a:avLst/>
          </a:prstGeom>
          <a:noFill/>
          <a:ln/>
        </p:spPr>
        <p:txBody>
          <a:bodyPr wrap="square" lIns="0" tIns="0" rIns="0" bIns="0" rtlCol="0" anchor="ctr"/>
          <a:lstStyle/>
          <a:p>
            <a:pPr marL="342900" indent="-342900">
              <a:lnSpc>
                <a:spcPct val="110000"/>
              </a:lnSpc>
              <a:spcAft>
                <a:spcPts val="900"/>
              </a:spcAft>
              <a:buSzPct val="100000"/>
              <a:buChar char="•"/>
            </a:pPr>
            <a:r>
              <a:rPr lang="en-US" sz="1200" dirty="0">
                <a:solidFill>
                  <a:srgbClr val="6B7187"/>
                </a:solidFill>
              </a:rPr>
              <a:t>Recursive-descent parser and AST construction</a:t>
            </a:r>
            <a:endParaRPr lang="en-US" sz="1200" dirty="0"/>
          </a:p>
          <a:p>
            <a:pPr marL="342900" indent="-342900">
              <a:lnSpc>
                <a:spcPct val="110000"/>
              </a:lnSpc>
              <a:spcAft>
                <a:spcPts val="900"/>
              </a:spcAft>
              <a:buSzPct val="100000"/>
              <a:buChar char="•"/>
            </a:pPr>
            <a:r>
              <a:rPr lang="en-US" sz="1200" dirty="0">
                <a:solidFill>
                  <a:srgbClr val="6B7187"/>
                </a:solidFill>
              </a:rPr>
              <a:t>Scope chain and tree-walking interpreter</a:t>
            </a:r>
            <a:endParaRPr lang="en-US" sz="1200" dirty="0"/>
          </a:p>
          <a:p>
            <a:pPr marL="342900" indent="-342900">
              <a:lnSpc>
                <a:spcPct val="110000"/>
              </a:lnSpc>
              <a:spcAft>
                <a:spcPts val="900"/>
              </a:spcAft>
              <a:buSzPct val="100000"/>
              <a:buChar char="•"/>
            </a:pPr>
            <a:r>
              <a:rPr lang="en-US" sz="1200" dirty="0">
                <a:solidFill>
                  <a:srgbClr val="6B7187"/>
                </a:solidFill>
              </a:rPr>
              <a:t>Unified error reporting across all three stages</a:t>
            </a:r>
            <a:endParaRPr lang="en-US" sz="1200" dirty="0"/>
          </a:p>
          <a:p>
            <a:pPr marL="342900" indent="-342900">
              <a:lnSpc>
                <a:spcPct val="110000"/>
              </a:lnSpc>
              <a:spcAft>
                <a:spcPts val="900"/>
              </a:spcAft>
              <a:buSzPct val="100000"/>
              <a:buChar char="•"/>
            </a:pPr>
            <a:r>
              <a:rPr lang="en-US" sz="1200" dirty="0">
                <a:solidFill>
                  <a:srgbClr val="6B7187"/>
                </a:solidFill>
              </a:rPr>
              <a:t>Automated test suite covering every stage</a:t>
            </a:r>
            <a:endParaRPr lang="en-US" sz="1200" dirty="0"/>
          </a:p>
        </p:txBody>
      </p:sp>
      <p:sp>
        <p:nvSpPr>
          <p:cNvPr id="18" name="col-2"/>
          <p:cNvSpPr/>
          <p:nvPr/>
        </p:nvSpPr>
        <p:spPr>
          <a:xfrm>
            <a:off x="8205216" y="2340864"/>
            <a:ext cx="3416808" cy="3108960"/>
          </a:xfrm>
          <a:prstGeom prst="roundRect">
            <a:avLst>
              <a:gd name="adj" fmla="val 882"/>
            </a:avLst>
          </a:prstGeom>
          <a:solidFill>
            <a:srgbClr val="FFFFFF"/>
          </a:solidFill>
          <a:ln w="12700">
            <a:solidFill>
              <a:srgbClr val="DDE1EC"/>
            </a:solidFill>
            <a:prstDash val="solid"/>
          </a:ln>
        </p:spPr>
      </p:sp>
      <p:sp>
        <p:nvSpPr>
          <p:cNvPr id="19" name="dot-2"/>
          <p:cNvSpPr/>
          <p:nvPr/>
        </p:nvSpPr>
        <p:spPr>
          <a:xfrm>
            <a:off x="8442960" y="2542032"/>
            <a:ext cx="201168" cy="201168"/>
          </a:xfrm>
          <a:prstGeom prst="ellipse">
            <a:avLst/>
          </a:prstGeom>
          <a:solidFill>
            <a:srgbClr val="FFC857"/>
          </a:solidFill>
          <a:ln w="12700">
            <a:solidFill>
              <a:srgbClr val="FFC857"/>
            </a:solidFill>
            <a:prstDash val="solid"/>
          </a:ln>
        </p:spPr>
      </p:sp>
      <p:sp>
        <p:nvSpPr>
          <p:cNvPr id="20" name="Text 18"/>
          <p:cNvSpPr txBox="1"/>
          <p:nvPr/>
        </p:nvSpPr>
        <p:spPr>
          <a:xfrm>
            <a:off x="8735568" y="2487168"/>
            <a:ext cx="2648712" cy="310896"/>
          </a:xfrm>
          <a:prstGeom prst="rect">
            <a:avLst/>
          </a:prstGeom>
          <a:noFill/>
          <a:ln/>
        </p:spPr>
        <p:txBody>
          <a:bodyPr wrap="square" lIns="0" tIns="0" rIns="0" bIns="0" rtlCol="0" anchor="ctr"/>
          <a:lstStyle/>
          <a:p>
            <a:pPr indent="0" marL="0">
              <a:buNone/>
            </a:pPr>
            <a:r>
              <a:rPr lang="en-US" sz="1400" b="1" dirty="0">
                <a:solidFill>
                  <a:srgbClr val="0E1020"/>
                </a:solidFill>
              </a:rPr>
              <a:t>Under way</a:t>
            </a:r>
            <a:endParaRPr lang="en-US" sz="1400" dirty="0"/>
          </a:p>
        </p:txBody>
      </p:sp>
      <p:sp>
        <p:nvSpPr>
          <p:cNvPr id="21" name="Text 19"/>
          <p:cNvSpPr txBox="1"/>
          <p:nvPr/>
        </p:nvSpPr>
        <p:spPr>
          <a:xfrm>
            <a:off x="8442960" y="2889504"/>
            <a:ext cx="2941320" cy="2414016"/>
          </a:xfrm>
          <a:prstGeom prst="rect">
            <a:avLst/>
          </a:prstGeom>
          <a:noFill/>
          <a:ln/>
        </p:spPr>
        <p:txBody>
          <a:bodyPr wrap="square" lIns="0" tIns="0" rIns="0" bIns="0" rtlCol="0" anchor="ctr"/>
          <a:lstStyle/>
          <a:p>
            <a:pPr marL="342900" indent="-342900">
              <a:lnSpc>
                <a:spcPct val="110000"/>
              </a:lnSpc>
              <a:spcAft>
                <a:spcPts val="900"/>
              </a:spcAft>
              <a:buSzPct val="100000"/>
              <a:buChar char="•"/>
            </a:pPr>
            <a:r>
              <a:rPr lang="en-US" sz="1200" dirty="0">
                <a:solidFill>
                  <a:srgbClr val="6B7187"/>
                </a:solidFill>
              </a:rPr>
              <a:t>Code generation back end targeting WebAssembly</a:t>
            </a:r>
            <a:endParaRPr lang="en-US" sz="1200" dirty="0"/>
          </a:p>
          <a:p>
            <a:pPr marL="342900" indent="-342900">
              <a:lnSpc>
                <a:spcPct val="110000"/>
              </a:lnSpc>
              <a:spcAft>
                <a:spcPts val="900"/>
              </a:spcAft>
              <a:buSzPct val="100000"/>
              <a:buChar char="•"/>
            </a:pPr>
            <a:r>
              <a:rPr lang="en-US" sz="1200" dirty="0">
                <a:solidFill>
                  <a:srgbClr val="6B7187"/>
                </a:solidFill>
              </a:rPr>
              <a:t>Browser playground for live demonstration</a:t>
            </a:r>
            <a:endParaRPr lang="en-US" sz="1200" dirty="0"/>
          </a:p>
        </p:txBody>
      </p:sp>
      <p:sp>
        <p:nvSpPr>
          <p:cNvPr id="25" name="Slide Number Placeholder 0"/>
          <p:cNvSpPr>
            <a:spLocks noGrp="1"/>
          </p:cNvSpPr>
          <p:nvPr>
            <p:ph type="sldNum" sz="quarter" idx="4294967295"/>
          </p:nvPr>
        </p:nvSpPr>
        <p:spPr>
          <a:xfrm>
            <a:off x="11164824"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87"/>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658368"/>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The pipeline, as it now stands</a:t>
            </a:r>
            <a:endParaRPr lang="en-US" sz="3200" dirty="0"/>
          </a:p>
        </p:txBody>
      </p:sp>
      <p:sp>
        <p:nvSpPr>
          <p:cNvPr id="3" name="stage-0"/>
          <p:cNvSpPr/>
          <p:nvPr/>
        </p:nvSpPr>
        <p:spPr>
          <a:xfrm>
            <a:off x="566928" y="1426464"/>
            <a:ext cx="1920240" cy="1481328"/>
          </a:xfrm>
          <a:prstGeom prst="roundRect">
            <a:avLst>
              <a:gd name="adj" fmla="val 1852"/>
            </a:avLst>
          </a:prstGeom>
          <a:solidFill>
            <a:srgbClr val="171B30"/>
          </a:solidFill>
          <a:ln w="12700">
            <a:solidFill>
              <a:srgbClr val="2A3154"/>
            </a:solidFill>
            <a:prstDash val="solid"/>
          </a:ln>
        </p:spPr>
      </p:sp>
      <p:sp>
        <p:nvSpPr>
          <p:cNvPr id="4" name="Text 2"/>
          <p:cNvSpPr txBox="1"/>
          <p:nvPr/>
        </p:nvSpPr>
        <p:spPr>
          <a:xfrm>
            <a:off x="694944" y="1554480"/>
            <a:ext cx="1664208" cy="292608"/>
          </a:xfrm>
          <a:prstGeom prst="rect">
            <a:avLst/>
          </a:prstGeom>
          <a:noFill/>
          <a:ln/>
        </p:spPr>
        <p:txBody>
          <a:bodyPr wrap="square" lIns="0" tIns="0" rIns="0" bIns="0" rtlCol="0" anchor="ctr"/>
          <a:lstStyle/>
          <a:p>
            <a:pPr algn="ctr" indent="0" marL="0">
              <a:buNone/>
            </a:pPr>
            <a:r>
              <a:rPr lang="en-US" sz="1500" b="1" dirty="0">
                <a:solidFill>
                  <a:srgbClr val="B9BFD2"/>
                </a:solidFill>
              </a:rPr>
              <a:t>Source</a:t>
            </a:r>
            <a:endParaRPr lang="en-US" sz="1500" dirty="0"/>
          </a:p>
        </p:txBody>
      </p:sp>
      <p:sp>
        <p:nvSpPr>
          <p:cNvPr id="5" name="Text 3"/>
          <p:cNvSpPr txBox="1"/>
          <p:nvPr/>
        </p:nvSpPr>
        <p:spPr>
          <a:xfrm>
            <a:off x="694944" y="1865376"/>
            <a:ext cx="1664208" cy="310896"/>
          </a:xfrm>
          <a:prstGeom prst="rect">
            <a:avLst/>
          </a:prstGeom>
          <a:noFill/>
          <a:ln/>
        </p:spPr>
        <p:txBody>
          <a:bodyPr wrap="square" lIns="0" tIns="0" rIns="0" bIns="0" rtlCol="0" anchor="ctr"/>
          <a:lstStyle/>
          <a:p>
            <a:pPr algn="ctr" indent="0" marL="0">
              <a:buNone/>
            </a:pPr>
            <a:r>
              <a:rPr lang="en-US" sz="1050" dirty="0">
                <a:solidFill>
                  <a:srgbClr val="6B7187"/>
                </a:solidFill>
              </a:rPr>
              <a:t>.sn file</a:t>
            </a:r>
            <a:endParaRPr lang="en-US" sz="1050" dirty="0"/>
          </a:p>
        </p:txBody>
      </p:sp>
      <p:sp>
        <p:nvSpPr>
          <p:cNvPr id="6" name="arrow-0"/>
          <p:cNvSpPr/>
          <p:nvPr/>
        </p:nvSpPr>
        <p:spPr>
          <a:xfrm>
            <a:off x="2542032" y="2167128"/>
            <a:ext cx="253746" cy="0"/>
          </a:xfrm>
          <a:prstGeom prst="line">
            <a:avLst/>
          </a:prstGeom>
          <a:noFill/>
          <a:ln w="19050">
            <a:solidFill>
              <a:srgbClr val="4B548A"/>
            </a:solidFill>
            <a:prstDash val="solid"/>
            <a:tailEnd type="triangle"/>
          </a:ln>
        </p:spPr>
      </p:sp>
      <p:sp>
        <p:nvSpPr>
          <p:cNvPr id="7" name="stage-1"/>
          <p:cNvSpPr/>
          <p:nvPr/>
        </p:nvSpPr>
        <p:spPr>
          <a:xfrm>
            <a:off x="2850642" y="1426464"/>
            <a:ext cx="1920240" cy="1481328"/>
          </a:xfrm>
          <a:prstGeom prst="roundRect">
            <a:avLst>
              <a:gd name="adj" fmla="val 1852"/>
            </a:avLst>
          </a:prstGeom>
          <a:solidFill>
            <a:srgbClr val="2A3154"/>
          </a:solidFill>
          <a:ln w="12700">
            <a:solidFill>
              <a:srgbClr val="3C4675"/>
            </a:solidFill>
            <a:prstDash val="solid"/>
          </a:ln>
        </p:spPr>
      </p:sp>
      <p:sp>
        <p:nvSpPr>
          <p:cNvPr id="8" name="Text 6"/>
          <p:cNvSpPr txBox="1"/>
          <p:nvPr/>
        </p:nvSpPr>
        <p:spPr>
          <a:xfrm>
            <a:off x="2978658" y="1554480"/>
            <a:ext cx="1664208" cy="292608"/>
          </a:xfrm>
          <a:prstGeom prst="rect">
            <a:avLst/>
          </a:prstGeom>
          <a:noFill/>
          <a:ln/>
        </p:spPr>
        <p:txBody>
          <a:bodyPr wrap="square" lIns="0" tIns="0" rIns="0" bIns="0" rtlCol="0" anchor="ctr"/>
          <a:lstStyle/>
          <a:p>
            <a:pPr algn="ctr" indent="0" marL="0">
              <a:buNone/>
            </a:pPr>
            <a:r>
              <a:rPr lang="en-US" sz="1500" b="1" dirty="0">
                <a:solidFill>
                  <a:srgbClr val="FFFFFF"/>
                </a:solidFill>
              </a:rPr>
              <a:t>Lexer</a:t>
            </a:r>
            <a:endParaRPr lang="en-US" sz="1500" dirty="0"/>
          </a:p>
        </p:txBody>
      </p:sp>
      <p:sp>
        <p:nvSpPr>
          <p:cNvPr id="9" name="Text 7"/>
          <p:cNvSpPr txBox="1"/>
          <p:nvPr/>
        </p:nvSpPr>
        <p:spPr>
          <a:xfrm>
            <a:off x="2978658" y="1865376"/>
            <a:ext cx="1664208" cy="310896"/>
          </a:xfrm>
          <a:prstGeom prst="rect">
            <a:avLst/>
          </a:prstGeom>
          <a:noFill/>
          <a:ln/>
        </p:spPr>
        <p:txBody>
          <a:bodyPr wrap="square" lIns="0" tIns="0" rIns="0" bIns="0" rtlCol="0" anchor="ctr"/>
          <a:lstStyle/>
          <a:p>
            <a:pPr algn="ctr" indent="0" marL="0">
              <a:buNone/>
            </a:pPr>
            <a:r>
              <a:rPr lang="en-US" sz="1050" dirty="0">
                <a:solidFill>
                  <a:srgbClr val="B9BFD2"/>
                </a:solidFill>
              </a:rPr>
              <a:t>characters to tokens</a:t>
            </a:r>
            <a:endParaRPr lang="en-US" sz="1050" dirty="0"/>
          </a:p>
        </p:txBody>
      </p:sp>
      <p:sp>
        <p:nvSpPr>
          <p:cNvPr id="10" name="chip"/>
          <p:cNvSpPr/>
          <p:nvPr/>
        </p:nvSpPr>
        <p:spPr>
          <a:xfrm>
            <a:off x="3216402" y="2304288"/>
            <a:ext cx="1188720" cy="237744"/>
          </a:xfrm>
          <a:prstGeom prst="roundRect">
            <a:avLst>
              <a:gd name="adj" fmla="val 46154"/>
            </a:avLst>
          </a:prstGeom>
          <a:solidFill>
            <a:srgbClr val="4E9163"/>
          </a:solidFill>
          <a:ln w="12700">
            <a:solidFill>
              <a:srgbClr val="4E9163"/>
            </a:solidFill>
            <a:prstDash val="solid"/>
          </a:ln>
        </p:spPr>
      </p:sp>
      <p:sp>
        <p:nvSpPr>
          <p:cNvPr id="11" name="Text 9"/>
          <p:cNvSpPr txBox="1"/>
          <p:nvPr/>
        </p:nvSpPr>
        <p:spPr>
          <a:xfrm>
            <a:off x="3216402" y="2304288"/>
            <a:ext cx="1188720" cy="237744"/>
          </a:xfrm>
          <a:prstGeom prst="rect">
            <a:avLst/>
          </a:prstGeom>
          <a:noFill/>
          <a:ln/>
        </p:spPr>
        <p:txBody>
          <a:bodyPr wrap="square" lIns="0" tIns="0" rIns="0" bIns="0" rtlCol="0" anchor="ctr"/>
          <a:lstStyle/>
          <a:p>
            <a:pPr algn="ctr" indent="0" marL="0">
              <a:buNone/>
            </a:pPr>
            <a:r>
              <a:rPr lang="en-US" sz="950" b="1" dirty="0">
                <a:solidFill>
                  <a:srgbClr val="0E1020"/>
                </a:solidFill>
              </a:rPr>
              <a:t>COMPLETE</a:t>
            </a:r>
            <a:endParaRPr lang="en-US" sz="950" dirty="0"/>
          </a:p>
        </p:txBody>
      </p:sp>
      <p:sp>
        <p:nvSpPr>
          <p:cNvPr id="12" name="arrow-1"/>
          <p:cNvSpPr/>
          <p:nvPr/>
        </p:nvSpPr>
        <p:spPr>
          <a:xfrm>
            <a:off x="4825746" y="2167128"/>
            <a:ext cx="253746" cy="0"/>
          </a:xfrm>
          <a:prstGeom prst="line">
            <a:avLst/>
          </a:prstGeom>
          <a:noFill/>
          <a:ln w="19050">
            <a:solidFill>
              <a:srgbClr val="4B548A"/>
            </a:solidFill>
            <a:prstDash val="solid"/>
            <a:tailEnd type="triangle"/>
          </a:ln>
        </p:spPr>
      </p:sp>
      <p:sp>
        <p:nvSpPr>
          <p:cNvPr id="13" name="stage-2"/>
          <p:cNvSpPr/>
          <p:nvPr/>
        </p:nvSpPr>
        <p:spPr>
          <a:xfrm>
            <a:off x="5134356" y="1426464"/>
            <a:ext cx="1920240" cy="1481328"/>
          </a:xfrm>
          <a:prstGeom prst="roundRect">
            <a:avLst>
              <a:gd name="adj" fmla="val 1852"/>
            </a:avLst>
          </a:prstGeom>
          <a:solidFill>
            <a:srgbClr val="2A3154"/>
          </a:solidFill>
          <a:ln w="12700">
            <a:solidFill>
              <a:srgbClr val="3C4675"/>
            </a:solidFill>
            <a:prstDash val="solid"/>
          </a:ln>
        </p:spPr>
      </p:sp>
      <p:sp>
        <p:nvSpPr>
          <p:cNvPr id="14" name="Text 12"/>
          <p:cNvSpPr txBox="1"/>
          <p:nvPr/>
        </p:nvSpPr>
        <p:spPr>
          <a:xfrm>
            <a:off x="5262372" y="1554480"/>
            <a:ext cx="1664208" cy="292608"/>
          </a:xfrm>
          <a:prstGeom prst="rect">
            <a:avLst/>
          </a:prstGeom>
          <a:noFill/>
          <a:ln/>
        </p:spPr>
        <p:txBody>
          <a:bodyPr wrap="square" lIns="0" tIns="0" rIns="0" bIns="0" rtlCol="0" anchor="ctr"/>
          <a:lstStyle/>
          <a:p>
            <a:pPr algn="ctr" indent="0" marL="0">
              <a:buNone/>
            </a:pPr>
            <a:r>
              <a:rPr lang="en-US" sz="1500" b="1" dirty="0">
                <a:solidFill>
                  <a:srgbClr val="FFFFFF"/>
                </a:solidFill>
              </a:rPr>
              <a:t>Parser</a:t>
            </a:r>
            <a:endParaRPr lang="en-US" sz="1500" dirty="0"/>
          </a:p>
        </p:txBody>
      </p:sp>
      <p:sp>
        <p:nvSpPr>
          <p:cNvPr id="15" name="Text 13"/>
          <p:cNvSpPr txBox="1"/>
          <p:nvPr/>
        </p:nvSpPr>
        <p:spPr>
          <a:xfrm>
            <a:off x="5262372" y="1865376"/>
            <a:ext cx="1664208" cy="310896"/>
          </a:xfrm>
          <a:prstGeom prst="rect">
            <a:avLst/>
          </a:prstGeom>
          <a:noFill/>
          <a:ln/>
        </p:spPr>
        <p:txBody>
          <a:bodyPr wrap="square" lIns="0" tIns="0" rIns="0" bIns="0" rtlCol="0" anchor="ctr"/>
          <a:lstStyle/>
          <a:p>
            <a:pPr algn="ctr" indent="0" marL="0">
              <a:buNone/>
            </a:pPr>
            <a:r>
              <a:rPr lang="en-US" sz="1050" dirty="0">
                <a:solidFill>
                  <a:srgbClr val="B9BFD2"/>
                </a:solidFill>
              </a:rPr>
              <a:t>tokens to AST</a:t>
            </a:r>
            <a:endParaRPr lang="en-US" sz="1050" dirty="0"/>
          </a:p>
        </p:txBody>
      </p:sp>
      <p:sp>
        <p:nvSpPr>
          <p:cNvPr id="16" name="chip"/>
          <p:cNvSpPr/>
          <p:nvPr/>
        </p:nvSpPr>
        <p:spPr>
          <a:xfrm>
            <a:off x="5500116" y="2304288"/>
            <a:ext cx="1188720" cy="237744"/>
          </a:xfrm>
          <a:prstGeom prst="roundRect">
            <a:avLst>
              <a:gd name="adj" fmla="val 46154"/>
            </a:avLst>
          </a:prstGeom>
          <a:solidFill>
            <a:srgbClr val="4E9163"/>
          </a:solidFill>
          <a:ln w="12700">
            <a:solidFill>
              <a:srgbClr val="4E9163"/>
            </a:solidFill>
            <a:prstDash val="solid"/>
          </a:ln>
        </p:spPr>
      </p:sp>
      <p:sp>
        <p:nvSpPr>
          <p:cNvPr id="17" name="Text 15"/>
          <p:cNvSpPr txBox="1"/>
          <p:nvPr/>
        </p:nvSpPr>
        <p:spPr>
          <a:xfrm>
            <a:off x="5500116" y="2304288"/>
            <a:ext cx="1188720" cy="237744"/>
          </a:xfrm>
          <a:prstGeom prst="rect">
            <a:avLst/>
          </a:prstGeom>
          <a:noFill/>
          <a:ln/>
        </p:spPr>
        <p:txBody>
          <a:bodyPr wrap="square" lIns="0" tIns="0" rIns="0" bIns="0" rtlCol="0" anchor="ctr"/>
          <a:lstStyle/>
          <a:p>
            <a:pPr algn="ctr" indent="0" marL="0">
              <a:buNone/>
            </a:pPr>
            <a:r>
              <a:rPr lang="en-US" sz="950" b="1" dirty="0">
                <a:solidFill>
                  <a:srgbClr val="0E1020"/>
                </a:solidFill>
              </a:rPr>
              <a:t>COMPLETE</a:t>
            </a:r>
            <a:endParaRPr lang="en-US" sz="950" dirty="0"/>
          </a:p>
        </p:txBody>
      </p:sp>
      <p:sp>
        <p:nvSpPr>
          <p:cNvPr id="18" name="arrow-2"/>
          <p:cNvSpPr/>
          <p:nvPr/>
        </p:nvSpPr>
        <p:spPr>
          <a:xfrm>
            <a:off x="7109460" y="2167128"/>
            <a:ext cx="253746" cy="0"/>
          </a:xfrm>
          <a:prstGeom prst="line">
            <a:avLst/>
          </a:prstGeom>
          <a:noFill/>
          <a:ln w="19050">
            <a:solidFill>
              <a:srgbClr val="4B548A"/>
            </a:solidFill>
            <a:prstDash val="solid"/>
            <a:tailEnd type="triangle"/>
          </a:ln>
        </p:spPr>
      </p:sp>
      <p:sp>
        <p:nvSpPr>
          <p:cNvPr id="19" name="stage-3"/>
          <p:cNvSpPr/>
          <p:nvPr/>
        </p:nvSpPr>
        <p:spPr>
          <a:xfrm>
            <a:off x="7418070" y="1426464"/>
            <a:ext cx="1920240" cy="1481328"/>
          </a:xfrm>
          <a:prstGeom prst="roundRect">
            <a:avLst>
              <a:gd name="adj" fmla="val 1852"/>
            </a:avLst>
          </a:prstGeom>
          <a:solidFill>
            <a:srgbClr val="2A3154"/>
          </a:solidFill>
          <a:ln w="12700">
            <a:solidFill>
              <a:srgbClr val="3C4675"/>
            </a:solidFill>
            <a:prstDash val="solid"/>
          </a:ln>
        </p:spPr>
      </p:sp>
      <p:sp>
        <p:nvSpPr>
          <p:cNvPr id="20" name="Text 18"/>
          <p:cNvSpPr txBox="1"/>
          <p:nvPr/>
        </p:nvSpPr>
        <p:spPr>
          <a:xfrm>
            <a:off x="7546086" y="1554480"/>
            <a:ext cx="1664208" cy="292608"/>
          </a:xfrm>
          <a:prstGeom prst="rect">
            <a:avLst/>
          </a:prstGeom>
          <a:noFill/>
          <a:ln/>
        </p:spPr>
        <p:txBody>
          <a:bodyPr wrap="square" lIns="0" tIns="0" rIns="0" bIns="0" rtlCol="0" anchor="ctr"/>
          <a:lstStyle/>
          <a:p>
            <a:pPr algn="ctr" indent="0" marL="0">
              <a:buNone/>
            </a:pPr>
            <a:r>
              <a:rPr lang="en-US" sz="1500" b="1" dirty="0">
                <a:solidFill>
                  <a:srgbClr val="FFFFFF"/>
                </a:solidFill>
              </a:rPr>
              <a:t>Interpreter</a:t>
            </a:r>
            <a:endParaRPr lang="en-US" sz="1500" dirty="0"/>
          </a:p>
        </p:txBody>
      </p:sp>
      <p:sp>
        <p:nvSpPr>
          <p:cNvPr id="21" name="Text 19"/>
          <p:cNvSpPr txBox="1"/>
          <p:nvPr/>
        </p:nvSpPr>
        <p:spPr>
          <a:xfrm>
            <a:off x="7546086" y="1865376"/>
            <a:ext cx="1664208" cy="310896"/>
          </a:xfrm>
          <a:prstGeom prst="rect">
            <a:avLst/>
          </a:prstGeom>
          <a:noFill/>
          <a:ln/>
        </p:spPr>
        <p:txBody>
          <a:bodyPr wrap="square" lIns="0" tIns="0" rIns="0" bIns="0" rtlCol="0" anchor="ctr"/>
          <a:lstStyle/>
          <a:p>
            <a:pPr algn="ctr" indent="0" marL="0">
              <a:buNone/>
            </a:pPr>
            <a:r>
              <a:rPr lang="en-US" sz="1050" dirty="0">
                <a:solidFill>
                  <a:srgbClr val="B9BFD2"/>
                </a:solidFill>
              </a:rPr>
              <a:t>walks the AST</a:t>
            </a:r>
            <a:endParaRPr lang="en-US" sz="1050" dirty="0"/>
          </a:p>
        </p:txBody>
      </p:sp>
      <p:sp>
        <p:nvSpPr>
          <p:cNvPr id="22" name="chip"/>
          <p:cNvSpPr/>
          <p:nvPr/>
        </p:nvSpPr>
        <p:spPr>
          <a:xfrm>
            <a:off x="7783830" y="2304288"/>
            <a:ext cx="1188720" cy="237744"/>
          </a:xfrm>
          <a:prstGeom prst="roundRect">
            <a:avLst>
              <a:gd name="adj" fmla="val 46154"/>
            </a:avLst>
          </a:prstGeom>
          <a:solidFill>
            <a:srgbClr val="4E9163"/>
          </a:solidFill>
          <a:ln w="12700">
            <a:solidFill>
              <a:srgbClr val="4E9163"/>
            </a:solidFill>
            <a:prstDash val="solid"/>
          </a:ln>
        </p:spPr>
      </p:sp>
      <p:sp>
        <p:nvSpPr>
          <p:cNvPr id="23" name="Text 21"/>
          <p:cNvSpPr txBox="1"/>
          <p:nvPr/>
        </p:nvSpPr>
        <p:spPr>
          <a:xfrm>
            <a:off x="7783830" y="2304288"/>
            <a:ext cx="1188720" cy="237744"/>
          </a:xfrm>
          <a:prstGeom prst="rect">
            <a:avLst/>
          </a:prstGeom>
          <a:noFill/>
          <a:ln/>
        </p:spPr>
        <p:txBody>
          <a:bodyPr wrap="square" lIns="0" tIns="0" rIns="0" bIns="0" rtlCol="0" anchor="ctr"/>
          <a:lstStyle/>
          <a:p>
            <a:pPr algn="ctr" indent="0" marL="0">
              <a:buNone/>
            </a:pPr>
            <a:r>
              <a:rPr lang="en-US" sz="950" b="1" dirty="0">
                <a:solidFill>
                  <a:srgbClr val="0E1020"/>
                </a:solidFill>
              </a:rPr>
              <a:t>COMPLETE</a:t>
            </a:r>
            <a:endParaRPr lang="en-US" sz="950" dirty="0"/>
          </a:p>
        </p:txBody>
      </p:sp>
      <p:sp>
        <p:nvSpPr>
          <p:cNvPr id="24" name="arrow-3"/>
          <p:cNvSpPr/>
          <p:nvPr/>
        </p:nvSpPr>
        <p:spPr>
          <a:xfrm>
            <a:off x="9393174" y="2167128"/>
            <a:ext cx="253746" cy="0"/>
          </a:xfrm>
          <a:prstGeom prst="line">
            <a:avLst/>
          </a:prstGeom>
          <a:noFill/>
          <a:ln w="19050">
            <a:solidFill>
              <a:srgbClr val="4B548A"/>
            </a:solidFill>
            <a:prstDash val="solid"/>
            <a:tailEnd type="triangle"/>
          </a:ln>
        </p:spPr>
      </p:sp>
      <p:sp>
        <p:nvSpPr>
          <p:cNvPr id="25" name="stage-4"/>
          <p:cNvSpPr/>
          <p:nvPr/>
        </p:nvSpPr>
        <p:spPr>
          <a:xfrm>
            <a:off x="9701784" y="1426464"/>
            <a:ext cx="1920240" cy="1481328"/>
          </a:xfrm>
          <a:prstGeom prst="roundRect">
            <a:avLst>
              <a:gd name="adj" fmla="val 1852"/>
            </a:avLst>
          </a:prstGeom>
          <a:solidFill>
            <a:srgbClr val="171B30"/>
          </a:solidFill>
          <a:ln w="12700">
            <a:solidFill>
              <a:srgbClr val="2A3154"/>
            </a:solidFill>
            <a:prstDash val="solid"/>
          </a:ln>
        </p:spPr>
      </p:sp>
      <p:sp>
        <p:nvSpPr>
          <p:cNvPr id="26" name="Text 24"/>
          <p:cNvSpPr txBox="1"/>
          <p:nvPr/>
        </p:nvSpPr>
        <p:spPr>
          <a:xfrm>
            <a:off x="9829800" y="1554480"/>
            <a:ext cx="1664208" cy="292608"/>
          </a:xfrm>
          <a:prstGeom prst="rect">
            <a:avLst/>
          </a:prstGeom>
          <a:noFill/>
          <a:ln/>
        </p:spPr>
        <p:txBody>
          <a:bodyPr wrap="square" lIns="0" tIns="0" rIns="0" bIns="0" rtlCol="0" anchor="ctr"/>
          <a:lstStyle/>
          <a:p>
            <a:pPr algn="ctr" indent="0" marL="0">
              <a:buNone/>
            </a:pPr>
            <a:r>
              <a:rPr lang="en-US" sz="1500" b="1" dirty="0">
                <a:solidFill>
                  <a:srgbClr val="B9BFD2"/>
                </a:solidFill>
              </a:rPr>
              <a:t>Output</a:t>
            </a:r>
            <a:endParaRPr lang="en-US" sz="1500" dirty="0"/>
          </a:p>
        </p:txBody>
      </p:sp>
      <p:sp>
        <p:nvSpPr>
          <p:cNvPr id="27" name="Text 25"/>
          <p:cNvSpPr txBox="1"/>
          <p:nvPr/>
        </p:nvSpPr>
        <p:spPr>
          <a:xfrm>
            <a:off x="9829800" y="1865376"/>
            <a:ext cx="1664208" cy="310896"/>
          </a:xfrm>
          <a:prstGeom prst="rect">
            <a:avLst/>
          </a:prstGeom>
          <a:noFill/>
          <a:ln/>
        </p:spPr>
        <p:txBody>
          <a:bodyPr wrap="square" lIns="0" tIns="0" rIns="0" bIns="0" rtlCol="0" anchor="ctr"/>
          <a:lstStyle/>
          <a:p>
            <a:pPr algn="ctr" indent="0" marL="0">
              <a:buNone/>
            </a:pPr>
            <a:r>
              <a:rPr lang="en-US" sz="1050" dirty="0">
                <a:solidFill>
                  <a:srgbClr val="6B7187"/>
                </a:solidFill>
              </a:rPr>
              <a:t>program result</a:t>
            </a:r>
            <a:endParaRPr lang="en-US" sz="1050" dirty="0"/>
          </a:p>
        </p:txBody>
      </p:sp>
      <p:sp>
        <p:nvSpPr>
          <p:cNvPr id="28" name="arrow-gen"/>
          <p:cNvSpPr/>
          <p:nvPr/>
        </p:nvSpPr>
        <p:spPr>
          <a:xfrm>
            <a:off x="6094476" y="2907792"/>
            <a:ext cx="0" cy="658368"/>
          </a:xfrm>
          <a:prstGeom prst="line">
            <a:avLst/>
          </a:prstGeom>
          <a:noFill/>
          <a:ln w="19050">
            <a:solidFill>
              <a:srgbClr val="4B548A"/>
            </a:solidFill>
            <a:prstDash val="dash"/>
            <a:tailEnd type="triangle"/>
          </a:ln>
        </p:spPr>
      </p:sp>
      <p:sp>
        <p:nvSpPr>
          <p:cNvPr id="29" name="stage-gen"/>
          <p:cNvSpPr/>
          <p:nvPr/>
        </p:nvSpPr>
        <p:spPr>
          <a:xfrm>
            <a:off x="4677156" y="3566160"/>
            <a:ext cx="2834640" cy="914400"/>
          </a:xfrm>
          <a:prstGeom prst="roundRect">
            <a:avLst>
              <a:gd name="adj" fmla="val 3000"/>
            </a:avLst>
          </a:prstGeom>
          <a:solidFill>
            <a:srgbClr val="2A3154"/>
          </a:solidFill>
          <a:ln w="12700">
            <a:solidFill>
              <a:srgbClr val="FFC857"/>
            </a:solidFill>
            <a:prstDash val="solid"/>
          </a:ln>
        </p:spPr>
      </p:sp>
      <p:sp>
        <p:nvSpPr>
          <p:cNvPr id="30" name="Text 28"/>
          <p:cNvSpPr txBox="1"/>
          <p:nvPr/>
        </p:nvSpPr>
        <p:spPr>
          <a:xfrm>
            <a:off x="4677156" y="3675888"/>
            <a:ext cx="2834640" cy="274320"/>
          </a:xfrm>
          <a:prstGeom prst="rect">
            <a:avLst/>
          </a:prstGeom>
          <a:noFill/>
          <a:ln/>
        </p:spPr>
        <p:txBody>
          <a:bodyPr wrap="square" lIns="0" tIns="0" rIns="0" bIns="0" rtlCol="0" anchor="ctr"/>
          <a:lstStyle/>
          <a:p>
            <a:pPr algn="ctr" indent="0" marL="0">
              <a:buNone/>
            </a:pPr>
            <a:r>
              <a:rPr lang="en-US" sz="1400" b="1" dirty="0">
                <a:solidFill>
                  <a:srgbClr val="FFFFFF"/>
                </a:solidFill>
              </a:rPr>
              <a:t>Code generator</a:t>
            </a:r>
            <a:endParaRPr lang="en-US" sz="1400" dirty="0"/>
          </a:p>
        </p:txBody>
      </p:sp>
      <p:sp>
        <p:nvSpPr>
          <p:cNvPr id="31" name="chip"/>
          <p:cNvSpPr/>
          <p:nvPr/>
        </p:nvSpPr>
        <p:spPr>
          <a:xfrm>
            <a:off x="5408676" y="4005072"/>
            <a:ext cx="1371600" cy="237744"/>
          </a:xfrm>
          <a:prstGeom prst="roundRect">
            <a:avLst>
              <a:gd name="adj" fmla="val 46154"/>
            </a:avLst>
          </a:prstGeom>
          <a:solidFill>
            <a:srgbClr val="FFC857"/>
          </a:solidFill>
          <a:ln w="12700">
            <a:solidFill>
              <a:srgbClr val="FFC857"/>
            </a:solidFill>
            <a:prstDash val="solid"/>
          </a:ln>
        </p:spPr>
      </p:sp>
      <p:sp>
        <p:nvSpPr>
          <p:cNvPr id="32" name="Text 30"/>
          <p:cNvSpPr txBox="1"/>
          <p:nvPr/>
        </p:nvSpPr>
        <p:spPr>
          <a:xfrm>
            <a:off x="5408676" y="4005072"/>
            <a:ext cx="1371600" cy="237744"/>
          </a:xfrm>
          <a:prstGeom prst="rect">
            <a:avLst/>
          </a:prstGeom>
          <a:noFill/>
          <a:ln/>
        </p:spPr>
        <p:txBody>
          <a:bodyPr wrap="square" lIns="0" tIns="0" rIns="0" bIns="0" rtlCol="0" anchor="ctr"/>
          <a:lstStyle/>
          <a:p>
            <a:pPr algn="ctr" indent="0" marL="0">
              <a:buNone/>
            </a:pPr>
            <a:r>
              <a:rPr lang="en-US" sz="950" b="1" dirty="0">
                <a:solidFill>
                  <a:srgbClr val="0E1020"/>
                </a:solidFill>
              </a:rPr>
              <a:t>IN PROGRESS</a:t>
            </a:r>
            <a:endParaRPr lang="en-US" sz="950" dirty="0"/>
          </a:p>
        </p:txBody>
      </p:sp>
      <p:sp>
        <p:nvSpPr>
          <p:cNvPr id="33" name="Text 31"/>
          <p:cNvSpPr txBox="1"/>
          <p:nvPr/>
        </p:nvSpPr>
        <p:spPr>
          <a:xfrm>
            <a:off x="7694676" y="3895344"/>
            <a:ext cx="3657600" cy="274320"/>
          </a:xfrm>
          <a:prstGeom prst="rect">
            <a:avLst/>
          </a:prstGeom>
          <a:noFill/>
          <a:ln/>
        </p:spPr>
        <p:txBody>
          <a:bodyPr wrap="square" lIns="0" tIns="0" rIns="0" bIns="0" rtlCol="0" anchor="ctr"/>
          <a:lstStyle/>
          <a:p>
            <a:pPr indent="0" marL="0">
              <a:buNone/>
            </a:pPr>
            <a:r>
              <a:rPr lang="en-US" sz="1150" i="1" dirty="0">
                <a:solidFill>
                  <a:srgbClr val="6B7187"/>
                </a:solidFill>
              </a:rPr>
              <a:t>the same AST, walked by a second back end</a:t>
            </a:r>
            <a:endParaRPr lang="en-US" sz="1150" dirty="0"/>
          </a:p>
        </p:txBody>
      </p:sp>
      <p:sp>
        <p:nvSpPr>
          <p:cNvPr id="34" name="arch-note"/>
          <p:cNvSpPr/>
          <p:nvPr/>
        </p:nvSpPr>
        <p:spPr>
          <a:xfrm>
            <a:off x="566928" y="4773168"/>
            <a:ext cx="11055096" cy="841248"/>
          </a:xfrm>
          <a:prstGeom prst="roundRect">
            <a:avLst>
              <a:gd name="adj" fmla="val 3261"/>
            </a:avLst>
          </a:prstGeom>
          <a:solidFill>
            <a:srgbClr val="171B30"/>
          </a:solidFill>
          <a:ln w="12700">
            <a:solidFill>
              <a:srgbClr val="2A3154"/>
            </a:solidFill>
            <a:prstDash val="solid"/>
          </a:ln>
        </p:spPr>
      </p:sp>
      <p:sp>
        <p:nvSpPr>
          <p:cNvPr id="35" name="Text 33"/>
          <p:cNvSpPr txBox="1"/>
          <p:nvPr/>
        </p:nvSpPr>
        <p:spPr>
          <a:xfrm>
            <a:off x="859536" y="4919472"/>
            <a:ext cx="10469880" cy="548640"/>
          </a:xfrm>
          <a:prstGeom prst="rect">
            <a:avLst/>
          </a:prstGeom>
          <a:noFill/>
          <a:ln/>
        </p:spPr>
        <p:txBody>
          <a:bodyPr wrap="square" lIns="0" tIns="0" rIns="0" bIns="0" rtlCol="0" anchor="ctr"/>
          <a:lstStyle/>
          <a:p>
            <a:pPr indent="0" marL="0">
              <a:lnSpc>
                <a:spcPct val="110000"/>
              </a:lnSpc>
              <a:buNone/>
            </a:pPr>
            <a:r>
              <a:rPr lang="en-US" sz="1300" b="1" dirty="0">
                <a:solidFill>
                  <a:srgbClr val="FFC857"/>
                </a:solidFill>
              </a:rPr>
              <a:t>Everything from source to output now works end to end.  </a:t>
            </a:r>
            <a:pPr indent="0" marL="0">
              <a:lnSpc>
                <a:spcPct val="110000"/>
              </a:lnSpc>
              <a:buNone/>
            </a:pPr>
            <a:r>
              <a:rPr lang="en-US" sz="1300" dirty="0">
                <a:solidFill>
                  <a:srgbClr val="B9BFD2"/>
                </a:solidFill>
              </a:rPr>
              <a:t>The remaining work attaches a second consumer to the existing tree rather than changing anything above it.</a:t>
            </a:r>
            <a:endParaRPr lang="en-US" sz="1300" dirty="0"/>
          </a:p>
        </p:txBody>
      </p:sp>
      <p:sp>
        <p:nvSpPr>
          <p:cNvPr id="25" name="Slide Number Placeholder 0"/>
          <p:cNvSpPr>
            <a:spLocks noGrp="1"/>
          </p:cNvSpPr>
          <p:nvPr>
            <p:ph type="sldNum" sz="quarter" idx="4294967295"/>
          </p:nvPr>
        </p:nvSpPr>
        <p:spPr>
          <a:xfrm>
            <a:off x="11164824"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87"/>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658368"/>
          </a:xfrm>
          <a:prstGeom prst="rect">
            <a:avLst/>
          </a:prstGeom>
          <a:noFill/>
          <a:ln/>
        </p:spPr>
        <p:txBody>
          <a:bodyPr wrap="square" lIns="0" tIns="0" rIns="0" bIns="0" rtlCol="0" anchor="ctr"/>
          <a:lstStyle/>
          <a:p>
            <a:pPr algn="l" indent="0" marL="0">
              <a:buNone/>
            </a:pPr>
            <a:r>
              <a:rPr lang="en-US" sz="3200" b="1" dirty="0">
                <a:solidFill>
                  <a:srgbClr val="0E1020"/>
                </a:solidFill>
                <a:latin typeface="Cambria" pitchFamily="34" charset="0"/>
                <a:ea typeface="Cambria" pitchFamily="34" charset="-122"/>
                <a:cs typeface="Cambria" pitchFamily="34" charset="-120"/>
              </a:rPr>
              <a:t>Phase 3: the parser builds the syntax tree</a:t>
            </a:r>
            <a:endParaRPr lang="en-US" sz="3200" dirty="0"/>
          </a:p>
        </p:txBody>
      </p:sp>
      <p:sp>
        <p:nvSpPr>
          <p:cNvPr id="3" name="Text 1"/>
          <p:cNvSpPr txBox="1"/>
          <p:nvPr/>
        </p:nvSpPr>
        <p:spPr>
          <a:xfrm>
            <a:off x="566928" y="1261872"/>
            <a:ext cx="4754880" cy="219456"/>
          </a:xfrm>
          <a:prstGeom prst="rect">
            <a:avLst/>
          </a:prstGeom>
          <a:noFill/>
          <a:ln/>
        </p:spPr>
        <p:txBody>
          <a:bodyPr wrap="square" lIns="0" tIns="0" rIns="0" bIns="0" rtlCol="0" anchor="ctr"/>
          <a:lstStyle/>
          <a:p>
            <a:pPr indent="0" marL="0">
              <a:buNone/>
            </a:pPr>
            <a:r>
              <a:rPr lang="en-US" sz="1000" b="1" spc="120" kern="0" dirty="0">
                <a:solidFill>
                  <a:srgbClr val="6B7187"/>
                </a:solidFill>
              </a:rPr>
              <a:t>SOURCE</a:t>
            </a:r>
            <a:endParaRPr lang="en-US" sz="1000" dirty="0"/>
          </a:p>
        </p:txBody>
      </p:sp>
      <p:sp>
        <p:nvSpPr>
          <p:cNvPr id="4" name="code-src"/>
          <p:cNvSpPr/>
          <p:nvPr/>
        </p:nvSpPr>
        <p:spPr>
          <a:xfrm>
            <a:off x="566928" y="1517904"/>
            <a:ext cx="4754880" cy="1591056"/>
          </a:xfrm>
          <a:prstGeom prst="roundRect">
            <a:avLst>
              <a:gd name="adj" fmla="val 1724"/>
            </a:avLst>
          </a:prstGeom>
          <a:solidFill>
            <a:srgbClr val="1E2340"/>
          </a:solidFill>
          <a:ln w="12700">
            <a:solidFill>
              <a:srgbClr val="1E2340"/>
            </a:solidFill>
            <a:prstDash val="solid"/>
          </a:ln>
        </p:spPr>
      </p:sp>
      <p:sp>
        <p:nvSpPr>
          <p:cNvPr id="5" name="Text 3"/>
          <p:cNvSpPr txBox="1"/>
          <p:nvPr/>
        </p:nvSpPr>
        <p:spPr>
          <a:xfrm>
            <a:off x="713232" y="1627632"/>
            <a:ext cx="4462272" cy="1371600"/>
          </a:xfrm>
          <a:prstGeom prst="rect">
            <a:avLst/>
          </a:prstGeom>
          <a:noFill/>
          <a:ln/>
        </p:spPr>
        <p:txBody>
          <a:bodyPr wrap="square" lIns="0" tIns="0" rIns="0" bIns="0" rtlCol="0" anchor="t"/>
          <a:lstStyle/>
          <a:p>
            <a:pPr algn="l" indent="0" marL="0">
              <a:lnSpc>
                <a:spcPct val="106000"/>
              </a:lnSpc>
              <a:buNone/>
            </a:pPr>
            <a:r>
              <a:rPr lang="en-US" sz="1150" dirty="0">
                <a:solidFill>
                  <a:srgbClr val="FFFFFF"/>
                </a:solidFill>
                <a:latin typeface="Courier New" pitchFamily="34" charset="0"/>
                <a:ea typeface="Courier New" pitchFamily="34" charset="-122"/>
                <a:cs typeface="Courier New" pitchFamily="34" charset="-120"/>
              </a:rPr>
              <a:t>define classify with score:</a:t>
            </a:r>
            <a:endParaRPr lang="en-US" sz="1150" dirty="0"/>
          </a:p>
          <a:p>
            <a:pPr algn="l" indent="0" marL="0">
              <a:lnSpc>
                <a:spcPct val="106000"/>
              </a:lnSpc>
              <a:buNone/>
            </a:pPr>
            <a:r>
              <a:rPr lang="en-US" sz="1150" dirty="0">
                <a:solidFill>
                  <a:srgbClr val="FFFFFF"/>
                </a:solidFill>
                <a:latin typeface="Courier New" pitchFamily="34" charset="0"/>
                <a:ea typeface="Courier New" pitchFamily="34" charset="-122"/>
                <a:cs typeface="Courier New" pitchFamily="34" charset="-120"/>
              </a:rPr>
              <a:t>    if score is at least 90:</a:t>
            </a:r>
            <a:endParaRPr lang="en-US" sz="1150" dirty="0"/>
          </a:p>
          <a:p>
            <a:pPr algn="l" indent="0" marL="0">
              <a:lnSpc>
                <a:spcPct val="106000"/>
              </a:lnSpc>
              <a:buNone/>
            </a:pPr>
            <a:r>
              <a:rPr lang="en-US" sz="1150" dirty="0">
                <a:solidFill>
                  <a:srgbClr val="FFFFFF"/>
                </a:solidFill>
                <a:latin typeface="Courier New" pitchFamily="34" charset="0"/>
                <a:ea typeface="Courier New" pitchFamily="34" charset="-122"/>
                <a:cs typeface="Courier New" pitchFamily="34" charset="-120"/>
              </a:rPr>
              <a:t>        give back "A"</a:t>
            </a:r>
            <a:endParaRPr lang="en-US" sz="1150" dirty="0"/>
          </a:p>
          <a:p>
            <a:pPr algn="l" indent="0" marL="0">
              <a:lnSpc>
                <a:spcPct val="106000"/>
              </a:lnSpc>
              <a:buNone/>
            </a:pPr>
            <a:r>
              <a:rPr lang="en-US" sz="1150" dirty="0">
                <a:solidFill>
                  <a:srgbClr val="FFFFFF"/>
                </a:solidFill>
                <a:latin typeface="Courier New" pitchFamily="34" charset="0"/>
                <a:ea typeface="Courier New" pitchFamily="34" charset="-122"/>
                <a:cs typeface="Courier New" pitchFamily="34" charset="-120"/>
              </a:rPr>
              <a:t>    otherwise:</a:t>
            </a:r>
            <a:endParaRPr lang="en-US" sz="1150" dirty="0"/>
          </a:p>
          <a:p>
            <a:pPr algn="l" indent="0" marL="0">
              <a:lnSpc>
                <a:spcPct val="106000"/>
              </a:lnSpc>
              <a:buNone/>
            </a:pPr>
            <a:r>
              <a:rPr lang="en-US" sz="1150" dirty="0">
                <a:solidFill>
                  <a:srgbClr val="FFFFFF"/>
                </a:solidFill>
                <a:latin typeface="Courier New" pitchFamily="34" charset="0"/>
                <a:ea typeface="Courier New" pitchFamily="34" charset="-122"/>
                <a:cs typeface="Courier New" pitchFamily="34" charset="-120"/>
              </a:rPr>
              <a:t>        give back "B"</a:t>
            </a:r>
            <a:endParaRPr lang="en-US" sz="1150" dirty="0"/>
          </a:p>
          <a:p>
            <a:pPr algn="l" indent="0" marL="0">
              <a:lnSpc>
                <a:spcPct val="106000"/>
              </a:lnSpc>
              <a:buNone/>
            </a:pPr>
            <a:endParaRPr lang="en-US" sz="1150" dirty="0"/>
          </a:p>
          <a:p>
            <a:pPr algn="l" indent="0" marL="0">
              <a:lnSpc>
                <a:spcPct val="106000"/>
              </a:lnSpc>
              <a:buNone/>
            </a:pPr>
            <a:r>
              <a:rPr lang="en-US" sz="1150" dirty="0">
                <a:solidFill>
                  <a:srgbClr val="FFFFFF"/>
                </a:solidFill>
                <a:latin typeface="Courier New" pitchFamily="34" charset="0"/>
                <a:ea typeface="Courier New" pitchFamily="34" charset="-122"/>
                <a:cs typeface="Courier New" pitchFamily="34" charset="-120"/>
              </a:rPr>
              <a:t>say classify(82)</a:t>
            </a:r>
            <a:endParaRPr lang="en-US" sz="1150" dirty="0"/>
          </a:p>
        </p:txBody>
      </p:sp>
      <p:sp>
        <p:nvSpPr>
          <p:cNvPr id="6" name="note-fold"/>
          <p:cNvSpPr/>
          <p:nvPr/>
        </p:nvSpPr>
        <p:spPr>
          <a:xfrm>
            <a:off x="566928" y="3291840"/>
            <a:ext cx="4754880" cy="2103120"/>
          </a:xfrm>
          <a:prstGeom prst="roundRect">
            <a:avLst>
              <a:gd name="adj" fmla="val 1304"/>
            </a:avLst>
          </a:prstGeom>
          <a:solidFill>
            <a:srgbClr val="FFFFFF"/>
          </a:solidFill>
          <a:ln w="12700">
            <a:solidFill>
              <a:srgbClr val="DDE1EC"/>
            </a:solidFill>
            <a:prstDash val="solid"/>
          </a:ln>
        </p:spPr>
      </p:sp>
      <p:sp>
        <p:nvSpPr>
          <p:cNvPr id="7" name="Text 5"/>
          <p:cNvSpPr txBox="1"/>
          <p:nvPr/>
        </p:nvSpPr>
        <p:spPr>
          <a:xfrm>
            <a:off x="804672" y="3456432"/>
            <a:ext cx="4279392" cy="512064"/>
          </a:xfrm>
          <a:prstGeom prst="rect">
            <a:avLst/>
          </a:prstGeom>
          <a:noFill/>
          <a:ln/>
        </p:spPr>
        <p:txBody>
          <a:bodyPr wrap="square" lIns="0" tIns="0" rIns="0" bIns="0" rtlCol="0" anchor="t"/>
          <a:lstStyle/>
          <a:p>
            <a:pPr indent="0" marL="0">
              <a:lnSpc>
                <a:spcPct val="100000"/>
              </a:lnSpc>
              <a:buNone/>
            </a:pPr>
            <a:r>
              <a:rPr lang="en-US" sz="1450" b="1" dirty="0">
                <a:solidFill>
                  <a:srgbClr val="0E1020"/>
                </a:solidFill>
              </a:rPr>
              <a:t>Three tokens become one operator</a:t>
            </a:r>
            <a:endParaRPr lang="en-US" sz="1450" dirty="0"/>
          </a:p>
        </p:txBody>
      </p:sp>
      <p:sp>
        <p:nvSpPr>
          <p:cNvPr id="8" name="Text 6"/>
          <p:cNvSpPr txBox="1"/>
          <p:nvPr/>
        </p:nvSpPr>
        <p:spPr>
          <a:xfrm>
            <a:off x="804672" y="4005072"/>
            <a:ext cx="4279392" cy="1280160"/>
          </a:xfrm>
          <a:prstGeom prst="rect">
            <a:avLst/>
          </a:prstGeom>
          <a:noFill/>
          <a:ln/>
        </p:spPr>
        <p:txBody>
          <a:bodyPr wrap="square" lIns="0" tIns="0" rIns="0" bIns="0" rtlCol="0" anchor="ctr"/>
          <a:lstStyle/>
          <a:p>
            <a:pPr indent="0" marL="0">
              <a:lnSpc>
                <a:spcPct val="112000"/>
              </a:lnSpc>
              <a:buNone/>
            </a:pPr>
            <a:r>
              <a:rPr lang="en-US" sz="1150" dirty="0">
                <a:solidFill>
                  <a:srgbClr val="6B7187"/>
                </a:solidFill>
              </a:rPr>
              <a:t>The lexer handed over IS, AT and LEAST separately. The parser folds them into a single comparison, deciding from the next one or two tokens — never by backtracking. The otherwise-if chain becomes a nested If, so every later stage handles only two branches.</a:t>
            </a:r>
            <a:endParaRPr lang="en-US" sz="1150" dirty="0"/>
          </a:p>
        </p:txBody>
      </p:sp>
      <p:sp>
        <p:nvSpPr>
          <p:cNvPr id="9" name="Text 7"/>
          <p:cNvSpPr txBox="1"/>
          <p:nvPr/>
        </p:nvSpPr>
        <p:spPr>
          <a:xfrm>
            <a:off x="5724144" y="1261872"/>
            <a:ext cx="5897880" cy="219456"/>
          </a:xfrm>
          <a:prstGeom prst="rect">
            <a:avLst/>
          </a:prstGeom>
          <a:noFill/>
          <a:ln/>
        </p:spPr>
        <p:txBody>
          <a:bodyPr wrap="square" lIns="0" tIns="0" rIns="0" bIns="0" rtlCol="0" anchor="ctr"/>
          <a:lstStyle/>
          <a:p>
            <a:pPr indent="0" marL="0">
              <a:buNone/>
            </a:pPr>
            <a:r>
              <a:rPr lang="en-US" sz="1000" b="1" spc="120" kern="0" dirty="0">
                <a:solidFill>
                  <a:srgbClr val="6B7187"/>
                </a:solidFill>
              </a:rPr>
              <a:t>ABSTRACT SYNTAX TREE PRODUCED</a:t>
            </a:r>
            <a:endParaRPr lang="en-US" sz="1000" dirty="0"/>
          </a:p>
        </p:txBody>
      </p:sp>
      <p:sp>
        <p:nvSpPr>
          <p:cNvPr id="10" name="code-ast"/>
          <p:cNvSpPr/>
          <p:nvPr/>
        </p:nvSpPr>
        <p:spPr>
          <a:xfrm>
            <a:off x="5724144" y="1517904"/>
            <a:ext cx="5897880" cy="3877056"/>
          </a:xfrm>
          <a:prstGeom prst="roundRect">
            <a:avLst>
              <a:gd name="adj" fmla="val 708"/>
            </a:avLst>
          </a:prstGeom>
          <a:solidFill>
            <a:srgbClr val="F2F3F8"/>
          </a:solidFill>
          <a:ln w="12700">
            <a:solidFill>
              <a:srgbClr val="E2E5EE"/>
            </a:solidFill>
            <a:prstDash val="solid"/>
          </a:ln>
        </p:spPr>
      </p:sp>
      <p:sp>
        <p:nvSpPr>
          <p:cNvPr id="11" name="Text 9"/>
          <p:cNvSpPr txBox="1"/>
          <p:nvPr/>
        </p:nvSpPr>
        <p:spPr>
          <a:xfrm>
            <a:off x="5888736" y="1645920"/>
            <a:ext cx="5568696" cy="3621024"/>
          </a:xfrm>
          <a:prstGeom prst="rect">
            <a:avLst/>
          </a:prstGeom>
          <a:noFill/>
          <a:ln/>
        </p:spPr>
        <p:txBody>
          <a:bodyPr wrap="square" lIns="0" tIns="0" rIns="0" bIns="0" rtlCol="0" anchor="t"/>
          <a:lstStyle/>
          <a:p>
            <a:pPr indent="0" marL="0">
              <a:lnSpc>
                <a:spcPct val="110000"/>
              </a:lnSpc>
              <a:buNone/>
            </a:pPr>
            <a:r>
              <a:rPr lang="en-US" sz="1200" dirty="0">
                <a:solidFill>
                  <a:srgbClr val="0E1020"/>
                </a:solidFill>
                <a:latin typeface="Courier New" pitchFamily="34" charset="0"/>
                <a:ea typeface="Courier New" pitchFamily="34" charset="-122"/>
                <a:cs typeface="Courier New" pitchFamily="34" charset="-120"/>
              </a:rPr>
              <a:t>Program</a:t>
            </a:r>
            <a:endParaRPr lang="en-US" sz="1200" dirty="0"/>
          </a:p>
          <a:p>
            <a:pPr indent="0" marL="0">
              <a:lnSpc>
                <a:spcPct val="110000"/>
              </a:lnSpc>
              <a:buNone/>
            </a:pPr>
            <a:r>
              <a:rPr lang="en-US" sz="1200" dirty="0">
                <a:solidFill>
                  <a:srgbClr val="0E1020"/>
                </a:solidFill>
                <a:latin typeface="Courier New" pitchFamily="34" charset="0"/>
                <a:ea typeface="Courier New" pitchFamily="34" charset="-122"/>
                <a:cs typeface="Courier New" pitchFamily="34" charset="-120"/>
              </a:rPr>
              <a:t>├── Function classify(score)</a:t>
            </a:r>
            <a:endParaRPr lang="en-US" sz="1200" dirty="0"/>
          </a:p>
          <a:p>
            <a:pPr indent="0" marL="0">
              <a:lnSpc>
                <a:spcPct val="110000"/>
              </a:lnSpc>
              <a:buNone/>
            </a:pPr>
            <a:r>
              <a:rPr lang="en-US" sz="1200" dirty="0">
                <a:solidFill>
                  <a:srgbClr val="6B7187"/>
                </a:solidFill>
                <a:latin typeface="Courier New" pitchFamily="34" charset="0"/>
                <a:ea typeface="Courier New" pitchFamily="34" charset="-122"/>
                <a:cs typeface="Courier New" pitchFamily="34" charset="-120"/>
              </a:rPr>
              <a:t>│   └── body</a:t>
            </a:r>
            <a:endParaRPr lang="en-US" sz="1200" dirty="0"/>
          </a:p>
          <a:p>
            <a:pPr indent="0" marL="0">
              <a:lnSpc>
                <a:spcPct val="110000"/>
              </a:lnSpc>
              <a:buNone/>
            </a:pPr>
            <a:r>
              <a:rPr lang="en-US" sz="1200" dirty="0">
                <a:solidFill>
                  <a:srgbClr val="0E1020"/>
                </a:solidFill>
                <a:latin typeface="Courier New" pitchFamily="34" charset="0"/>
                <a:ea typeface="Courier New" pitchFamily="34" charset="-122"/>
                <a:cs typeface="Courier New" pitchFamily="34" charset="-120"/>
              </a:rPr>
              <a:t>│       └── If</a:t>
            </a:r>
            <a:endParaRPr lang="en-US" sz="1200" dirty="0"/>
          </a:p>
          <a:p>
            <a:pPr indent="0" marL="0">
              <a:lnSpc>
                <a:spcPct val="110000"/>
              </a:lnSpc>
              <a:buNone/>
            </a:pPr>
            <a:r>
              <a:rPr lang="en-US" sz="1200" dirty="0">
                <a:solidFill>
                  <a:srgbClr val="6B7187"/>
                </a:solidFill>
                <a:latin typeface="Courier New" pitchFamily="34" charset="0"/>
                <a:ea typeface="Courier New" pitchFamily="34" charset="-122"/>
                <a:cs typeface="Courier New" pitchFamily="34" charset="-120"/>
              </a:rPr>
              <a:t>│           ├── condition</a:t>
            </a:r>
            <a:endParaRPr lang="en-US" sz="1200" dirty="0"/>
          </a:p>
          <a:p>
            <a:pPr indent="0" marL="0">
              <a:lnSpc>
                <a:spcPct val="110000"/>
              </a:lnSpc>
              <a:buNone/>
            </a:pPr>
            <a:r>
              <a:rPr lang="en-US" sz="1200" b="1" dirty="0">
                <a:solidFill>
                  <a:srgbClr val="7C5CFF"/>
                </a:solidFill>
                <a:latin typeface="Courier New" pitchFamily="34" charset="0"/>
                <a:ea typeface="Courier New" pitchFamily="34" charset="-122"/>
                <a:cs typeface="Courier New" pitchFamily="34" charset="-120"/>
              </a:rPr>
              <a:t>│           │   └── Binary is at least</a:t>
            </a:r>
            <a:endParaRPr lang="en-US" sz="1200" dirty="0"/>
          </a:p>
          <a:p>
            <a:pPr indent="0" marL="0">
              <a:lnSpc>
                <a:spcPct val="110000"/>
              </a:lnSpc>
              <a:buNone/>
            </a:pPr>
            <a:r>
              <a:rPr lang="en-US" sz="1200" dirty="0">
                <a:solidFill>
                  <a:srgbClr val="0E1020"/>
                </a:solidFill>
                <a:latin typeface="Courier New" pitchFamily="34" charset="0"/>
                <a:ea typeface="Courier New" pitchFamily="34" charset="-122"/>
                <a:cs typeface="Courier New" pitchFamily="34" charset="-120"/>
              </a:rPr>
              <a:t>│           │       ├── Variable score</a:t>
            </a:r>
            <a:endParaRPr lang="en-US" sz="1200" dirty="0"/>
          </a:p>
          <a:p>
            <a:pPr indent="0" marL="0">
              <a:lnSpc>
                <a:spcPct val="110000"/>
              </a:lnSpc>
              <a:buNone/>
            </a:pPr>
            <a:r>
              <a:rPr lang="en-US" sz="1200" dirty="0">
                <a:solidFill>
                  <a:srgbClr val="0E1020"/>
                </a:solidFill>
                <a:latin typeface="Courier New" pitchFamily="34" charset="0"/>
                <a:ea typeface="Courier New" pitchFamily="34" charset="-122"/>
                <a:cs typeface="Courier New" pitchFamily="34" charset="-120"/>
              </a:rPr>
              <a:t>│           │       └── Literal 90</a:t>
            </a:r>
            <a:endParaRPr lang="en-US" sz="1200" dirty="0"/>
          </a:p>
          <a:p>
            <a:pPr indent="0" marL="0">
              <a:lnSpc>
                <a:spcPct val="110000"/>
              </a:lnSpc>
              <a:buNone/>
            </a:pPr>
            <a:r>
              <a:rPr lang="en-US" sz="1200" dirty="0">
                <a:solidFill>
                  <a:srgbClr val="6B7187"/>
                </a:solidFill>
                <a:latin typeface="Courier New" pitchFamily="34" charset="0"/>
                <a:ea typeface="Courier New" pitchFamily="34" charset="-122"/>
                <a:cs typeface="Courier New" pitchFamily="34" charset="-120"/>
              </a:rPr>
              <a:t>│           ├── then</a:t>
            </a:r>
            <a:endParaRPr lang="en-US" sz="1200" dirty="0"/>
          </a:p>
          <a:p>
            <a:pPr indent="0" marL="0">
              <a:lnSpc>
                <a:spcPct val="110000"/>
              </a:lnSpc>
              <a:buNone/>
            </a:pPr>
            <a:r>
              <a:rPr lang="en-US" sz="1200" dirty="0">
                <a:solidFill>
                  <a:srgbClr val="0E1020"/>
                </a:solidFill>
                <a:latin typeface="Courier New" pitchFamily="34" charset="0"/>
                <a:ea typeface="Courier New" pitchFamily="34" charset="-122"/>
                <a:cs typeface="Courier New" pitchFamily="34" charset="-120"/>
              </a:rPr>
              <a:t>│           │   └── Return → Literal "A"</a:t>
            </a:r>
            <a:endParaRPr lang="en-US" sz="1200" dirty="0"/>
          </a:p>
          <a:p>
            <a:pPr indent="0" marL="0">
              <a:lnSpc>
                <a:spcPct val="110000"/>
              </a:lnSpc>
              <a:buNone/>
            </a:pPr>
            <a:r>
              <a:rPr lang="en-US" sz="1200" dirty="0">
                <a:solidFill>
                  <a:srgbClr val="6B7187"/>
                </a:solidFill>
                <a:latin typeface="Courier New" pitchFamily="34" charset="0"/>
                <a:ea typeface="Courier New" pitchFamily="34" charset="-122"/>
                <a:cs typeface="Courier New" pitchFamily="34" charset="-120"/>
              </a:rPr>
              <a:t>│           └── otherwise</a:t>
            </a:r>
            <a:endParaRPr lang="en-US" sz="1200" dirty="0"/>
          </a:p>
          <a:p>
            <a:pPr indent="0" marL="0">
              <a:lnSpc>
                <a:spcPct val="110000"/>
              </a:lnSpc>
              <a:buNone/>
            </a:pPr>
            <a:r>
              <a:rPr lang="en-US" sz="1200" dirty="0">
                <a:solidFill>
                  <a:srgbClr val="0E1020"/>
                </a:solidFill>
                <a:latin typeface="Courier New" pitchFamily="34" charset="0"/>
                <a:ea typeface="Courier New" pitchFamily="34" charset="-122"/>
                <a:cs typeface="Courier New" pitchFamily="34" charset="-120"/>
              </a:rPr>
              <a:t>│               └── Return → Literal "B"</a:t>
            </a:r>
            <a:endParaRPr lang="en-US" sz="1200" dirty="0"/>
          </a:p>
          <a:p>
            <a:pPr indent="0" marL="0">
              <a:lnSpc>
                <a:spcPct val="110000"/>
              </a:lnSpc>
              <a:buNone/>
            </a:pPr>
            <a:r>
              <a:rPr lang="en-US" sz="1200" dirty="0">
                <a:solidFill>
                  <a:srgbClr val="0E1020"/>
                </a:solidFill>
                <a:latin typeface="Courier New" pitchFamily="34" charset="0"/>
                <a:ea typeface="Courier New" pitchFamily="34" charset="-122"/>
                <a:cs typeface="Courier New" pitchFamily="34" charset="-120"/>
              </a:rPr>
              <a:t>└── Say</a:t>
            </a:r>
            <a:endParaRPr lang="en-US" sz="1200" dirty="0"/>
          </a:p>
          <a:p>
            <a:pPr indent="0" marL="0">
              <a:lnSpc>
                <a:spcPct val="110000"/>
              </a:lnSpc>
              <a:buNone/>
            </a:pPr>
            <a:r>
              <a:rPr lang="en-US" sz="1200" dirty="0">
                <a:solidFill>
                  <a:srgbClr val="0E1020"/>
                </a:solidFill>
                <a:latin typeface="Courier New" pitchFamily="34" charset="0"/>
                <a:ea typeface="Courier New" pitchFamily="34" charset="-122"/>
                <a:cs typeface="Courier New" pitchFamily="34" charset="-120"/>
              </a:rPr>
              <a:t>    └── Call classify ( Literal 82 )</a:t>
            </a:r>
            <a:endParaRPr lang="en-US" sz="1200" dirty="0"/>
          </a:p>
        </p:txBody>
      </p:sp>
      <p:sp>
        <p:nvSpPr>
          <p:cNvPr id="25" name="Slide Number Placeholder 0"/>
          <p:cNvSpPr>
            <a:spLocks noGrp="1"/>
          </p:cNvSpPr>
          <p:nvPr>
            <p:ph type="sldNum" sz="quarter" idx="4294967295"/>
          </p:nvPr>
        </p:nvSpPr>
        <p:spPr>
          <a:xfrm>
            <a:off x="11164824"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87"/>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658368"/>
          </a:xfrm>
          <a:prstGeom prst="rect">
            <a:avLst/>
          </a:prstGeom>
          <a:noFill/>
          <a:ln/>
        </p:spPr>
        <p:txBody>
          <a:bodyPr wrap="square" lIns="0" tIns="0" rIns="0" bIns="0" rtlCol="0" anchor="ctr"/>
          <a:lstStyle/>
          <a:p>
            <a:pPr algn="l" indent="0" marL="0">
              <a:buNone/>
            </a:pPr>
            <a:r>
              <a:rPr lang="en-US" sz="3200" b="1" dirty="0">
                <a:solidFill>
                  <a:srgbClr val="0E1020"/>
                </a:solidFill>
                <a:latin typeface="Cambria" pitchFamily="34" charset="0"/>
                <a:ea typeface="Cambria" pitchFamily="34" charset="-122"/>
                <a:cs typeface="Cambria" pitchFamily="34" charset="-120"/>
              </a:rPr>
              <a:t>A real grammar ambiguity, and how it is resolved</a:t>
            </a:r>
            <a:endParaRPr lang="en-US" sz="3200" dirty="0"/>
          </a:p>
        </p:txBody>
      </p:sp>
      <p:sp>
        <p:nvSpPr>
          <p:cNvPr id="3" name="amb-q"/>
          <p:cNvSpPr/>
          <p:nvPr/>
        </p:nvSpPr>
        <p:spPr>
          <a:xfrm>
            <a:off x="566928" y="1280160"/>
            <a:ext cx="11055096" cy="768096"/>
          </a:xfrm>
          <a:prstGeom prst="roundRect">
            <a:avLst>
              <a:gd name="adj" fmla="val 3571"/>
            </a:avLst>
          </a:prstGeom>
          <a:solidFill>
            <a:srgbClr val="1E2340"/>
          </a:solidFill>
          <a:ln w="12700">
            <a:solidFill>
              <a:srgbClr val="1E2340"/>
            </a:solidFill>
            <a:prstDash val="solid"/>
          </a:ln>
        </p:spPr>
      </p:sp>
      <p:sp>
        <p:nvSpPr>
          <p:cNvPr id="4" name="Text 2"/>
          <p:cNvSpPr txBox="1"/>
          <p:nvPr/>
        </p:nvSpPr>
        <p:spPr>
          <a:xfrm>
            <a:off x="841248" y="1389888"/>
            <a:ext cx="10506456" cy="548640"/>
          </a:xfrm>
          <a:prstGeom prst="rect">
            <a:avLst/>
          </a:prstGeom>
          <a:noFill/>
          <a:ln/>
        </p:spPr>
        <p:txBody>
          <a:bodyPr wrap="square" lIns="0" tIns="0" rIns="0" bIns="0" rtlCol="0" anchor="ctr"/>
          <a:lstStyle/>
          <a:p>
            <a:pPr indent="0" marL="0">
              <a:lnSpc>
                <a:spcPct val="110000"/>
              </a:lnSpc>
              <a:buNone/>
            </a:pPr>
            <a:r>
              <a:rPr lang="en-US" sz="1300" b="1" dirty="0">
                <a:solidFill>
                  <a:srgbClr val="FFC857"/>
                </a:solidFill>
              </a:rPr>
              <a:t>The problem:  </a:t>
            </a:r>
            <a:pPr indent="0" marL="0">
              <a:lnSpc>
                <a:spcPct val="110000"/>
              </a:lnSpc>
              <a:buNone/>
            </a:pPr>
            <a:r>
              <a:rPr lang="en-US" sz="1300" dirty="0">
                <a:solidFill>
                  <a:srgbClr val="FFFFFF"/>
                </a:solidFill>
              </a:rPr>
              <a:t>"times" is both the multiplication operator (3 times 4) and part of the count loop (repeat 3 times:). In "repeat n times:", is "n times" the start of a multiplication?</a:t>
            </a:r>
            <a:endParaRPr lang="en-US" sz="1300" dirty="0"/>
          </a:p>
        </p:txBody>
      </p:sp>
      <p:sp>
        <p:nvSpPr>
          <p:cNvPr id="5" name="Text 3"/>
          <p:cNvSpPr txBox="1"/>
          <p:nvPr/>
        </p:nvSpPr>
        <p:spPr>
          <a:xfrm>
            <a:off x="566928" y="2249424"/>
            <a:ext cx="5326380" cy="219456"/>
          </a:xfrm>
          <a:prstGeom prst="rect">
            <a:avLst/>
          </a:prstGeom>
          <a:noFill/>
          <a:ln/>
        </p:spPr>
        <p:txBody>
          <a:bodyPr wrap="square" lIns="0" tIns="0" rIns="0" bIns="0" rtlCol="0" anchor="ctr"/>
          <a:lstStyle/>
          <a:p>
            <a:pPr indent="0" marL="0">
              <a:buNone/>
            </a:pPr>
            <a:r>
              <a:rPr lang="en-US" sz="1000" b="1" spc="120" kern="0" dirty="0">
                <a:solidFill>
                  <a:srgbClr val="6B7187"/>
                </a:solidFill>
              </a:rPr>
              <a:t>BOTH READINGS ARE GRAMMATICAL</a:t>
            </a:r>
            <a:endParaRPr lang="en-US" sz="1000" dirty="0"/>
          </a:p>
        </p:txBody>
      </p:sp>
      <p:sp>
        <p:nvSpPr>
          <p:cNvPr id="6" name="code-amb"/>
          <p:cNvSpPr/>
          <p:nvPr/>
        </p:nvSpPr>
        <p:spPr>
          <a:xfrm>
            <a:off x="566928" y="2505456"/>
            <a:ext cx="5326380" cy="1609344"/>
          </a:xfrm>
          <a:prstGeom prst="roundRect">
            <a:avLst>
              <a:gd name="adj" fmla="val 1705"/>
            </a:avLst>
          </a:prstGeom>
          <a:solidFill>
            <a:srgbClr val="F2F3F8"/>
          </a:solidFill>
          <a:ln w="12700">
            <a:solidFill>
              <a:srgbClr val="E2E5EE"/>
            </a:solidFill>
            <a:prstDash val="solid"/>
          </a:ln>
        </p:spPr>
      </p:sp>
      <p:sp>
        <p:nvSpPr>
          <p:cNvPr id="7" name="Text 5"/>
          <p:cNvSpPr txBox="1"/>
          <p:nvPr/>
        </p:nvSpPr>
        <p:spPr>
          <a:xfrm>
            <a:off x="713232" y="2615184"/>
            <a:ext cx="5033772" cy="1389888"/>
          </a:xfrm>
          <a:prstGeom prst="rect">
            <a:avLst/>
          </a:prstGeom>
          <a:noFill/>
          <a:ln/>
        </p:spPr>
        <p:txBody>
          <a:bodyPr wrap="square" lIns="0" tIns="0" rIns="0" bIns="0" rtlCol="0" anchor="t"/>
          <a:lstStyle/>
          <a:p>
            <a:pPr algn="l" indent="0" marL="0">
              <a:lnSpc>
                <a:spcPct val="106000"/>
              </a:lnSpc>
              <a:buNone/>
            </a:pPr>
            <a:r>
              <a:rPr lang="en-US" sz="1150" dirty="0">
                <a:solidFill>
                  <a:srgbClr val="0E1020"/>
                </a:solidFill>
                <a:latin typeface="Courier New" pitchFamily="34" charset="0"/>
                <a:ea typeface="Courier New" pitchFamily="34" charset="-122"/>
                <a:cs typeface="Courier New" pitchFamily="34" charset="-120"/>
              </a:rPr>
              <a:t>repeat 3 times:          &lt;- a loop</a:t>
            </a:r>
            <a:endParaRPr lang="en-US" sz="1150" dirty="0"/>
          </a:p>
          <a:p>
            <a:pPr algn="l" indent="0" marL="0">
              <a:lnSpc>
                <a:spcPct val="106000"/>
              </a:lnSpc>
              <a:buNone/>
            </a:pPr>
            <a:r>
              <a:rPr lang="en-US" sz="1150" dirty="0">
                <a:solidFill>
                  <a:srgbClr val="0E1020"/>
                </a:solidFill>
                <a:latin typeface="Courier New" pitchFamily="34" charset="0"/>
                <a:ea typeface="Courier New" pitchFamily="34" charset="-122"/>
                <a:cs typeface="Courier New" pitchFamily="34" charset="-120"/>
              </a:rPr>
              <a:t>    say "hello"</a:t>
            </a:r>
            <a:endParaRPr lang="en-US" sz="1150" dirty="0"/>
          </a:p>
          <a:p>
            <a:pPr algn="l" indent="0" marL="0">
              <a:lnSpc>
                <a:spcPct val="106000"/>
              </a:lnSpc>
              <a:buNone/>
            </a:pPr>
            <a:endParaRPr lang="en-US" sz="1150" dirty="0"/>
          </a:p>
          <a:p>
            <a:pPr algn="l" indent="0" marL="0">
              <a:lnSpc>
                <a:spcPct val="106000"/>
              </a:lnSpc>
              <a:buNone/>
            </a:pPr>
            <a:r>
              <a:rPr lang="en-US" sz="1150" dirty="0">
                <a:solidFill>
                  <a:srgbClr val="0E1020"/>
                </a:solidFill>
                <a:latin typeface="Courier New" pitchFamily="34" charset="0"/>
                <a:ea typeface="Courier New" pitchFamily="34" charset="-122"/>
                <a:cs typeface="Courier New" pitchFamily="34" charset="-120"/>
              </a:rPr>
              <a:t>set total to 3 times 4   &lt;- multiplication</a:t>
            </a:r>
            <a:endParaRPr lang="en-US" sz="1150" dirty="0"/>
          </a:p>
          <a:p>
            <a:pPr algn="l" indent="0" marL="0">
              <a:lnSpc>
                <a:spcPct val="106000"/>
              </a:lnSpc>
              <a:buNone/>
            </a:pPr>
            <a:endParaRPr lang="en-US" sz="1150" dirty="0"/>
          </a:p>
          <a:p>
            <a:pPr algn="l" indent="0" marL="0">
              <a:lnSpc>
                <a:spcPct val="106000"/>
              </a:lnSpc>
              <a:buNone/>
            </a:pPr>
            <a:r>
              <a:rPr lang="en-US" sz="1150" dirty="0">
                <a:solidFill>
                  <a:srgbClr val="0E1020"/>
                </a:solidFill>
                <a:latin typeface="Courier New" pitchFamily="34" charset="0"/>
                <a:ea typeface="Courier New" pitchFamily="34" charset="-122"/>
                <a:cs typeface="Courier New" pitchFamily="34" charset="-120"/>
              </a:rPr>
              <a:t>repeat rows * cols times:</a:t>
            </a:r>
            <a:endParaRPr lang="en-US" sz="1150" dirty="0"/>
          </a:p>
          <a:p>
            <a:pPr algn="l" indent="0" marL="0">
              <a:lnSpc>
                <a:spcPct val="106000"/>
              </a:lnSpc>
              <a:buNone/>
            </a:pPr>
            <a:r>
              <a:rPr lang="en-US" sz="1150" dirty="0">
                <a:solidFill>
                  <a:srgbClr val="0E1020"/>
                </a:solidFill>
                <a:latin typeface="Courier New" pitchFamily="34" charset="0"/>
                <a:ea typeface="Courier New" pitchFamily="34" charset="-122"/>
                <a:cs typeface="Courier New" pitchFamily="34" charset="-120"/>
              </a:rPr>
              <a:t>    say "still a loop"</a:t>
            </a:r>
            <a:endParaRPr lang="en-US" sz="1150" dirty="0"/>
          </a:p>
        </p:txBody>
      </p:sp>
      <p:sp>
        <p:nvSpPr>
          <p:cNvPr id="8" name="Text 6"/>
          <p:cNvSpPr txBox="1"/>
          <p:nvPr/>
        </p:nvSpPr>
        <p:spPr>
          <a:xfrm>
            <a:off x="6295644" y="2249424"/>
            <a:ext cx="5326380" cy="219456"/>
          </a:xfrm>
          <a:prstGeom prst="rect">
            <a:avLst/>
          </a:prstGeom>
          <a:noFill/>
          <a:ln/>
        </p:spPr>
        <p:txBody>
          <a:bodyPr wrap="square" lIns="0" tIns="0" rIns="0" bIns="0" rtlCol="0" anchor="ctr"/>
          <a:lstStyle/>
          <a:p>
            <a:pPr indent="0" marL="0">
              <a:buNone/>
            </a:pPr>
            <a:r>
              <a:rPr lang="en-US" sz="1000" b="1" spc="120" kern="0" dirty="0">
                <a:solidFill>
                  <a:srgbClr val="6B7187"/>
                </a:solidFill>
              </a:rPr>
              <a:t>THE RESOLUTION</a:t>
            </a:r>
            <a:endParaRPr lang="en-US" sz="1000" dirty="0"/>
          </a:p>
        </p:txBody>
      </p:sp>
      <p:sp>
        <p:nvSpPr>
          <p:cNvPr id="9" name="amb-fix"/>
          <p:cNvSpPr/>
          <p:nvPr/>
        </p:nvSpPr>
        <p:spPr>
          <a:xfrm>
            <a:off x="6295644" y="2505456"/>
            <a:ext cx="5326380" cy="1609344"/>
          </a:xfrm>
          <a:prstGeom prst="roundRect">
            <a:avLst>
              <a:gd name="adj" fmla="val 1705"/>
            </a:avLst>
          </a:prstGeom>
          <a:solidFill>
            <a:srgbClr val="FFFFFF"/>
          </a:solidFill>
          <a:ln w="12700">
            <a:solidFill>
              <a:srgbClr val="DDE1EC"/>
            </a:solidFill>
            <a:prstDash val="solid"/>
          </a:ln>
        </p:spPr>
      </p:sp>
      <p:sp>
        <p:nvSpPr>
          <p:cNvPr id="10" name="Text 8"/>
          <p:cNvSpPr txBox="1"/>
          <p:nvPr/>
        </p:nvSpPr>
        <p:spPr>
          <a:xfrm>
            <a:off x="6533388" y="2688336"/>
            <a:ext cx="4850892" cy="1280160"/>
          </a:xfrm>
          <a:prstGeom prst="rect">
            <a:avLst/>
          </a:prstGeom>
          <a:noFill/>
          <a:ln/>
        </p:spPr>
        <p:txBody>
          <a:bodyPr wrap="square" lIns="0" tIns="0" rIns="0" bIns="0" rtlCol="0" anchor="ctr"/>
          <a:lstStyle/>
          <a:p>
            <a:pPr marL="342900" indent="-342900">
              <a:lnSpc>
                <a:spcPct val="112000"/>
              </a:lnSpc>
              <a:spcAft>
                <a:spcPts val="900"/>
              </a:spcAft>
              <a:buSzPct val="100000"/>
              <a:buChar char="•"/>
            </a:pPr>
            <a:r>
              <a:rPr lang="en-US" sz="1200" dirty="0">
                <a:solidFill>
                  <a:srgbClr val="6B7187"/>
                </a:solidFill>
              </a:rPr>
              <a:t>The word "times" is suppressed as an operator while, and only while, the count of a repeat is being read.</a:t>
            </a:r>
            <a:endParaRPr lang="en-US" sz="1200" dirty="0"/>
          </a:p>
          <a:p>
            <a:pPr marL="342900" indent="-342900">
              <a:lnSpc>
                <a:spcPct val="112000"/>
              </a:lnSpc>
              <a:spcAft>
                <a:spcPts val="900"/>
              </a:spcAft>
              <a:buSzPct val="100000"/>
              <a:buChar char="•"/>
            </a:pPr>
            <a:r>
              <a:rPr lang="en-US" sz="1200" dirty="0">
                <a:solidFill>
                  <a:srgbClr val="6B7187"/>
                </a:solidFill>
              </a:rPr>
              <a:t>The symbol "*" is a different token and is never suppressed — so the third example above still parses, giving an escape hatch for the case the rule takes away.</a:t>
            </a:r>
            <a:endParaRPr lang="en-US" sz="1200" dirty="0"/>
          </a:p>
        </p:txBody>
      </p:sp>
      <p:sp>
        <p:nvSpPr>
          <p:cNvPr id="11" name="amb-why"/>
          <p:cNvSpPr/>
          <p:nvPr/>
        </p:nvSpPr>
        <p:spPr>
          <a:xfrm>
            <a:off x="566928" y="4370832"/>
            <a:ext cx="11055096" cy="1024128"/>
          </a:xfrm>
          <a:prstGeom prst="roundRect">
            <a:avLst>
              <a:gd name="adj" fmla="val 2679"/>
            </a:avLst>
          </a:prstGeom>
          <a:solidFill>
            <a:srgbClr val="F2F3F8"/>
          </a:solidFill>
          <a:ln w="12700">
            <a:solidFill>
              <a:srgbClr val="E2E5EE"/>
            </a:solidFill>
            <a:prstDash val="solid"/>
          </a:ln>
        </p:spPr>
      </p:sp>
      <p:sp>
        <p:nvSpPr>
          <p:cNvPr id="12" name="sticky-mark"/>
          <p:cNvSpPr/>
          <p:nvPr/>
        </p:nvSpPr>
        <p:spPr>
          <a:xfrm rot="21120000">
            <a:off x="877824" y="4718304"/>
            <a:ext cx="201168" cy="201168"/>
          </a:xfrm>
          <a:prstGeom prst="roundRect">
            <a:avLst>
              <a:gd name="adj" fmla="val 18182"/>
            </a:avLst>
          </a:prstGeom>
          <a:solidFill>
            <a:srgbClr val="FFC857"/>
          </a:solidFill>
          <a:ln w="12700">
            <a:solidFill>
              <a:srgbClr val="FFC857"/>
            </a:solidFill>
            <a:prstDash val="solid"/>
          </a:ln>
        </p:spPr>
      </p:sp>
      <p:sp>
        <p:nvSpPr>
          <p:cNvPr id="13" name="Text 11"/>
          <p:cNvSpPr txBox="1"/>
          <p:nvPr/>
        </p:nvSpPr>
        <p:spPr>
          <a:xfrm>
            <a:off x="1335024" y="4535424"/>
            <a:ext cx="9957816" cy="694944"/>
          </a:xfrm>
          <a:prstGeom prst="rect">
            <a:avLst/>
          </a:prstGeom>
          <a:noFill/>
          <a:ln/>
        </p:spPr>
        <p:txBody>
          <a:bodyPr wrap="square" lIns="0" tIns="0" rIns="0" bIns="0" rtlCol="0" anchor="ctr"/>
          <a:lstStyle/>
          <a:p>
            <a:pPr indent="0" marL="0">
              <a:lnSpc>
                <a:spcPct val="115000"/>
              </a:lnSpc>
              <a:buNone/>
            </a:pPr>
            <a:r>
              <a:rPr lang="en-US" sz="1300" dirty="0">
                <a:solidFill>
                  <a:srgbClr val="0E1020"/>
                </a:solidFill>
              </a:rPr>
              <a:t>This is the only ambiguity in the grammar, and it is a direct consequence of combining phrase-based operators with keyword-led statements. Finding it was the main design work of this phase.</a:t>
            </a:r>
            <a:endParaRPr lang="en-US" sz="1300" dirty="0"/>
          </a:p>
        </p:txBody>
      </p:sp>
      <p:sp>
        <p:nvSpPr>
          <p:cNvPr id="25" name="Slide Number Placeholder 0"/>
          <p:cNvSpPr>
            <a:spLocks noGrp="1"/>
          </p:cNvSpPr>
          <p:nvPr>
            <p:ph type="sldNum" sz="quarter" idx="4294967295"/>
          </p:nvPr>
        </p:nvSpPr>
        <p:spPr>
          <a:xfrm>
            <a:off x="11164824"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87"/>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658368"/>
          </a:xfrm>
          <a:prstGeom prst="rect">
            <a:avLst/>
          </a:prstGeom>
          <a:noFill/>
          <a:ln/>
        </p:spPr>
        <p:txBody>
          <a:bodyPr wrap="square" lIns="0" tIns="0" rIns="0" bIns="0" rtlCol="0" anchor="ctr"/>
          <a:lstStyle/>
          <a:p>
            <a:pPr algn="l" indent="0" marL="0">
              <a:buNone/>
            </a:pPr>
            <a:r>
              <a:rPr lang="en-US" sz="3200" b="1" dirty="0">
                <a:solidFill>
                  <a:srgbClr val="0E1020"/>
                </a:solidFill>
                <a:latin typeface="Cambria" pitchFamily="34" charset="0"/>
                <a:ea typeface="Cambria" pitchFamily="34" charset="-122"/>
                <a:cs typeface="Cambria" pitchFamily="34" charset="-120"/>
              </a:rPr>
              <a:t>Phase 4: scope handling and the interpreter</a:t>
            </a:r>
            <a:endParaRPr lang="en-US" sz="3200" dirty="0"/>
          </a:p>
        </p:txBody>
      </p:sp>
      <p:sp>
        <p:nvSpPr>
          <p:cNvPr id="3" name="Text 1"/>
          <p:cNvSpPr txBox="1"/>
          <p:nvPr/>
        </p:nvSpPr>
        <p:spPr>
          <a:xfrm>
            <a:off x="566928" y="1261872"/>
            <a:ext cx="5486400" cy="219456"/>
          </a:xfrm>
          <a:prstGeom prst="rect">
            <a:avLst/>
          </a:prstGeom>
          <a:noFill/>
          <a:ln/>
        </p:spPr>
        <p:txBody>
          <a:bodyPr wrap="square" lIns="0" tIns="0" rIns="0" bIns="0" rtlCol="0" anchor="ctr"/>
          <a:lstStyle/>
          <a:p>
            <a:pPr indent="0" marL="0">
              <a:buNone/>
            </a:pPr>
            <a:r>
              <a:rPr lang="en-US" sz="1000" b="1" spc="120" kern="0" dirty="0">
                <a:solidFill>
                  <a:srgbClr val="6B7187"/>
                </a:solidFill>
              </a:rPr>
              <a:t>THE SCOPE CHAIN</a:t>
            </a:r>
            <a:endParaRPr lang="en-US" sz="1000" dirty="0"/>
          </a:p>
        </p:txBody>
      </p:sp>
      <p:sp>
        <p:nvSpPr>
          <p:cNvPr id="4" name="scope-0"/>
          <p:cNvSpPr/>
          <p:nvPr/>
        </p:nvSpPr>
        <p:spPr>
          <a:xfrm>
            <a:off x="566928" y="1536192"/>
            <a:ext cx="5486400" cy="713232"/>
          </a:xfrm>
          <a:prstGeom prst="roundRect">
            <a:avLst>
              <a:gd name="adj" fmla="val 3846"/>
            </a:avLst>
          </a:prstGeom>
          <a:solidFill>
            <a:srgbClr val="FFFFFF"/>
          </a:solidFill>
          <a:ln w="12700">
            <a:solidFill>
              <a:srgbClr val="DDE1EC"/>
            </a:solidFill>
            <a:prstDash val="solid"/>
          </a:ln>
        </p:spPr>
      </p:sp>
      <p:sp>
        <p:nvSpPr>
          <p:cNvPr id="5" name="Text 3"/>
          <p:cNvSpPr txBox="1"/>
          <p:nvPr/>
        </p:nvSpPr>
        <p:spPr>
          <a:xfrm>
            <a:off x="768096" y="1609344"/>
            <a:ext cx="5084064" cy="274320"/>
          </a:xfrm>
          <a:prstGeom prst="rect">
            <a:avLst/>
          </a:prstGeom>
          <a:noFill/>
          <a:ln/>
        </p:spPr>
        <p:txBody>
          <a:bodyPr wrap="square" lIns="0" tIns="0" rIns="0" bIns="0" rtlCol="0" anchor="ctr"/>
          <a:lstStyle/>
          <a:p>
            <a:pPr indent="0" marL="0">
              <a:buNone/>
            </a:pPr>
            <a:r>
              <a:rPr lang="en-US" sz="1350" b="1" dirty="0">
                <a:solidFill>
                  <a:srgbClr val="0E1020"/>
                </a:solidFill>
                <a:latin typeface="Courier New" pitchFamily="34" charset="0"/>
                <a:ea typeface="Courier New" pitchFamily="34" charset="-122"/>
                <a:cs typeface="Courier New" pitchFamily="34" charset="-120"/>
              </a:rPr>
              <a:t>global</a:t>
            </a:r>
            <a:endParaRPr lang="en-US" sz="1350" dirty="0"/>
          </a:p>
        </p:txBody>
      </p:sp>
      <p:sp>
        <p:nvSpPr>
          <p:cNvPr id="6" name="Text 4"/>
          <p:cNvSpPr txBox="1"/>
          <p:nvPr/>
        </p:nvSpPr>
        <p:spPr>
          <a:xfrm>
            <a:off x="768096" y="1883664"/>
            <a:ext cx="5084064" cy="256032"/>
          </a:xfrm>
          <a:prstGeom prst="rect">
            <a:avLst/>
          </a:prstGeom>
          <a:noFill/>
          <a:ln/>
        </p:spPr>
        <p:txBody>
          <a:bodyPr wrap="square" lIns="0" tIns="0" rIns="0" bIns="0" rtlCol="0" anchor="ctr"/>
          <a:lstStyle/>
          <a:p>
            <a:pPr indent="0" marL="0">
              <a:buNone/>
            </a:pPr>
            <a:r>
              <a:rPr lang="en-US" sz="1100" dirty="0">
                <a:solidFill>
                  <a:srgbClr val="6B7187"/>
                </a:solidFill>
              </a:rPr>
              <a:t>built-ins, top-level names</a:t>
            </a:r>
            <a:endParaRPr lang="en-US" sz="1100" dirty="0"/>
          </a:p>
        </p:txBody>
      </p:sp>
      <p:sp>
        <p:nvSpPr>
          <p:cNvPr id="7" name="scope-1"/>
          <p:cNvSpPr/>
          <p:nvPr/>
        </p:nvSpPr>
        <p:spPr>
          <a:xfrm>
            <a:off x="1024128" y="2377440"/>
            <a:ext cx="5029200" cy="713232"/>
          </a:xfrm>
          <a:prstGeom prst="roundRect">
            <a:avLst>
              <a:gd name="adj" fmla="val 3846"/>
            </a:avLst>
          </a:prstGeom>
          <a:solidFill>
            <a:srgbClr val="FFFFFF"/>
          </a:solidFill>
          <a:ln w="12700">
            <a:solidFill>
              <a:srgbClr val="DDE1EC"/>
            </a:solidFill>
            <a:prstDash val="solid"/>
          </a:ln>
        </p:spPr>
      </p:sp>
      <p:sp>
        <p:nvSpPr>
          <p:cNvPr id="8" name="Text 6"/>
          <p:cNvSpPr txBox="1"/>
          <p:nvPr/>
        </p:nvSpPr>
        <p:spPr>
          <a:xfrm>
            <a:off x="1225296" y="2450592"/>
            <a:ext cx="4626864" cy="274320"/>
          </a:xfrm>
          <a:prstGeom prst="rect">
            <a:avLst/>
          </a:prstGeom>
          <a:noFill/>
          <a:ln/>
        </p:spPr>
        <p:txBody>
          <a:bodyPr wrap="square" lIns="0" tIns="0" rIns="0" bIns="0" rtlCol="0" anchor="ctr"/>
          <a:lstStyle/>
          <a:p>
            <a:pPr indent="0" marL="0">
              <a:buNone/>
            </a:pPr>
            <a:r>
              <a:rPr lang="en-US" sz="1350" b="1" dirty="0">
                <a:solidFill>
                  <a:srgbClr val="0E1020"/>
                </a:solidFill>
                <a:latin typeface="Courier New" pitchFamily="34" charset="0"/>
                <a:ea typeface="Courier New" pitchFamily="34" charset="-122"/>
                <a:cs typeface="Courier New" pitchFamily="34" charset="-120"/>
              </a:rPr>
              <a:t>make_counter</a:t>
            </a:r>
            <a:endParaRPr lang="en-US" sz="1350" dirty="0"/>
          </a:p>
        </p:txBody>
      </p:sp>
      <p:sp>
        <p:nvSpPr>
          <p:cNvPr id="9" name="Text 7"/>
          <p:cNvSpPr txBox="1"/>
          <p:nvPr/>
        </p:nvSpPr>
        <p:spPr>
          <a:xfrm>
            <a:off x="1225296" y="2724912"/>
            <a:ext cx="4626864" cy="256032"/>
          </a:xfrm>
          <a:prstGeom prst="rect">
            <a:avLst/>
          </a:prstGeom>
          <a:noFill/>
          <a:ln/>
        </p:spPr>
        <p:txBody>
          <a:bodyPr wrap="square" lIns="0" tIns="0" rIns="0" bIns="0" rtlCol="0" anchor="ctr"/>
          <a:lstStyle/>
          <a:p>
            <a:pPr indent="0" marL="0">
              <a:buNone/>
            </a:pPr>
            <a:r>
              <a:rPr lang="en-US" sz="1100" dirty="0">
                <a:solidFill>
                  <a:srgbClr val="6B7187"/>
                </a:solidFill>
              </a:rPr>
              <a:t>count</a:t>
            </a:r>
            <a:endParaRPr lang="en-US" sz="1100" dirty="0"/>
          </a:p>
        </p:txBody>
      </p:sp>
      <p:sp>
        <p:nvSpPr>
          <p:cNvPr id="10" name="scope-2"/>
          <p:cNvSpPr/>
          <p:nvPr/>
        </p:nvSpPr>
        <p:spPr>
          <a:xfrm>
            <a:off x="1481328" y="3218688"/>
            <a:ext cx="4572000" cy="713232"/>
          </a:xfrm>
          <a:prstGeom prst="roundRect">
            <a:avLst>
              <a:gd name="adj" fmla="val 3846"/>
            </a:avLst>
          </a:prstGeom>
          <a:solidFill>
            <a:srgbClr val="F2F3F8"/>
          </a:solidFill>
          <a:ln w="12700">
            <a:solidFill>
              <a:srgbClr val="DDE1EC"/>
            </a:solidFill>
            <a:prstDash val="solid"/>
          </a:ln>
        </p:spPr>
      </p:sp>
      <p:sp>
        <p:nvSpPr>
          <p:cNvPr id="11" name="Text 9"/>
          <p:cNvSpPr txBox="1"/>
          <p:nvPr/>
        </p:nvSpPr>
        <p:spPr>
          <a:xfrm>
            <a:off x="1682496" y="3291840"/>
            <a:ext cx="4169664" cy="274320"/>
          </a:xfrm>
          <a:prstGeom prst="rect">
            <a:avLst/>
          </a:prstGeom>
          <a:noFill/>
          <a:ln/>
        </p:spPr>
        <p:txBody>
          <a:bodyPr wrap="square" lIns="0" tIns="0" rIns="0" bIns="0" rtlCol="0" anchor="ctr"/>
          <a:lstStyle/>
          <a:p>
            <a:pPr indent="0" marL="0">
              <a:buNone/>
            </a:pPr>
            <a:r>
              <a:rPr lang="en-US" sz="1350" b="1" dirty="0">
                <a:solidFill>
                  <a:srgbClr val="0E1020"/>
                </a:solidFill>
                <a:latin typeface="Courier New" pitchFamily="34" charset="0"/>
                <a:ea typeface="Courier New" pitchFamily="34" charset="-122"/>
                <a:cs typeface="Courier New" pitchFamily="34" charset="-120"/>
              </a:rPr>
              <a:t>step</a:t>
            </a:r>
            <a:endParaRPr lang="en-US" sz="1350" dirty="0"/>
          </a:p>
        </p:txBody>
      </p:sp>
      <p:sp>
        <p:nvSpPr>
          <p:cNvPr id="12" name="Text 10"/>
          <p:cNvSpPr txBox="1"/>
          <p:nvPr/>
        </p:nvSpPr>
        <p:spPr>
          <a:xfrm>
            <a:off x="1682496" y="3566160"/>
            <a:ext cx="4169664" cy="256032"/>
          </a:xfrm>
          <a:prstGeom prst="rect">
            <a:avLst/>
          </a:prstGeom>
          <a:noFill/>
          <a:ln/>
        </p:spPr>
        <p:txBody>
          <a:bodyPr wrap="square" lIns="0" tIns="0" rIns="0" bIns="0" rtlCol="0" anchor="ctr"/>
          <a:lstStyle/>
          <a:p>
            <a:pPr indent="0" marL="0">
              <a:buNone/>
            </a:pPr>
            <a:r>
              <a:rPr lang="en-US" sz="1100" dirty="0">
                <a:solidFill>
                  <a:srgbClr val="6B7187"/>
                </a:solidFill>
              </a:rPr>
              <a:t>(sees count through its parent)</a:t>
            </a:r>
            <a:endParaRPr lang="en-US" sz="1100" dirty="0"/>
          </a:p>
        </p:txBody>
      </p:sp>
      <p:sp>
        <p:nvSpPr>
          <p:cNvPr id="13" name="Text 11"/>
          <p:cNvSpPr txBox="1"/>
          <p:nvPr/>
        </p:nvSpPr>
        <p:spPr>
          <a:xfrm>
            <a:off x="566928" y="4114800"/>
            <a:ext cx="5486400" cy="914400"/>
          </a:xfrm>
          <a:prstGeom prst="rect">
            <a:avLst/>
          </a:prstGeom>
          <a:noFill/>
          <a:ln/>
        </p:spPr>
        <p:txBody>
          <a:bodyPr wrap="square" lIns="0" tIns="0" rIns="0" bIns="0" rtlCol="0" anchor="ctr"/>
          <a:lstStyle/>
          <a:p>
            <a:pPr indent="0" marL="0">
              <a:lnSpc>
                <a:spcPct val="115000"/>
              </a:lnSpc>
              <a:buNone/>
            </a:pPr>
            <a:r>
              <a:rPr lang="en-US" sz="1200" dirty="0">
                <a:solidFill>
                  <a:srgbClr val="6B7187"/>
                </a:solidFill>
              </a:rPr>
              <a:t>A name is looked up here, then outwards. "set" creates in the current block; "change" updates the nearest existing one — which is what lets a mistyped name be reported instead of silently creating a second variable.</a:t>
            </a:r>
            <a:endParaRPr lang="en-US" sz="1200" dirty="0"/>
          </a:p>
        </p:txBody>
      </p:sp>
      <p:sp>
        <p:nvSpPr>
          <p:cNvPr id="14" name="Text 12"/>
          <p:cNvSpPr txBox="1"/>
          <p:nvPr/>
        </p:nvSpPr>
        <p:spPr>
          <a:xfrm>
            <a:off x="6455664" y="1261872"/>
            <a:ext cx="5166360" cy="219456"/>
          </a:xfrm>
          <a:prstGeom prst="rect">
            <a:avLst/>
          </a:prstGeom>
          <a:noFill/>
          <a:ln/>
        </p:spPr>
        <p:txBody>
          <a:bodyPr wrap="square" lIns="0" tIns="0" rIns="0" bIns="0" rtlCol="0" anchor="ctr"/>
          <a:lstStyle/>
          <a:p>
            <a:pPr indent="0" marL="0">
              <a:buNone/>
            </a:pPr>
            <a:r>
              <a:rPr lang="en-US" sz="1000" b="1" spc="120" kern="0" dirty="0">
                <a:solidFill>
                  <a:srgbClr val="6B7187"/>
                </a:solidFill>
              </a:rPr>
              <a:t>CLOSURES: A DEFINITION KEEPS ITS SCOPE</a:t>
            </a:r>
            <a:endParaRPr lang="en-US" sz="1000" dirty="0"/>
          </a:p>
        </p:txBody>
      </p:sp>
      <p:sp>
        <p:nvSpPr>
          <p:cNvPr id="15" name="code-clo"/>
          <p:cNvSpPr/>
          <p:nvPr/>
        </p:nvSpPr>
        <p:spPr>
          <a:xfrm>
            <a:off x="6455664" y="1517904"/>
            <a:ext cx="5166360" cy="2926080"/>
          </a:xfrm>
          <a:prstGeom prst="roundRect">
            <a:avLst>
              <a:gd name="adj" fmla="val 938"/>
            </a:avLst>
          </a:prstGeom>
          <a:solidFill>
            <a:srgbClr val="1E2340"/>
          </a:solidFill>
          <a:ln w="12700">
            <a:solidFill>
              <a:srgbClr val="1E2340"/>
            </a:solidFill>
            <a:prstDash val="solid"/>
          </a:ln>
        </p:spPr>
      </p:sp>
      <p:sp>
        <p:nvSpPr>
          <p:cNvPr id="16" name="Text 14"/>
          <p:cNvSpPr txBox="1"/>
          <p:nvPr/>
        </p:nvSpPr>
        <p:spPr>
          <a:xfrm>
            <a:off x="6601968" y="1627632"/>
            <a:ext cx="4873752" cy="2706624"/>
          </a:xfrm>
          <a:prstGeom prst="rect">
            <a:avLst/>
          </a:prstGeom>
          <a:noFill/>
          <a:ln/>
        </p:spPr>
        <p:txBody>
          <a:bodyPr wrap="square" lIns="0" tIns="0" rIns="0" bIns="0" rtlCol="0" anchor="t"/>
          <a:lstStyle/>
          <a:p>
            <a:pPr algn="l" indent="0" marL="0">
              <a:lnSpc>
                <a:spcPct val="106000"/>
              </a:lnSpc>
              <a:buNone/>
            </a:pPr>
            <a:r>
              <a:rPr lang="en-US" sz="1150" dirty="0">
                <a:solidFill>
                  <a:srgbClr val="FFFFFF"/>
                </a:solidFill>
                <a:latin typeface="Courier New" pitchFamily="34" charset="0"/>
                <a:ea typeface="Courier New" pitchFamily="34" charset="-122"/>
                <a:cs typeface="Courier New" pitchFamily="34" charset="-120"/>
              </a:rPr>
              <a:t>define make_counter:</a:t>
            </a:r>
            <a:endParaRPr lang="en-US" sz="1150" dirty="0"/>
          </a:p>
          <a:p>
            <a:pPr algn="l" indent="0" marL="0">
              <a:lnSpc>
                <a:spcPct val="106000"/>
              </a:lnSpc>
              <a:buNone/>
            </a:pPr>
            <a:r>
              <a:rPr lang="en-US" sz="1150" dirty="0">
                <a:solidFill>
                  <a:srgbClr val="FFFFFF"/>
                </a:solidFill>
                <a:latin typeface="Courier New" pitchFamily="34" charset="0"/>
                <a:ea typeface="Courier New" pitchFamily="34" charset="-122"/>
                <a:cs typeface="Courier New" pitchFamily="34" charset="-120"/>
              </a:rPr>
              <a:t>    set count to 0</a:t>
            </a:r>
            <a:endParaRPr lang="en-US" sz="1150" dirty="0"/>
          </a:p>
          <a:p>
            <a:pPr algn="l" indent="0" marL="0">
              <a:lnSpc>
                <a:spcPct val="106000"/>
              </a:lnSpc>
              <a:buNone/>
            </a:pPr>
            <a:r>
              <a:rPr lang="en-US" sz="1150" dirty="0">
                <a:solidFill>
                  <a:srgbClr val="FFFFFF"/>
                </a:solidFill>
                <a:latin typeface="Courier New" pitchFamily="34" charset="0"/>
                <a:ea typeface="Courier New" pitchFamily="34" charset="-122"/>
                <a:cs typeface="Courier New" pitchFamily="34" charset="-120"/>
              </a:rPr>
              <a:t>    define step:</a:t>
            </a:r>
            <a:endParaRPr lang="en-US" sz="1150" dirty="0"/>
          </a:p>
          <a:p>
            <a:pPr algn="l" indent="0" marL="0">
              <a:lnSpc>
                <a:spcPct val="106000"/>
              </a:lnSpc>
              <a:buNone/>
            </a:pPr>
            <a:r>
              <a:rPr lang="en-US" sz="1150" dirty="0">
                <a:solidFill>
                  <a:srgbClr val="FFFFFF"/>
                </a:solidFill>
                <a:latin typeface="Courier New" pitchFamily="34" charset="0"/>
                <a:ea typeface="Courier New" pitchFamily="34" charset="-122"/>
                <a:cs typeface="Courier New" pitchFamily="34" charset="-120"/>
              </a:rPr>
              <a:t>        change count to count + 1</a:t>
            </a:r>
            <a:endParaRPr lang="en-US" sz="1150" dirty="0"/>
          </a:p>
          <a:p>
            <a:pPr algn="l" indent="0" marL="0">
              <a:lnSpc>
                <a:spcPct val="106000"/>
              </a:lnSpc>
              <a:buNone/>
            </a:pPr>
            <a:r>
              <a:rPr lang="en-US" sz="1150" dirty="0">
                <a:solidFill>
                  <a:srgbClr val="FFFFFF"/>
                </a:solidFill>
                <a:latin typeface="Courier New" pitchFamily="34" charset="0"/>
                <a:ea typeface="Courier New" pitchFamily="34" charset="-122"/>
                <a:cs typeface="Courier New" pitchFamily="34" charset="-120"/>
              </a:rPr>
              <a:t>        give back count</a:t>
            </a:r>
            <a:endParaRPr lang="en-US" sz="1150" dirty="0"/>
          </a:p>
          <a:p>
            <a:pPr algn="l" indent="0" marL="0">
              <a:lnSpc>
                <a:spcPct val="106000"/>
              </a:lnSpc>
              <a:buNone/>
            </a:pPr>
            <a:r>
              <a:rPr lang="en-US" sz="1150" dirty="0">
                <a:solidFill>
                  <a:srgbClr val="FFFFFF"/>
                </a:solidFill>
                <a:latin typeface="Courier New" pitchFamily="34" charset="0"/>
                <a:ea typeface="Courier New" pitchFamily="34" charset="-122"/>
                <a:cs typeface="Courier New" pitchFamily="34" charset="-120"/>
              </a:rPr>
              <a:t>    give back step</a:t>
            </a:r>
            <a:endParaRPr lang="en-US" sz="1150" dirty="0"/>
          </a:p>
          <a:p>
            <a:pPr algn="l" indent="0" marL="0">
              <a:lnSpc>
                <a:spcPct val="106000"/>
              </a:lnSpc>
              <a:buNone/>
            </a:pPr>
            <a:endParaRPr lang="en-US" sz="1150" dirty="0"/>
          </a:p>
          <a:p>
            <a:pPr algn="l" indent="0" marL="0">
              <a:lnSpc>
                <a:spcPct val="106000"/>
              </a:lnSpc>
              <a:buNone/>
            </a:pPr>
            <a:r>
              <a:rPr lang="en-US" sz="1150" dirty="0">
                <a:solidFill>
                  <a:srgbClr val="FFFFFF"/>
                </a:solidFill>
                <a:latin typeface="Courier New" pitchFamily="34" charset="0"/>
                <a:ea typeface="Courier New" pitchFamily="34" charset="-122"/>
                <a:cs typeface="Courier New" pitchFamily="34" charset="-120"/>
              </a:rPr>
              <a:t>set tick to make_counter()</a:t>
            </a:r>
            <a:endParaRPr lang="en-US" sz="1150" dirty="0"/>
          </a:p>
          <a:p>
            <a:pPr algn="l" indent="0" marL="0">
              <a:lnSpc>
                <a:spcPct val="106000"/>
              </a:lnSpc>
              <a:buNone/>
            </a:pPr>
            <a:r>
              <a:rPr lang="en-US" sz="1150" dirty="0">
                <a:solidFill>
                  <a:srgbClr val="FFFFFF"/>
                </a:solidFill>
                <a:latin typeface="Courier New" pitchFamily="34" charset="0"/>
                <a:ea typeface="Courier New" pitchFamily="34" charset="-122"/>
                <a:cs typeface="Courier New" pitchFamily="34" charset="-120"/>
              </a:rPr>
              <a:t>say tick()</a:t>
            </a:r>
            <a:endParaRPr lang="en-US" sz="1150" dirty="0"/>
          </a:p>
          <a:p>
            <a:pPr algn="l" indent="0" marL="0">
              <a:lnSpc>
                <a:spcPct val="106000"/>
              </a:lnSpc>
              <a:buNone/>
            </a:pPr>
            <a:r>
              <a:rPr lang="en-US" sz="1150" dirty="0">
                <a:solidFill>
                  <a:srgbClr val="FFFFFF"/>
                </a:solidFill>
                <a:latin typeface="Courier New" pitchFamily="34" charset="0"/>
                <a:ea typeface="Courier New" pitchFamily="34" charset="-122"/>
                <a:cs typeface="Courier New" pitchFamily="34" charset="-120"/>
              </a:rPr>
              <a:t>say tick()</a:t>
            </a:r>
            <a:endParaRPr lang="en-US" sz="1150" dirty="0"/>
          </a:p>
          <a:p>
            <a:pPr algn="l" indent="0" marL="0">
              <a:lnSpc>
                <a:spcPct val="106000"/>
              </a:lnSpc>
              <a:buNone/>
            </a:pPr>
            <a:r>
              <a:rPr lang="en-US" sz="1150" dirty="0">
                <a:solidFill>
                  <a:srgbClr val="FFFFFF"/>
                </a:solidFill>
                <a:latin typeface="Courier New" pitchFamily="34" charset="0"/>
                <a:ea typeface="Courier New" pitchFamily="34" charset="-122"/>
                <a:cs typeface="Courier New" pitchFamily="34" charset="-120"/>
              </a:rPr>
              <a:t>say tick()</a:t>
            </a:r>
            <a:endParaRPr lang="en-US" sz="1150" dirty="0"/>
          </a:p>
          <a:p>
            <a:pPr algn="l" indent="0" marL="0">
              <a:lnSpc>
                <a:spcPct val="106000"/>
              </a:lnSpc>
              <a:buNone/>
            </a:pPr>
            <a:endParaRPr lang="en-US" sz="1150" dirty="0"/>
          </a:p>
          <a:p>
            <a:pPr algn="l" indent="0" marL="0">
              <a:lnSpc>
                <a:spcPct val="106000"/>
              </a:lnSpc>
              <a:buNone/>
            </a:pPr>
            <a:r>
              <a:rPr lang="en-US" sz="1150" dirty="0">
                <a:solidFill>
                  <a:srgbClr val="FFFFFF"/>
                </a:solidFill>
                <a:latin typeface="Courier New" pitchFamily="34" charset="0"/>
                <a:ea typeface="Courier New" pitchFamily="34" charset="-122"/>
                <a:cs typeface="Courier New" pitchFamily="34" charset="-120"/>
              </a:rPr>
              <a:t>set other to make_counter()</a:t>
            </a:r>
            <a:endParaRPr lang="en-US" sz="1150" dirty="0"/>
          </a:p>
          <a:p>
            <a:pPr algn="l" indent="0" marL="0">
              <a:lnSpc>
                <a:spcPct val="106000"/>
              </a:lnSpc>
              <a:buNone/>
            </a:pPr>
            <a:r>
              <a:rPr lang="en-US" sz="1150" dirty="0">
                <a:solidFill>
                  <a:srgbClr val="FFFFFF"/>
                </a:solidFill>
                <a:latin typeface="Courier New" pitchFamily="34" charset="0"/>
                <a:ea typeface="Courier New" pitchFamily="34" charset="-122"/>
                <a:cs typeface="Courier New" pitchFamily="34" charset="-120"/>
              </a:rPr>
              <a:t>say other()</a:t>
            </a:r>
            <a:endParaRPr lang="en-US" sz="1150" dirty="0"/>
          </a:p>
        </p:txBody>
      </p:sp>
      <p:sp>
        <p:nvSpPr>
          <p:cNvPr id="17" name="Text 15"/>
          <p:cNvSpPr txBox="1"/>
          <p:nvPr/>
        </p:nvSpPr>
        <p:spPr>
          <a:xfrm>
            <a:off x="6455664" y="4553712"/>
            <a:ext cx="5166360" cy="219456"/>
          </a:xfrm>
          <a:prstGeom prst="rect">
            <a:avLst/>
          </a:prstGeom>
          <a:noFill/>
          <a:ln/>
        </p:spPr>
        <p:txBody>
          <a:bodyPr wrap="square" lIns="0" tIns="0" rIns="0" bIns="0" rtlCol="0" anchor="ctr"/>
          <a:lstStyle/>
          <a:p>
            <a:pPr indent="0" marL="0">
              <a:buNone/>
            </a:pPr>
            <a:r>
              <a:rPr lang="en-US" sz="1000" b="1" spc="120" kern="0" dirty="0">
                <a:solidFill>
                  <a:srgbClr val="6B7187"/>
                </a:solidFill>
              </a:rPr>
              <a:t>OUTPUT</a:t>
            </a:r>
            <a:endParaRPr lang="en-US" sz="1000" dirty="0"/>
          </a:p>
        </p:txBody>
      </p:sp>
      <p:sp>
        <p:nvSpPr>
          <p:cNvPr id="18" name="code-clo-out"/>
          <p:cNvSpPr/>
          <p:nvPr/>
        </p:nvSpPr>
        <p:spPr>
          <a:xfrm>
            <a:off x="6455664" y="4809744"/>
            <a:ext cx="5166360" cy="512064"/>
          </a:xfrm>
          <a:prstGeom prst="roundRect">
            <a:avLst>
              <a:gd name="adj" fmla="val 5357"/>
            </a:avLst>
          </a:prstGeom>
          <a:solidFill>
            <a:srgbClr val="F2F3F8"/>
          </a:solidFill>
          <a:ln w="12700">
            <a:solidFill>
              <a:srgbClr val="E2E5EE"/>
            </a:solidFill>
            <a:prstDash val="solid"/>
          </a:ln>
        </p:spPr>
      </p:sp>
      <p:sp>
        <p:nvSpPr>
          <p:cNvPr id="19" name="Text 17"/>
          <p:cNvSpPr txBox="1"/>
          <p:nvPr/>
        </p:nvSpPr>
        <p:spPr>
          <a:xfrm>
            <a:off x="6601968" y="4919472"/>
            <a:ext cx="4873752" cy="292608"/>
          </a:xfrm>
          <a:prstGeom prst="rect">
            <a:avLst/>
          </a:prstGeom>
          <a:noFill/>
          <a:ln/>
        </p:spPr>
        <p:txBody>
          <a:bodyPr wrap="square" lIns="0" tIns="0" rIns="0" bIns="0" rtlCol="0" anchor="t"/>
          <a:lstStyle/>
          <a:p>
            <a:pPr algn="l" indent="0" marL="0">
              <a:lnSpc>
                <a:spcPct val="106000"/>
              </a:lnSpc>
              <a:buNone/>
            </a:pPr>
            <a:r>
              <a:rPr lang="en-US" sz="1500" dirty="0">
                <a:solidFill>
                  <a:srgbClr val="4E9163"/>
                </a:solidFill>
                <a:latin typeface="Courier New" pitchFamily="34" charset="0"/>
                <a:ea typeface="Courier New" pitchFamily="34" charset="-122"/>
                <a:cs typeface="Courier New" pitchFamily="34" charset="-120"/>
              </a:rPr>
              <a:t>1    2    3        1</a:t>
            </a:r>
            <a:endParaRPr lang="en-US" sz="1500" dirty="0"/>
          </a:p>
        </p:txBody>
      </p:sp>
      <p:sp>
        <p:nvSpPr>
          <p:cNvPr id="20" name="Text 18"/>
          <p:cNvSpPr txBox="1"/>
          <p:nvPr/>
        </p:nvSpPr>
        <p:spPr>
          <a:xfrm>
            <a:off x="6455664" y="5376672"/>
            <a:ext cx="5166360" cy="274320"/>
          </a:xfrm>
          <a:prstGeom prst="rect">
            <a:avLst/>
          </a:prstGeom>
          <a:noFill/>
          <a:ln/>
        </p:spPr>
        <p:txBody>
          <a:bodyPr wrap="square" lIns="0" tIns="0" rIns="0" bIns="0" rtlCol="0" anchor="ctr"/>
          <a:lstStyle/>
          <a:p>
            <a:pPr indent="0" marL="0">
              <a:buNone/>
            </a:pPr>
            <a:r>
              <a:rPr lang="en-US" sz="1050" i="1" dirty="0">
                <a:solidFill>
                  <a:srgbClr val="6B7187"/>
                </a:solidFill>
              </a:rPr>
              <a:t>the second counter has its own count</a:t>
            </a:r>
            <a:endParaRPr lang="en-US" sz="1050" dirty="0"/>
          </a:p>
        </p:txBody>
      </p:sp>
      <p:sp>
        <p:nvSpPr>
          <p:cNvPr id="25" name="Slide Number Placeholder 0"/>
          <p:cNvSpPr>
            <a:spLocks noGrp="1"/>
          </p:cNvSpPr>
          <p:nvPr>
            <p:ph type="sldNum" sz="quarter" idx="4294967295"/>
          </p:nvPr>
        </p:nvSpPr>
        <p:spPr>
          <a:xfrm>
            <a:off x="11164824"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87"/>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658368"/>
          </a:xfrm>
          <a:prstGeom prst="rect">
            <a:avLst/>
          </a:prstGeom>
          <a:noFill/>
          <a:ln/>
        </p:spPr>
        <p:txBody>
          <a:bodyPr wrap="square" lIns="0" tIns="0" rIns="0" bIns="0" rtlCol="0" anchor="ctr"/>
          <a:lstStyle/>
          <a:p>
            <a:pPr algn="l" indent="0" marL="0">
              <a:buNone/>
            </a:pPr>
            <a:r>
              <a:rPr lang="en-US" sz="3200" b="1" dirty="0">
                <a:solidFill>
                  <a:srgbClr val="0E1020"/>
                </a:solidFill>
                <a:latin typeface="Cambria" pitchFamily="34" charset="0"/>
                <a:ea typeface="Cambria" pitchFamily="34" charset="-122"/>
                <a:cs typeface="Cambria" pitchFamily="34" charset="-120"/>
              </a:rPr>
              <a:t>Real programs, running end to end</a:t>
            </a:r>
            <a:endParaRPr lang="en-US" sz="3200" dirty="0"/>
          </a:p>
        </p:txBody>
      </p:sp>
      <p:sp>
        <p:nvSpPr>
          <p:cNvPr id="3" name="Text 1"/>
          <p:cNvSpPr txBox="1"/>
          <p:nvPr/>
        </p:nvSpPr>
        <p:spPr>
          <a:xfrm>
            <a:off x="566928" y="1261872"/>
            <a:ext cx="5326380" cy="274320"/>
          </a:xfrm>
          <a:prstGeom prst="rect">
            <a:avLst/>
          </a:prstGeom>
          <a:noFill/>
          <a:ln/>
        </p:spPr>
        <p:txBody>
          <a:bodyPr wrap="square" lIns="0" tIns="0" rIns="0" bIns="0" rtlCol="0" anchor="ctr"/>
          <a:lstStyle/>
          <a:p>
            <a:pPr indent="0" marL="0">
              <a:buNone/>
            </a:pPr>
            <a:r>
              <a:rPr lang="en-US" sz="1450" b="1" dirty="0">
                <a:solidFill>
                  <a:srgbClr val="0E1020"/>
                </a:solidFill>
              </a:rPr>
              <a:t>Recursion and conditionals</a:t>
            </a:r>
            <a:endParaRPr lang="en-US" sz="1450" dirty="0"/>
          </a:p>
        </p:txBody>
      </p:sp>
      <p:sp>
        <p:nvSpPr>
          <p:cNvPr id="4" name="demo-src-0"/>
          <p:cNvSpPr/>
          <p:nvPr/>
        </p:nvSpPr>
        <p:spPr>
          <a:xfrm>
            <a:off x="566928" y="1591056"/>
            <a:ext cx="5326380" cy="2212848"/>
          </a:xfrm>
          <a:prstGeom prst="roundRect">
            <a:avLst>
              <a:gd name="adj" fmla="val 1240"/>
            </a:avLst>
          </a:prstGeom>
          <a:solidFill>
            <a:srgbClr val="1E2340"/>
          </a:solidFill>
          <a:ln w="12700">
            <a:solidFill>
              <a:srgbClr val="1E2340"/>
            </a:solidFill>
            <a:prstDash val="solid"/>
          </a:ln>
        </p:spPr>
      </p:sp>
      <p:sp>
        <p:nvSpPr>
          <p:cNvPr id="5" name="Text 3"/>
          <p:cNvSpPr txBox="1"/>
          <p:nvPr/>
        </p:nvSpPr>
        <p:spPr>
          <a:xfrm>
            <a:off x="713232" y="1700784"/>
            <a:ext cx="5033772" cy="1993392"/>
          </a:xfrm>
          <a:prstGeom prst="rect">
            <a:avLst/>
          </a:prstGeom>
          <a:noFill/>
          <a:ln/>
        </p:spPr>
        <p:txBody>
          <a:bodyPr wrap="square" lIns="0" tIns="0" rIns="0" bIns="0" rtlCol="0" anchor="t"/>
          <a:lstStyle/>
          <a:p>
            <a:pPr algn="l" indent="0" marL="0">
              <a:lnSpc>
                <a:spcPct val="106000"/>
              </a:lnSpc>
              <a:buNone/>
            </a:pPr>
            <a:r>
              <a:rPr lang="en-US" sz="1050" dirty="0">
                <a:solidFill>
                  <a:srgbClr val="FFFFFF"/>
                </a:solidFill>
                <a:latin typeface="Courier New" pitchFamily="34" charset="0"/>
                <a:ea typeface="Courier New" pitchFamily="34" charset="-122"/>
                <a:cs typeface="Courier New" pitchFamily="34" charset="-120"/>
              </a:rPr>
              <a:t>define is_prime with n:</a:t>
            </a:r>
            <a:endParaRPr lang="en-US" sz="1050" dirty="0"/>
          </a:p>
          <a:p>
            <a:pPr algn="l" indent="0" marL="0">
              <a:lnSpc>
                <a:spcPct val="106000"/>
              </a:lnSpc>
              <a:buNone/>
            </a:pPr>
            <a:r>
              <a:rPr lang="en-US" sz="1050" dirty="0">
                <a:solidFill>
                  <a:srgbClr val="FFFFFF"/>
                </a:solidFill>
                <a:latin typeface="Courier New" pitchFamily="34" charset="0"/>
                <a:ea typeface="Courier New" pitchFamily="34" charset="-122"/>
                <a:cs typeface="Courier New" pitchFamily="34" charset="-120"/>
              </a:rPr>
              <a:t>    if n is less than 2:</a:t>
            </a:r>
            <a:endParaRPr lang="en-US" sz="1050" dirty="0"/>
          </a:p>
          <a:p>
            <a:pPr algn="l" indent="0" marL="0">
              <a:lnSpc>
                <a:spcPct val="106000"/>
              </a:lnSpc>
              <a:buNone/>
            </a:pPr>
            <a:r>
              <a:rPr lang="en-US" sz="1050" dirty="0">
                <a:solidFill>
                  <a:srgbClr val="FFFFFF"/>
                </a:solidFill>
                <a:latin typeface="Courier New" pitchFamily="34" charset="0"/>
                <a:ea typeface="Courier New" pitchFamily="34" charset="-122"/>
                <a:cs typeface="Courier New" pitchFamily="34" charset="-120"/>
              </a:rPr>
              <a:t>        give back no</a:t>
            </a:r>
            <a:endParaRPr lang="en-US" sz="1050" dirty="0"/>
          </a:p>
          <a:p>
            <a:pPr algn="l" indent="0" marL="0">
              <a:lnSpc>
                <a:spcPct val="106000"/>
              </a:lnSpc>
              <a:buNone/>
            </a:pPr>
            <a:r>
              <a:rPr lang="en-US" sz="1050" dirty="0">
                <a:solidFill>
                  <a:srgbClr val="FFFFFF"/>
                </a:solidFill>
                <a:latin typeface="Courier New" pitchFamily="34" charset="0"/>
                <a:ea typeface="Courier New" pitchFamily="34" charset="-122"/>
                <a:cs typeface="Courier New" pitchFamily="34" charset="-120"/>
              </a:rPr>
              <a:t>    repeat with d from 2 to n:</a:t>
            </a:r>
            <a:endParaRPr lang="en-US" sz="1050" dirty="0"/>
          </a:p>
          <a:p>
            <a:pPr algn="l" indent="0" marL="0">
              <a:lnSpc>
                <a:spcPct val="106000"/>
              </a:lnSpc>
              <a:buNone/>
            </a:pPr>
            <a:r>
              <a:rPr lang="en-US" sz="1050" dirty="0">
                <a:solidFill>
                  <a:srgbClr val="FFFFFF"/>
                </a:solidFill>
                <a:latin typeface="Courier New" pitchFamily="34" charset="0"/>
                <a:ea typeface="Courier New" pitchFamily="34" charset="-122"/>
                <a:cs typeface="Courier New" pitchFamily="34" charset="-120"/>
              </a:rPr>
              <a:t>        if d times d is more than n:</a:t>
            </a:r>
            <a:endParaRPr lang="en-US" sz="1050" dirty="0"/>
          </a:p>
          <a:p>
            <a:pPr algn="l" indent="0" marL="0">
              <a:lnSpc>
                <a:spcPct val="106000"/>
              </a:lnSpc>
              <a:buNone/>
            </a:pPr>
            <a:r>
              <a:rPr lang="en-US" sz="1050" dirty="0">
                <a:solidFill>
                  <a:srgbClr val="FFFFFF"/>
                </a:solidFill>
                <a:latin typeface="Courier New" pitchFamily="34" charset="0"/>
                <a:ea typeface="Courier New" pitchFamily="34" charset="-122"/>
                <a:cs typeface="Courier New" pitchFamily="34" charset="-120"/>
              </a:rPr>
              <a:t>            stop</a:t>
            </a:r>
            <a:endParaRPr lang="en-US" sz="1050" dirty="0"/>
          </a:p>
          <a:p>
            <a:pPr algn="l" indent="0" marL="0">
              <a:lnSpc>
                <a:spcPct val="106000"/>
              </a:lnSpc>
              <a:buNone/>
            </a:pPr>
            <a:r>
              <a:rPr lang="en-US" sz="1050" dirty="0">
                <a:solidFill>
                  <a:srgbClr val="FFFFFF"/>
                </a:solidFill>
                <a:latin typeface="Courier New" pitchFamily="34" charset="0"/>
                <a:ea typeface="Courier New" pitchFamily="34" charset="-122"/>
                <a:cs typeface="Courier New" pitchFamily="34" charset="-120"/>
              </a:rPr>
              <a:t>        if n mod d is 0:</a:t>
            </a:r>
            <a:endParaRPr lang="en-US" sz="1050" dirty="0"/>
          </a:p>
          <a:p>
            <a:pPr algn="l" indent="0" marL="0">
              <a:lnSpc>
                <a:spcPct val="106000"/>
              </a:lnSpc>
              <a:buNone/>
            </a:pPr>
            <a:r>
              <a:rPr lang="en-US" sz="1050" dirty="0">
                <a:solidFill>
                  <a:srgbClr val="FFFFFF"/>
                </a:solidFill>
                <a:latin typeface="Courier New" pitchFamily="34" charset="0"/>
                <a:ea typeface="Courier New" pitchFamily="34" charset="-122"/>
                <a:cs typeface="Courier New" pitchFamily="34" charset="-120"/>
              </a:rPr>
              <a:t>            give back no</a:t>
            </a:r>
            <a:endParaRPr lang="en-US" sz="1050" dirty="0"/>
          </a:p>
          <a:p>
            <a:pPr algn="l" indent="0" marL="0">
              <a:lnSpc>
                <a:spcPct val="106000"/>
              </a:lnSpc>
              <a:buNone/>
            </a:pPr>
            <a:r>
              <a:rPr lang="en-US" sz="1050" dirty="0">
                <a:solidFill>
                  <a:srgbClr val="FFFFFF"/>
                </a:solidFill>
                <a:latin typeface="Courier New" pitchFamily="34" charset="0"/>
                <a:ea typeface="Courier New" pitchFamily="34" charset="-122"/>
                <a:cs typeface="Courier New" pitchFamily="34" charset="-120"/>
              </a:rPr>
              <a:t>    give back yes</a:t>
            </a:r>
            <a:endParaRPr lang="en-US" sz="1050" dirty="0"/>
          </a:p>
        </p:txBody>
      </p:sp>
      <p:sp>
        <p:nvSpPr>
          <p:cNvPr id="6" name="Text 4"/>
          <p:cNvSpPr txBox="1"/>
          <p:nvPr/>
        </p:nvSpPr>
        <p:spPr>
          <a:xfrm>
            <a:off x="566928" y="3895344"/>
            <a:ext cx="5326380" cy="219456"/>
          </a:xfrm>
          <a:prstGeom prst="rect">
            <a:avLst/>
          </a:prstGeom>
          <a:noFill/>
          <a:ln/>
        </p:spPr>
        <p:txBody>
          <a:bodyPr wrap="square" lIns="0" tIns="0" rIns="0" bIns="0" rtlCol="0" anchor="ctr"/>
          <a:lstStyle/>
          <a:p>
            <a:pPr indent="0" marL="0">
              <a:buNone/>
            </a:pPr>
            <a:r>
              <a:rPr lang="en-US" sz="1000" b="1" spc="120" kern="0" dirty="0">
                <a:solidFill>
                  <a:srgbClr val="6B7187"/>
                </a:solidFill>
              </a:rPr>
              <a:t>OUTPUT</a:t>
            </a:r>
            <a:endParaRPr lang="en-US" sz="1000" dirty="0"/>
          </a:p>
        </p:txBody>
      </p:sp>
      <p:sp>
        <p:nvSpPr>
          <p:cNvPr id="7" name="demo-out-0"/>
          <p:cNvSpPr/>
          <p:nvPr/>
        </p:nvSpPr>
        <p:spPr>
          <a:xfrm>
            <a:off x="566928" y="4151376"/>
            <a:ext cx="5326380" cy="1243584"/>
          </a:xfrm>
          <a:prstGeom prst="roundRect">
            <a:avLst>
              <a:gd name="adj" fmla="val 2206"/>
            </a:avLst>
          </a:prstGeom>
          <a:solidFill>
            <a:srgbClr val="F2F3F8"/>
          </a:solidFill>
          <a:ln w="12700">
            <a:solidFill>
              <a:srgbClr val="E2E5EE"/>
            </a:solidFill>
            <a:prstDash val="solid"/>
          </a:ln>
        </p:spPr>
      </p:sp>
      <p:sp>
        <p:nvSpPr>
          <p:cNvPr id="8" name="Text 6"/>
          <p:cNvSpPr txBox="1"/>
          <p:nvPr/>
        </p:nvSpPr>
        <p:spPr>
          <a:xfrm>
            <a:off x="713232" y="4261104"/>
            <a:ext cx="5033772" cy="1024128"/>
          </a:xfrm>
          <a:prstGeom prst="rect">
            <a:avLst/>
          </a:prstGeom>
          <a:noFill/>
          <a:ln/>
        </p:spPr>
        <p:txBody>
          <a:bodyPr wrap="square" lIns="0" tIns="0" rIns="0" bIns="0" rtlCol="0" anchor="t"/>
          <a:lstStyle/>
          <a:p>
            <a:pPr algn="l" indent="0" marL="0">
              <a:lnSpc>
                <a:spcPct val="106000"/>
              </a:lnSpc>
              <a:buNone/>
            </a:pPr>
            <a:r>
              <a:rPr lang="en-US" sz="1150" dirty="0">
                <a:solidFill>
                  <a:srgbClr val="4E9163"/>
                </a:solidFill>
                <a:latin typeface="Courier New" pitchFamily="34" charset="0"/>
                <a:ea typeface="Courier New" pitchFamily="34" charset="-122"/>
                <a:cs typeface="Courier New" pitchFamily="34" charset="-120"/>
              </a:rPr>
              <a:t>list of 2, 3, 5, 7, 11, 13,</a:t>
            </a:r>
            <a:endParaRPr lang="en-US" sz="1150" dirty="0"/>
          </a:p>
          <a:p>
            <a:pPr algn="l" indent="0" marL="0">
              <a:lnSpc>
                <a:spcPct val="106000"/>
              </a:lnSpc>
              <a:buNone/>
            </a:pPr>
            <a:r>
              <a:rPr lang="en-US" sz="1150" dirty="0">
                <a:solidFill>
                  <a:srgbClr val="4E9163"/>
                </a:solidFill>
                <a:latin typeface="Courier New" pitchFamily="34" charset="0"/>
                <a:ea typeface="Courier New" pitchFamily="34" charset="-122"/>
                <a:cs typeface="Courier New" pitchFamily="34" charset="-120"/>
              </a:rPr>
              <a:t>17, 19, 23, 29, 31, 37, 41,</a:t>
            </a:r>
            <a:endParaRPr lang="en-US" sz="1150" dirty="0"/>
          </a:p>
          <a:p>
            <a:pPr algn="l" indent="0" marL="0">
              <a:lnSpc>
                <a:spcPct val="106000"/>
              </a:lnSpc>
              <a:buNone/>
            </a:pPr>
            <a:r>
              <a:rPr lang="en-US" sz="1150" dirty="0">
                <a:solidFill>
                  <a:srgbClr val="4E9163"/>
                </a:solidFill>
                <a:latin typeface="Courier New" pitchFamily="34" charset="0"/>
                <a:ea typeface="Courier New" pitchFamily="34" charset="-122"/>
                <a:cs typeface="Courier New" pitchFamily="34" charset="-120"/>
              </a:rPr>
              <a:t>43, 47</a:t>
            </a:r>
            <a:endParaRPr lang="en-US" sz="1150" dirty="0"/>
          </a:p>
          <a:p>
            <a:pPr algn="l" indent="0" marL="0">
              <a:lnSpc>
                <a:spcPct val="106000"/>
              </a:lnSpc>
              <a:buNone/>
            </a:pPr>
            <a:endParaRPr lang="en-US" sz="1150" dirty="0"/>
          </a:p>
          <a:p>
            <a:pPr algn="l" indent="0" marL="0">
              <a:lnSpc>
                <a:spcPct val="106000"/>
              </a:lnSpc>
              <a:buNone/>
            </a:pPr>
            <a:r>
              <a:rPr lang="en-US" sz="1150" dirty="0">
                <a:solidFill>
                  <a:srgbClr val="4E9163"/>
                </a:solidFill>
                <a:latin typeface="Courier New" pitchFamily="34" charset="0"/>
                <a:ea typeface="Courier New" pitchFamily="34" charset="-122"/>
                <a:cs typeface="Courier New" pitchFamily="34" charset="-120"/>
              </a:rPr>
              <a:t>That is 15 of them.</a:t>
            </a:r>
            <a:endParaRPr lang="en-US" sz="1150" dirty="0"/>
          </a:p>
        </p:txBody>
      </p:sp>
      <p:sp>
        <p:nvSpPr>
          <p:cNvPr id="9" name="Text 7"/>
          <p:cNvSpPr txBox="1"/>
          <p:nvPr/>
        </p:nvSpPr>
        <p:spPr>
          <a:xfrm>
            <a:off x="6295644" y="1261872"/>
            <a:ext cx="5326380" cy="274320"/>
          </a:xfrm>
          <a:prstGeom prst="rect">
            <a:avLst/>
          </a:prstGeom>
          <a:noFill/>
          <a:ln/>
        </p:spPr>
        <p:txBody>
          <a:bodyPr wrap="square" lIns="0" tIns="0" rIns="0" bIns="0" rtlCol="0" anchor="ctr"/>
          <a:lstStyle/>
          <a:p>
            <a:pPr indent="0" marL="0">
              <a:buNone/>
            </a:pPr>
            <a:r>
              <a:rPr lang="en-US" sz="1450" b="1" dirty="0">
                <a:solidFill>
                  <a:srgbClr val="0E1020"/>
                </a:solidFill>
              </a:rPr>
              <a:t>Lists, indexing and mutation</a:t>
            </a:r>
            <a:endParaRPr lang="en-US" sz="1450" dirty="0"/>
          </a:p>
        </p:txBody>
      </p:sp>
      <p:sp>
        <p:nvSpPr>
          <p:cNvPr id="10" name="demo-src-1"/>
          <p:cNvSpPr/>
          <p:nvPr/>
        </p:nvSpPr>
        <p:spPr>
          <a:xfrm>
            <a:off x="6295644" y="1591056"/>
            <a:ext cx="5326380" cy="2212848"/>
          </a:xfrm>
          <a:prstGeom prst="roundRect">
            <a:avLst>
              <a:gd name="adj" fmla="val 1240"/>
            </a:avLst>
          </a:prstGeom>
          <a:solidFill>
            <a:srgbClr val="1E2340"/>
          </a:solidFill>
          <a:ln w="12700">
            <a:solidFill>
              <a:srgbClr val="1E2340"/>
            </a:solidFill>
            <a:prstDash val="solid"/>
          </a:ln>
        </p:spPr>
      </p:sp>
      <p:sp>
        <p:nvSpPr>
          <p:cNvPr id="11" name="Text 9"/>
          <p:cNvSpPr txBox="1"/>
          <p:nvPr/>
        </p:nvSpPr>
        <p:spPr>
          <a:xfrm>
            <a:off x="6441948" y="1700784"/>
            <a:ext cx="5033772" cy="1993392"/>
          </a:xfrm>
          <a:prstGeom prst="rect">
            <a:avLst/>
          </a:prstGeom>
          <a:noFill/>
          <a:ln/>
        </p:spPr>
        <p:txBody>
          <a:bodyPr wrap="square" lIns="0" tIns="0" rIns="0" bIns="0" rtlCol="0" anchor="t"/>
          <a:lstStyle/>
          <a:p>
            <a:pPr algn="l" indent="0" marL="0">
              <a:lnSpc>
                <a:spcPct val="106000"/>
              </a:lnSpc>
              <a:buNone/>
            </a:pPr>
            <a:r>
              <a:rPr lang="en-US" sz="1050" dirty="0">
                <a:solidFill>
                  <a:srgbClr val="FFFFFF"/>
                </a:solidFill>
                <a:latin typeface="Courier New" pitchFamily="34" charset="0"/>
                <a:ea typeface="Courier New" pitchFamily="34" charset="-122"/>
                <a:cs typeface="Courier New" pitchFamily="34" charset="-120"/>
              </a:rPr>
              <a:t>define bubble_sort with values:</a:t>
            </a:r>
            <a:endParaRPr lang="en-US" sz="1050" dirty="0"/>
          </a:p>
          <a:p>
            <a:pPr algn="l" indent="0" marL="0">
              <a:lnSpc>
                <a:spcPct val="106000"/>
              </a:lnSpc>
              <a:buNone/>
            </a:pPr>
            <a:r>
              <a:rPr lang="en-US" sz="1050" dirty="0">
                <a:solidFill>
                  <a:srgbClr val="FFFFFF"/>
                </a:solidFill>
                <a:latin typeface="Courier New" pitchFamily="34" charset="0"/>
                <a:ea typeface="Courier New" pitchFamily="34" charset="-122"/>
                <a:cs typeface="Courier New" pitchFamily="34" charset="-120"/>
              </a:rPr>
              <a:t>    set data to copy(values)</a:t>
            </a:r>
            <a:endParaRPr lang="en-US" sz="1050" dirty="0"/>
          </a:p>
          <a:p>
            <a:pPr algn="l" indent="0" marL="0">
              <a:lnSpc>
                <a:spcPct val="106000"/>
              </a:lnSpc>
              <a:buNone/>
            </a:pPr>
            <a:r>
              <a:rPr lang="en-US" sz="1050" dirty="0">
                <a:solidFill>
                  <a:srgbClr val="FFFFFF"/>
                </a:solidFill>
                <a:latin typeface="Courier New" pitchFamily="34" charset="0"/>
                <a:ea typeface="Courier New" pitchFamily="34" charset="-122"/>
                <a:cs typeface="Courier New" pitchFamily="34" charset="-120"/>
              </a:rPr>
              <a:t>    repeat with pass from 1 to n minus 1:</a:t>
            </a:r>
            <a:endParaRPr lang="en-US" sz="1050" dirty="0"/>
          </a:p>
          <a:p>
            <a:pPr algn="l" indent="0" marL="0">
              <a:lnSpc>
                <a:spcPct val="106000"/>
              </a:lnSpc>
              <a:buNone/>
            </a:pPr>
            <a:r>
              <a:rPr lang="en-US" sz="1050" dirty="0">
                <a:solidFill>
                  <a:srgbClr val="FFFFFF"/>
                </a:solidFill>
                <a:latin typeface="Courier New" pitchFamily="34" charset="0"/>
                <a:ea typeface="Courier New" pitchFamily="34" charset="-122"/>
                <a:cs typeface="Courier New" pitchFamily="34" charset="-120"/>
              </a:rPr>
              <a:t>        repeat with i from 1 to n minus pass:</a:t>
            </a:r>
            <a:endParaRPr lang="en-US" sz="1050" dirty="0"/>
          </a:p>
          <a:p>
            <a:pPr algn="l" indent="0" marL="0">
              <a:lnSpc>
                <a:spcPct val="106000"/>
              </a:lnSpc>
              <a:buNone/>
            </a:pPr>
            <a:r>
              <a:rPr lang="en-US" sz="1050" dirty="0">
                <a:solidFill>
                  <a:srgbClr val="FFFFFF"/>
                </a:solidFill>
                <a:latin typeface="Courier New" pitchFamily="34" charset="0"/>
                <a:ea typeface="Courier New" pitchFamily="34" charset="-122"/>
                <a:cs typeface="Courier New" pitchFamily="34" charset="-120"/>
              </a:rPr>
              <a:t>            if item i of data is more than</a:t>
            </a:r>
            <a:endParaRPr lang="en-US" sz="1050" dirty="0"/>
          </a:p>
          <a:p>
            <a:pPr algn="l" indent="0" marL="0">
              <a:lnSpc>
                <a:spcPct val="106000"/>
              </a:lnSpc>
              <a:buNone/>
            </a:pPr>
            <a:r>
              <a:rPr lang="en-US" sz="1050" dirty="0">
                <a:solidFill>
                  <a:srgbClr val="FFFFFF"/>
                </a:solidFill>
                <a:latin typeface="Courier New" pitchFamily="34" charset="0"/>
                <a:ea typeface="Courier New" pitchFamily="34" charset="-122"/>
                <a:cs typeface="Courier New" pitchFamily="34" charset="-120"/>
              </a:rPr>
              <a:t>               item (i + 1) of data:</a:t>
            </a:r>
            <a:endParaRPr lang="en-US" sz="1050" dirty="0"/>
          </a:p>
          <a:p>
            <a:pPr algn="l" indent="0" marL="0">
              <a:lnSpc>
                <a:spcPct val="106000"/>
              </a:lnSpc>
              <a:buNone/>
            </a:pPr>
            <a:r>
              <a:rPr lang="en-US" sz="1050" dirty="0">
                <a:solidFill>
                  <a:srgbClr val="FFFFFF"/>
                </a:solidFill>
                <a:latin typeface="Courier New" pitchFamily="34" charset="0"/>
                <a:ea typeface="Courier New" pitchFamily="34" charset="-122"/>
                <a:cs typeface="Courier New" pitchFamily="34" charset="-120"/>
              </a:rPr>
              <a:t>                ... swap ...</a:t>
            </a:r>
            <a:endParaRPr lang="en-US" sz="1050" dirty="0"/>
          </a:p>
          <a:p>
            <a:pPr algn="l" indent="0" marL="0">
              <a:lnSpc>
                <a:spcPct val="106000"/>
              </a:lnSpc>
              <a:buNone/>
            </a:pPr>
            <a:r>
              <a:rPr lang="en-US" sz="1050" dirty="0">
                <a:solidFill>
                  <a:srgbClr val="FFFFFF"/>
                </a:solidFill>
                <a:latin typeface="Courier New" pitchFamily="34" charset="0"/>
                <a:ea typeface="Courier New" pitchFamily="34" charset="-122"/>
                <a:cs typeface="Courier New" pitchFamily="34" charset="-120"/>
              </a:rPr>
              <a:t>    give back data</a:t>
            </a:r>
            <a:endParaRPr lang="en-US" sz="1050" dirty="0"/>
          </a:p>
        </p:txBody>
      </p:sp>
      <p:sp>
        <p:nvSpPr>
          <p:cNvPr id="12" name="Text 10"/>
          <p:cNvSpPr txBox="1"/>
          <p:nvPr/>
        </p:nvSpPr>
        <p:spPr>
          <a:xfrm>
            <a:off x="6295644" y="3895344"/>
            <a:ext cx="5326380" cy="219456"/>
          </a:xfrm>
          <a:prstGeom prst="rect">
            <a:avLst/>
          </a:prstGeom>
          <a:noFill/>
          <a:ln/>
        </p:spPr>
        <p:txBody>
          <a:bodyPr wrap="square" lIns="0" tIns="0" rIns="0" bIns="0" rtlCol="0" anchor="ctr"/>
          <a:lstStyle/>
          <a:p>
            <a:pPr indent="0" marL="0">
              <a:buNone/>
            </a:pPr>
            <a:r>
              <a:rPr lang="en-US" sz="1000" b="1" spc="120" kern="0" dirty="0">
                <a:solidFill>
                  <a:srgbClr val="6B7187"/>
                </a:solidFill>
              </a:rPr>
              <a:t>OUTPUT</a:t>
            </a:r>
            <a:endParaRPr lang="en-US" sz="1000" dirty="0"/>
          </a:p>
        </p:txBody>
      </p:sp>
      <p:sp>
        <p:nvSpPr>
          <p:cNvPr id="13" name="demo-out-1"/>
          <p:cNvSpPr/>
          <p:nvPr/>
        </p:nvSpPr>
        <p:spPr>
          <a:xfrm>
            <a:off x="6295644" y="4151376"/>
            <a:ext cx="5326380" cy="1243584"/>
          </a:xfrm>
          <a:prstGeom prst="roundRect">
            <a:avLst>
              <a:gd name="adj" fmla="val 2206"/>
            </a:avLst>
          </a:prstGeom>
          <a:solidFill>
            <a:srgbClr val="F2F3F8"/>
          </a:solidFill>
          <a:ln w="12700">
            <a:solidFill>
              <a:srgbClr val="E2E5EE"/>
            </a:solidFill>
            <a:prstDash val="solid"/>
          </a:ln>
        </p:spPr>
      </p:sp>
      <p:sp>
        <p:nvSpPr>
          <p:cNvPr id="14" name="Text 12"/>
          <p:cNvSpPr txBox="1"/>
          <p:nvPr/>
        </p:nvSpPr>
        <p:spPr>
          <a:xfrm>
            <a:off x="6441948" y="4261104"/>
            <a:ext cx="5033772" cy="1024128"/>
          </a:xfrm>
          <a:prstGeom prst="rect">
            <a:avLst/>
          </a:prstGeom>
          <a:noFill/>
          <a:ln/>
        </p:spPr>
        <p:txBody>
          <a:bodyPr wrap="square" lIns="0" tIns="0" rIns="0" bIns="0" rtlCol="0" anchor="t"/>
          <a:lstStyle/>
          <a:p>
            <a:pPr algn="l" indent="0" marL="0">
              <a:lnSpc>
                <a:spcPct val="106000"/>
              </a:lnSpc>
              <a:buNone/>
            </a:pPr>
            <a:r>
              <a:rPr lang="en-US" sz="1150" dirty="0">
                <a:solidFill>
                  <a:srgbClr val="4E9163"/>
                </a:solidFill>
                <a:latin typeface="Courier New" pitchFamily="34" charset="0"/>
                <a:ea typeface="Courier New" pitchFamily="34" charset="-122"/>
                <a:cs typeface="Courier New" pitchFamily="34" charset="-120"/>
              </a:rPr>
              <a:t>Before:    list of 5, 3, 9, 1, 7, 2</a:t>
            </a:r>
            <a:endParaRPr lang="en-US" sz="1150" dirty="0"/>
          </a:p>
          <a:p>
            <a:pPr algn="l" indent="0" marL="0">
              <a:lnSpc>
                <a:spcPct val="106000"/>
              </a:lnSpc>
              <a:buNone/>
            </a:pPr>
            <a:r>
              <a:rPr lang="en-US" sz="1150" dirty="0">
                <a:solidFill>
                  <a:srgbClr val="4E9163"/>
                </a:solidFill>
                <a:latin typeface="Courier New" pitchFamily="34" charset="0"/>
                <a:ea typeface="Courier New" pitchFamily="34" charset="-122"/>
                <a:cs typeface="Courier New" pitchFamily="34" charset="-120"/>
              </a:rPr>
              <a:t>After:     list of 1, 2, 3, 5, 7, 9</a:t>
            </a:r>
            <a:endParaRPr lang="en-US" sz="1150" dirty="0"/>
          </a:p>
          <a:p>
            <a:pPr algn="l" indent="0" marL="0">
              <a:lnSpc>
                <a:spcPct val="106000"/>
              </a:lnSpc>
              <a:buNone/>
            </a:pPr>
            <a:r>
              <a:rPr lang="en-US" sz="1150" dirty="0">
                <a:solidFill>
                  <a:srgbClr val="4E9163"/>
                </a:solidFill>
                <a:latin typeface="Courier New" pitchFamily="34" charset="0"/>
                <a:ea typeface="Courier New" pitchFamily="34" charset="-122"/>
                <a:cs typeface="Courier New" pitchFamily="34" charset="-120"/>
              </a:rPr>
              <a:t>Untouched: list of 5, 3, 9, 1, 7, 2</a:t>
            </a:r>
            <a:endParaRPr lang="en-US" sz="1150" dirty="0"/>
          </a:p>
        </p:txBody>
      </p:sp>
      <p:sp>
        <p:nvSpPr>
          <p:cNvPr id="25" name="Slide Number Placeholder 0"/>
          <p:cNvSpPr>
            <a:spLocks noGrp="1"/>
          </p:cNvSpPr>
          <p:nvPr>
            <p:ph type="sldNum" sz="quarter" idx="4294967295"/>
          </p:nvPr>
        </p:nvSpPr>
        <p:spPr>
          <a:xfrm>
            <a:off x="11164824"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87"/>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658368"/>
          </a:xfrm>
          <a:prstGeom prst="rect">
            <a:avLst/>
          </a:prstGeom>
          <a:noFill/>
          <a:ln/>
        </p:spPr>
        <p:txBody>
          <a:bodyPr wrap="square" lIns="0" tIns="0" rIns="0" bIns="0" rtlCol="0" anchor="ctr"/>
          <a:lstStyle/>
          <a:p>
            <a:pPr algn="l" indent="0" marL="0">
              <a:buNone/>
            </a:pPr>
            <a:r>
              <a:rPr lang="en-US" sz="3200" b="1" dirty="0">
                <a:solidFill>
                  <a:srgbClr val="0E1020"/>
                </a:solidFill>
                <a:latin typeface="Cambria" pitchFamily="34" charset="0"/>
                <a:ea typeface="Cambria" pitchFamily="34" charset="-122"/>
                <a:cs typeface="Cambria" pitchFamily="34" charset="-120"/>
              </a:rPr>
              <a:t>Phase 5: one error format for every stage</a:t>
            </a:r>
            <a:endParaRPr lang="en-US" sz="3200" dirty="0"/>
          </a:p>
        </p:txBody>
      </p:sp>
      <p:sp>
        <p:nvSpPr>
          <p:cNvPr id="3" name="chip"/>
          <p:cNvSpPr/>
          <p:nvPr/>
        </p:nvSpPr>
        <p:spPr>
          <a:xfrm>
            <a:off x="566928" y="1261872"/>
            <a:ext cx="1371600" cy="237744"/>
          </a:xfrm>
          <a:prstGeom prst="roundRect">
            <a:avLst>
              <a:gd name="adj" fmla="val 46154"/>
            </a:avLst>
          </a:prstGeom>
          <a:solidFill>
            <a:srgbClr val="C4404B"/>
          </a:solidFill>
          <a:ln w="12700">
            <a:solidFill>
              <a:srgbClr val="C4404B"/>
            </a:solidFill>
            <a:prstDash val="solid"/>
          </a:ln>
        </p:spPr>
      </p:sp>
      <p:sp>
        <p:nvSpPr>
          <p:cNvPr id="4" name="Text 2"/>
          <p:cNvSpPr txBox="1"/>
          <p:nvPr/>
        </p:nvSpPr>
        <p:spPr>
          <a:xfrm>
            <a:off x="566928" y="1261872"/>
            <a:ext cx="1371600" cy="237744"/>
          </a:xfrm>
          <a:prstGeom prst="rect">
            <a:avLst/>
          </a:prstGeom>
          <a:noFill/>
          <a:ln/>
        </p:spPr>
        <p:txBody>
          <a:bodyPr wrap="square" lIns="0" tIns="0" rIns="0" bIns="0" rtlCol="0" anchor="ctr"/>
          <a:lstStyle/>
          <a:p>
            <a:pPr algn="ctr" indent="0" marL="0">
              <a:buNone/>
            </a:pPr>
            <a:r>
              <a:rPr lang="en-US" sz="950" b="1" dirty="0">
                <a:solidFill>
                  <a:srgbClr val="FFFFFF"/>
                </a:solidFill>
              </a:rPr>
              <a:t>LEXICAL</a:t>
            </a:r>
            <a:endParaRPr lang="en-US" sz="950" dirty="0"/>
          </a:p>
        </p:txBody>
      </p:sp>
      <p:sp>
        <p:nvSpPr>
          <p:cNvPr id="5" name="err-0"/>
          <p:cNvSpPr/>
          <p:nvPr/>
        </p:nvSpPr>
        <p:spPr>
          <a:xfrm>
            <a:off x="566928" y="1627632"/>
            <a:ext cx="3441192" cy="2523744"/>
          </a:xfrm>
          <a:prstGeom prst="roundRect">
            <a:avLst>
              <a:gd name="adj" fmla="val 1087"/>
            </a:avLst>
          </a:prstGeom>
          <a:solidFill>
            <a:srgbClr val="F2F3F8"/>
          </a:solidFill>
          <a:ln w="12700">
            <a:solidFill>
              <a:srgbClr val="E2E5EE"/>
            </a:solidFill>
            <a:prstDash val="solid"/>
          </a:ln>
        </p:spPr>
      </p:sp>
      <p:sp>
        <p:nvSpPr>
          <p:cNvPr id="6" name="Text 4"/>
          <p:cNvSpPr txBox="1"/>
          <p:nvPr/>
        </p:nvSpPr>
        <p:spPr>
          <a:xfrm>
            <a:off x="713232" y="1737360"/>
            <a:ext cx="3148584" cy="2304288"/>
          </a:xfrm>
          <a:prstGeom prst="rect">
            <a:avLst/>
          </a:prstGeom>
          <a:noFill/>
          <a:ln/>
        </p:spPr>
        <p:txBody>
          <a:bodyPr wrap="square" lIns="0" tIns="0" rIns="0" bIns="0" rtlCol="0" anchor="t"/>
          <a:lstStyle/>
          <a:p>
            <a:pPr algn="l" indent="0" marL="0">
              <a:lnSpc>
                <a:spcPct val="106000"/>
              </a:lnSpc>
              <a:buNone/>
            </a:pPr>
            <a:r>
              <a:rPr lang="en-US" sz="1000" dirty="0">
                <a:solidFill>
                  <a:srgbClr val="0E1020"/>
                </a:solidFill>
                <a:latin typeface="Courier New" pitchFamily="34" charset="0"/>
                <a:ea typeface="Courier New" pitchFamily="34" charset="-122"/>
                <a:cs typeface="Courier New" pitchFamily="34" charset="-120"/>
              </a:rPr>
              <a:t>Lexical error in demo.sn, line 3:</a:t>
            </a:r>
            <a:endParaRPr lang="en-US" sz="1000" dirty="0"/>
          </a:p>
          <a:p>
            <a:pPr algn="l" indent="0" marL="0">
              <a:lnSpc>
                <a:spcPct val="106000"/>
              </a:lnSpc>
              <a:buNone/>
            </a:pPr>
            <a:endParaRPr lang="en-US" sz="1000" dirty="0"/>
          </a:p>
          <a:p>
            <a:pPr algn="l" indent="0" marL="0">
              <a:lnSpc>
                <a:spcPct val="106000"/>
              </a:lnSpc>
              <a:buNone/>
            </a:pPr>
            <a:r>
              <a:rPr lang="en-US" sz="1000" dirty="0">
                <a:solidFill>
                  <a:srgbClr val="0E1020"/>
                </a:solidFill>
                <a:latin typeface="Courier New" pitchFamily="34" charset="0"/>
                <a:ea typeface="Courier New" pitchFamily="34" charset="-122"/>
                <a:cs typeface="Courier New" pitchFamily="34" charset="-120"/>
              </a:rPr>
              <a:t>   2 | set age to 20</a:t>
            </a:r>
            <a:endParaRPr lang="en-US" sz="1000" dirty="0"/>
          </a:p>
          <a:p>
            <a:pPr algn="l" indent="0" marL="0">
              <a:lnSpc>
                <a:spcPct val="106000"/>
              </a:lnSpc>
              <a:buNone/>
            </a:pPr>
            <a:r>
              <a:rPr lang="en-US" sz="1000" dirty="0">
                <a:solidFill>
                  <a:srgbClr val="0E1020"/>
                </a:solidFill>
                <a:latin typeface="Courier New" pitchFamily="34" charset="0"/>
                <a:ea typeface="Courier New" pitchFamily="34" charset="-122"/>
                <a:cs typeface="Courier New" pitchFamily="34" charset="-120"/>
              </a:rPr>
              <a:t>   3 | if age &gt;= 18:</a:t>
            </a:r>
            <a:endParaRPr lang="en-US" sz="1000" dirty="0"/>
          </a:p>
          <a:p>
            <a:pPr algn="l" indent="0" marL="0">
              <a:lnSpc>
                <a:spcPct val="106000"/>
              </a:lnSpc>
              <a:buNone/>
            </a:pPr>
            <a:r>
              <a:rPr lang="en-US" sz="1000" dirty="0">
                <a:solidFill>
                  <a:srgbClr val="0E1020"/>
                </a:solidFill>
                <a:latin typeface="Courier New" pitchFamily="34" charset="0"/>
                <a:ea typeface="Courier New" pitchFamily="34" charset="-122"/>
                <a:cs typeface="Courier New" pitchFamily="34" charset="-120"/>
              </a:rPr>
              <a:t>     |        ^^</a:t>
            </a:r>
            <a:endParaRPr lang="en-US" sz="1000" dirty="0"/>
          </a:p>
          <a:p>
            <a:pPr algn="l" indent="0" marL="0">
              <a:lnSpc>
                <a:spcPct val="106000"/>
              </a:lnSpc>
              <a:buNone/>
            </a:pPr>
            <a:endParaRPr lang="en-US" sz="1000" dirty="0"/>
          </a:p>
          <a:p>
            <a:pPr algn="l" indent="0" marL="0">
              <a:lnSpc>
                <a:spcPct val="106000"/>
              </a:lnSpc>
              <a:buNone/>
            </a:pPr>
            <a:r>
              <a:rPr lang="en-US" sz="1000" dirty="0">
                <a:solidFill>
                  <a:srgbClr val="0E1020"/>
                </a:solidFill>
                <a:latin typeface="Courier New" pitchFamily="34" charset="0"/>
                <a:ea typeface="Courier New" pitchFamily="34" charset="-122"/>
                <a:cs typeface="Courier New" pitchFamily="34" charset="-120"/>
              </a:rPr>
              <a:t>  '&gt;=' is not part of Stickynight.</a:t>
            </a:r>
            <a:endParaRPr lang="en-US" sz="1000" dirty="0"/>
          </a:p>
          <a:p>
            <a:pPr algn="l" indent="0" marL="0">
              <a:lnSpc>
                <a:spcPct val="106000"/>
              </a:lnSpc>
              <a:buNone/>
            </a:pPr>
            <a:r>
              <a:rPr lang="en-US" sz="1000" dirty="0">
                <a:solidFill>
                  <a:srgbClr val="0E1020"/>
                </a:solidFill>
                <a:latin typeface="Courier New" pitchFamily="34" charset="0"/>
                <a:ea typeface="Courier New" pitchFamily="34" charset="-122"/>
                <a:cs typeface="Courier New" pitchFamily="34" charset="-120"/>
              </a:rPr>
              <a:t>  hint: Write 'is at least'</a:t>
            </a:r>
            <a:endParaRPr lang="en-US" sz="1000" dirty="0"/>
          </a:p>
        </p:txBody>
      </p:sp>
      <p:sp>
        <p:nvSpPr>
          <p:cNvPr id="7" name="chip"/>
          <p:cNvSpPr/>
          <p:nvPr/>
        </p:nvSpPr>
        <p:spPr>
          <a:xfrm>
            <a:off x="4373880" y="1261872"/>
            <a:ext cx="1371600" cy="237744"/>
          </a:xfrm>
          <a:prstGeom prst="roundRect">
            <a:avLst>
              <a:gd name="adj" fmla="val 46154"/>
            </a:avLst>
          </a:prstGeom>
          <a:solidFill>
            <a:srgbClr val="7C5CFF"/>
          </a:solidFill>
          <a:ln w="12700">
            <a:solidFill>
              <a:srgbClr val="7C5CFF"/>
            </a:solidFill>
            <a:prstDash val="solid"/>
          </a:ln>
        </p:spPr>
      </p:sp>
      <p:sp>
        <p:nvSpPr>
          <p:cNvPr id="8" name="Text 6"/>
          <p:cNvSpPr txBox="1"/>
          <p:nvPr/>
        </p:nvSpPr>
        <p:spPr>
          <a:xfrm>
            <a:off x="4373880" y="1261872"/>
            <a:ext cx="1371600" cy="237744"/>
          </a:xfrm>
          <a:prstGeom prst="rect">
            <a:avLst/>
          </a:prstGeom>
          <a:noFill/>
          <a:ln/>
        </p:spPr>
        <p:txBody>
          <a:bodyPr wrap="square" lIns="0" tIns="0" rIns="0" bIns="0" rtlCol="0" anchor="ctr"/>
          <a:lstStyle/>
          <a:p>
            <a:pPr algn="ctr" indent="0" marL="0">
              <a:buNone/>
            </a:pPr>
            <a:r>
              <a:rPr lang="en-US" sz="950" b="1" dirty="0">
                <a:solidFill>
                  <a:srgbClr val="FFFFFF"/>
                </a:solidFill>
              </a:rPr>
              <a:t>SYNTAX</a:t>
            </a:r>
            <a:endParaRPr lang="en-US" sz="950" dirty="0"/>
          </a:p>
        </p:txBody>
      </p:sp>
      <p:sp>
        <p:nvSpPr>
          <p:cNvPr id="9" name="err-1"/>
          <p:cNvSpPr/>
          <p:nvPr/>
        </p:nvSpPr>
        <p:spPr>
          <a:xfrm>
            <a:off x="4373880" y="1627632"/>
            <a:ext cx="3441192" cy="2523744"/>
          </a:xfrm>
          <a:prstGeom prst="roundRect">
            <a:avLst>
              <a:gd name="adj" fmla="val 1087"/>
            </a:avLst>
          </a:prstGeom>
          <a:solidFill>
            <a:srgbClr val="F2F3F8"/>
          </a:solidFill>
          <a:ln w="12700">
            <a:solidFill>
              <a:srgbClr val="E2E5EE"/>
            </a:solidFill>
            <a:prstDash val="solid"/>
          </a:ln>
        </p:spPr>
      </p:sp>
      <p:sp>
        <p:nvSpPr>
          <p:cNvPr id="10" name="Text 8"/>
          <p:cNvSpPr txBox="1"/>
          <p:nvPr/>
        </p:nvSpPr>
        <p:spPr>
          <a:xfrm>
            <a:off x="4520184" y="1737360"/>
            <a:ext cx="3148584" cy="2304288"/>
          </a:xfrm>
          <a:prstGeom prst="rect">
            <a:avLst/>
          </a:prstGeom>
          <a:noFill/>
          <a:ln/>
        </p:spPr>
        <p:txBody>
          <a:bodyPr wrap="square" lIns="0" tIns="0" rIns="0" bIns="0" rtlCol="0" anchor="t"/>
          <a:lstStyle/>
          <a:p>
            <a:pPr algn="l" indent="0" marL="0">
              <a:lnSpc>
                <a:spcPct val="106000"/>
              </a:lnSpc>
              <a:buNone/>
            </a:pPr>
            <a:r>
              <a:rPr lang="en-US" sz="1000" dirty="0">
                <a:solidFill>
                  <a:srgbClr val="0E1020"/>
                </a:solidFill>
                <a:latin typeface="Courier New" pitchFamily="34" charset="0"/>
                <a:ea typeface="Courier New" pitchFamily="34" charset="-122"/>
                <a:cs typeface="Courier New" pitchFamily="34" charset="-120"/>
              </a:rPr>
              <a:t>Syntax error in demo.sn, line 3:</a:t>
            </a:r>
            <a:endParaRPr lang="en-US" sz="1000" dirty="0"/>
          </a:p>
          <a:p>
            <a:pPr algn="l" indent="0" marL="0">
              <a:lnSpc>
                <a:spcPct val="106000"/>
              </a:lnSpc>
              <a:buNone/>
            </a:pPr>
            <a:endParaRPr lang="en-US" sz="1000" dirty="0"/>
          </a:p>
          <a:p>
            <a:pPr algn="l" indent="0" marL="0">
              <a:lnSpc>
                <a:spcPct val="106000"/>
              </a:lnSpc>
              <a:buNone/>
            </a:pPr>
            <a:r>
              <a:rPr lang="en-US" sz="1000" dirty="0">
                <a:solidFill>
                  <a:srgbClr val="0E1020"/>
                </a:solidFill>
                <a:latin typeface="Courier New" pitchFamily="34" charset="0"/>
                <a:ea typeface="Courier New" pitchFamily="34" charset="-122"/>
                <a:cs typeface="Courier New" pitchFamily="34" charset="-120"/>
              </a:rPr>
              <a:t>   2 | set score to 90</a:t>
            </a:r>
            <a:endParaRPr lang="en-US" sz="1000" dirty="0"/>
          </a:p>
          <a:p>
            <a:pPr algn="l" indent="0" marL="0">
              <a:lnSpc>
                <a:spcPct val="106000"/>
              </a:lnSpc>
              <a:buNone/>
            </a:pPr>
            <a:r>
              <a:rPr lang="en-US" sz="1000" dirty="0">
                <a:solidFill>
                  <a:srgbClr val="0E1020"/>
                </a:solidFill>
                <a:latin typeface="Courier New" pitchFamily="34" charset="0"/>
                <a:ea typeface="Courier New" pitchFamily="34" charset="-122"/>
                <a:cs typeface="Courier New" pitchFamily="34" charset="-120"/>
              </a:rPr>
              <a:t>   3 | if score is at least 50</a:t>
            </a:r>
            <a:endParaRPr lang="en-US" sz="1000" dirty="0"/>
          </a:p>
          <a:p>
            <a:pPr algn="l" indent="0" marL="0">
              <a:lnSpc>
                <a:spcPct val="106000"/>
              </a:lnSpc>
              <a:buNone/>
            </a:pPr>
            <a:r>
              <a:rPr lang="en-US" sz="1000" dirty="0">
                <a:solidFill>
                  <a:srgbClr val="0E1020"/>
                </a:solidFill>
                <a:latin typeface="Courier New" pitchFamily="34" charset="0"/>
                <a:ea typeface="Courier New" pitchFamily="34" charset="-122"/>
                <a:cs typeface="Courier New" pitchFamily="34" charset="-120"/>
              </a:rPr>
              <a:t>     |                        ^</a:t>
            </a:r>
            <a:endParaRPr lang="en-US" sz="1000" dirty="0"/>
          </a:p>
          <a:p>
            <a:pPr algn="l" indent="0" marL="0">
              <a:lnSpc>
                <a:spcPct val="106000"/>
              </a:lnSpc>
              <a:buNone/>
            </a:pPr>
            <a:endParaRPr lang="en-US" sz="1000" dirty="0"/>
          </a:p>
          <a:p>
            <a:pPr algn="l" indent="0" marL="0">
              <a:lnSpc>
                <a:spcPct val="106000"/>
              </a:lnSpc>
              <a:buNone/>
            </a:pPr>
            <a:r>
              <a:rPr lang="en-US" sz="1000" dirty="0">
                <a:solidFill>
                  <a:srgbClr val="0E1020"/>
                </a:solidFill>
                <a:latin typeface="Courier New" pitchFamily="34" charset="0"/>
                <a:ea typeface="Courier New" pitchFamily="34" charset="-122"/>
                <a:cs typeface="Courier New" pitchFamily="34" charset="-120"/>
              </a:rPr>
              <a:t>  I expected a ':' at the end of</a:t>
            </a:r>
            <a:endParaRPr lang="en-US" sz="1000" dirty="0"/>
          </a:p>
          <a:p>
            <a:pPr algn="l" indent="0" marL="0">
              <a:lnSpc>
                <a:spcPct val="106000"/>
              </a:lnSpc>
              <a:buNone/>
            </a:pPr>
            <a:r>
              <a:rPr lang="en-US" sz="1000" dirty="0">
                <a:solidFill>
                  <a:srgbClr val="0E1020"/>
                </a:solidFill>
                <a:latin typeface="Courier New" pitchFamily="34" charset="0"/>
                <a:ea typeface="Courier New" pitchFamily="34" charset="-122"/>
                <a:cs typeface="Courier New" pitchFamily="34" charset="-120"/>
              </a:rPr>
              <a:t>  this 'if' line.</a:t>
            </a:r>
            <a:endParaRPr lang="en-US" sz="1000" dirty="0"/>
          </a:p>
          <a:p>
            <a:pPr algn="l" indent="0" marL="0">
              <a:lnSpc>
                <a:spcPct val="106000"/>
              </a:lnSpc>
              <a:buNone/>
            </a:pPr>
            <a:r>
              <a:rPr lang="en-US" sz="1000" dirty="0">
                <a:solidFill>
                  <a:srgbClr val="0E1020"/>
                </a:solidFill>
                <a:latin typeface="Courier New" pitchFamily="34" charset="0"/>
                <a:ea typeface="Courier New" pitchFamily="34" charset="-122"/>
                <a:cs typeface="Courier New" pitchFamily="34" charset="-120"/>
              </a:rPr>
              <a:t>  hint: Every 'if' line ends with ':'</a:t>
            </a:r>
            <a:endParaRPr lang="en-US" sz="1000" dirty="0"/>
          </a:p>
        </p:txBody>
      </p:sp>
      <p:sp>
        <p:nvSpPr>
          <p:cNvPr id="11" name="chip"/>
          <p:cNvSpPr/>
          <p:nvPr/>
        </p:nvSpPr>
        <p:spPr>
          <a:xfrm>
            <a:off x="8180832" y="1261872"/>
            <a:ext cx="1371600" cy="237744"/>
          </a:xfrm>
          <a:prstGeom prst="roundRect">
            <a:avLst>
              <a:gd name="adj" fmla="val 46154"/>
            </a:avLst>
          </a:prstGeom>
          <a:solidFill>
            <a:srgbClr val="3D7DD6"/>
          </a:solidFill>
          <a:ln w="12700">
            <a:solidFill>
              <a:srgbClr val="3D7DD6"/>
            </a:solidFill>
            <a:prstDash val="solid"/>
          </a:ln>
        </p:spPr>
      </p:sp>
      <p:sp>
        <p:nvSpPr>
          <p:cNvPr id="12" name="Text 10"/>
          <p:cNvSpPr txBox="1"/>
          <p:nvPr/>
        </p:nvSpPr>
        <p:spPr>
          <a:xfrm>
            <a:off x="8180832" y="1261872"/>
            <a:ext cx="1371600" cy="237744"/>
          </a:xfrm>
          <a:prstGeom prst="rect">
            <a:avLst/>
          </a:prstGeom>
          <a:noFill/>
          <a:ln/>
        </p:spPr>
        <p:txBody>
          <a:bodyPr wrap="square" lIns="0" tIns="0" rIns="0" bIns="0" rtlCol="0" anchor="ctr"/>
          <a:lstStyle/>
          <a:p>
            <a:pPr algn="ctr" indent="0" marL="0">
              <a:buNone/>
            </a:pPr>
            <a:r>
              <a:rPr lang="en-US" sz="950" b="1" dirty="0">
                <a:solidFill>
                  <a:srgbClr val="FFFFFF"/>
                </a:solidFill>
              </a:rPr>
              <a:t>RUNTIME</a:t>
            </a:r>
            <a:endParaRPr lang="en-US" sz="950" dirty="0"/>
          </a:p>
        </p:txBody>
      </p:sp>
      <p:sp>
        <p:nvSpPr>
          <p:cNvPr id="13" name="err-2"/>
          <p:cNvSpPr/>
          <p:nvPr/>
        </p:nvSpPr>
        <p:spPr>
          <a:xfrm>
            <a:off x="8180832" y="1627632"/>
            <a:ext cx="3441192" cy="2523744"/>
          </a:xfrm>
          <a:prstGeom prst="roundRect">
            <a:avLst>
              <a:gd name="adj" fmla="val 1087"/>
            </a:avLst>
          </a:prstGeom>
          <a:solidFill>
            <a:srgbClr val="F2F3F8"/>
          </a:solidFill>
          <a:ln w="12700">
            <a:solidFill>
              <a:srgbClr val="E2E5EE"/>
            </a:solidFill>
            <a:prstDash val="solid"/>
          </a:ln>
        </p:spPr>
      </p:sp>
      <p:sp>
        <p:nvSpPr>
          <p:cNvPr id="14" name="Text 12"/>
          <p:cNvSpPr txBox="1"/>
          <p:nvPr/>
        </p:nvSpPr>
        <p:spPr>
          <a:xfrm>
            <a:off x="8327136" y="1737360"/>
            <a:ext cx="3148584" cy="2304288"/>
          </a:xfrm>
          <a:prstGeom prst="rect">
            <a:avLst/>
          </a:prstGeom>
          <a:noFill/>
          <a:ln/>
        </p:spPr>
        <p:txBody>
          <a:bodyPr wrap="square" lIns="0" tIns="0" rIns="0" bIns="0" rtlCol="0" anchor="t"/>
          <a:lstStyle/>
          <a:p>
            <a:pPr algn="l" indent="0" marL="0">
              <a:lnSpc>
                <a:spcPct val="106000"/>
              </a:lnSpc>
              <a:buNone/>
            </a:pPr>
            <a:r>
              <a:rPr lang="en-US" sz="1000" dirty="0">
                <a:solidFill>
                  <a:srgbClr val="0E1020"/>
                </a:solidFill>
                <a:latin typeface="Courier New" pitchFamily="34" charset="0"/>
                <a:ea typeface="Courier New" pitchFamily="34" charset="-122"/>
                <a:cs typeface="Courier New" pitchFamily="34" charset="-120"/>
              </a:rPr>
              <a:t>Runtime error in demo.sn, line 4:</a:t>
            </a:r>
            <a:endParaRPr lang="en-US" sz="1000" dirty="0"/>
          </a:p>
          <a:p>
            <a:pPr algn="l" indent="0" marL="0">
              <a:lnSpc>
                <a:spcPct val="106000"/>
              </a:lnSpc>
              <a:buNone/>
            </a:pPr>
            <a:endParaRPr lang="en-US" sz="1000" dirty="0"/>
          </a:p>
          <a:p>
            <a:pPr algn="l" indent="0" marL="0">
              <a:lnSpc>
                <a:spcPct val="106000"/>
              </a:lnSpc>
              <a:buNone/>
            </a:pPr>
            <a:r>
              <a:rPr lang="en-US" sz="1000" dirty="0">
                <a:solidFill>
                  <a:srgbClr val="0E1020"/>
                </a:solidFill>
                <a:latin typeface="Courier New" pitchFamily="34" charset="0"/>
                <a:ea typeface="Courier New" pitchFamily="34" charset="-122"/>
                <a:cs typeface="Courier New" pitchFamily="34" charset="-120"/>
              </a:rPr>
              <a:t>   3 | set count to 2</a:t>
            </a:r>
            <a:endParaRPr lang="en-US" sz="1000" dirty="0"/>
          </a:p>
          <a:p>
            <a:pPr algn="l" indent="0" marL="0">
              <a:lnSpc>
                <a:spcPct val="106000"/>
              </a:lnSpc>
              <a:buNone/>
            </a:pPr>
            <a:r>
              <a:rPr lang="en-US" sz="1000" dirty="0">
                <a:solidFill>
                  <a:srgbClr val="0E1020"/>
                </a:solidFill>
                <a:latin typeface="Courier New" pitchFamily="34" charset="0"/>
                <a:ea typeface="Courier New" pitchFamily="34" charset="-122"/>
                <a:cs typeface="Courier New" pitchFamily="34" charset="-120"/>
              </a:rPr>
              <a:t>   4 | say totl + count</a:t>
            </a:r>
            <a:endParaRPr lang="en-US" sz="1000" dirty="0"/>
          </a:p>
          <a:p>
            <a:pPr algn="l" indent="0" marL="0">
              <a:lnSpc>
                <a:spcPct val="106000"/>
              </a:lnSpc>
              <a:buNone/>
            </a:pPr>
            <a:r>
              <a:rPr lang="en-US" sz="1000" dirty="0">
                <a:solidFill>
                  <a:srgbClr val="0E1020"/>
                </a:solidFill>
                <a:latin typeface="Courier New" pitchFamily="34" charset="0"/>
                <a:ea typeface="Courier New" pitchFamily="34" charset="-122"/>
                <a:cs typeface="Courier New" pitchFamily="34" charset="-120"/>
              </a:rPr>
              <a:t>     |     ^^^^</a:t>
            </a:r>
            <a:endParaRPr lang="en-US" sz="1000" dirty="0"/>
          </a:p>
          <a:p>
            <a:pPr algn="l" indent="0" marL="0">
              <a:lnSpc>
                <a:spcPct val="106000"/>
              </a:lnSpc>
              <a:buNone/>
            </a:pPr>
            <a:endParaRPr lang="en-US" sz="1000" dirty="0"/>
          </a:p>
          <a:p>
            <a:pPr algn="l" indent="0" marL="0">
              <a:lnSpc>
                <a:spcPct val="106000"/>
              </a:lnSpc>
              <a:buNone/>
            </a:pPr>
            <a:r>
              <a:rPr lang="en-US" sz="1000" dirty="0">
                <a:solidFill>
                  <a:srgbClr val="0E1020"/>
                </a:solidFill>
                <a:latin typeface="Courier New" pitchFamily="34" charset="0"/>
                <a:ea typeface="Courier New" pitchFamily="34" charset="-122"/>
                <a:cs typeface="Courier New" pitchFamily="34" charset="-120"/>
              </a:rPr>
              <a:t>  I do not know anything called</a:t>
            </a:r>
            <a:endParaRPr lang="en-US" sz="1000" dirty="0"/>
          </a:p>
          <a:p>
            <a:pPr algn="l" indent="0" marL="0">
              <a:lnSpc>
                <a:spcPct val="106000"/>
              </a:lnSpc>
              <a:buNone/>
            </a:pPr>
            <a:r>
              <a:rPr lang="en-US" sz="1000" dirty="0">
                <a:solidFill>
                  <a:srgbClr val="0E1020"/>
                </a:solidFill>
                <a:latin typeface="Courier New" pitchFamily="34" charset="0"/>
                <a:ea typeface="Courier New" pitchFamily="34" charset="-122"/>
                <a:cs typeface="Courier New" pitchFamily="34" charset="-120"/>
              </a:rPr>
              <a:t>  'totl'.</a:t>
            </a:r>
            <a:endParaRPr lang="en-US" sz="1000" dirty="0"/>
          </a:p>
          <a:p>
            <a:pPr algn="l" indent="0" marL="0">
              <a:lnSpc>
                <a:spcPct val="106000"/>
              </a:lnSpc>
              <a:buNone/>
            </a:pPr>
            <a:r>
              <a:rPr lang="en-US" sz="1000" dirty="0">
                <a:solidFill>
                  <a:srgbClr val="0E1020"/>
                </a:solidFill>
                <a:latin typeface="Courier New" pitchFamily="34" charset="0"/>
                <a:ea typeface="Courier New" pitchFamily="34" charset="-122"/>
                <a:cs typeface="Courier New" pitchFamily="34" charset="-120"/>
              </a:rPr>
              <a:t>  hint: Did you mean 'total'?</a:t>
            </a:r>
            <a:endParaRPr lang="en-US" sz="1000" dirty="0"/>
          </a:p>
        </p:txBody>
      </p:sp>
      <p:sp>
        <p:nvSpPr>
          <p:cNvPr id="15" name="err-note"/>
          <p:cNvSpPr/>
          <p:nvPr/>
        </p:nvSpPr>
        <p:spPr>
          <a:xfrm>
            <a:off x="566928" y="4334256"/>
            <a:ext cx="11055096" cy="1060704"/>
          </a:xfrm>
          <a:prstGeom prst="roundRect">
            <a:avLst>
              <a:gd name="adj" fmla="val 2586"/>
            </a:avLst>
          </a:prstGeom>
          <a:solidFill>
            <a:srgbClr val="1E2340"/>
          </a:solidFill>
          <a:ln w="12700">
            <a:solidFill>
              <a:srgbClr val="1E2340"/>
            </a:solidFill>
            <a:prstDash val="solid"/>
          </a:ln>
        </p:spPr>
      </p:sp>
      <p:sp>
        <p:nvSpPr>
          <p:cNvPr id="16" name="Text 14"/>
          <p:cNvSpPr txBox="1"/>
          <p:nvPr/>
        </p:nvSpPr>
        <p:spPr>
          <a:xfrm>
            <a:off x="859536" y="4462272"/>
            <a:ext cx="10469880" cy="292608"/>
          </a:xfrm>
          <a:prstGeom prst="rect">
            <a:avLst/>
          </a:prstGeom>
          <a:noFill/>
          <a:ln/>
        </p:spPr>
        <p:txBody>
          <a:bodyPr wrap="square" lIns="0" tIns="0" rIns="0" bIns="0" rtlCol="0" anchor="ctr"/>
          <a:lstStyle/>
          <a:p>
            <a:pPr indent="0" marL="0">
              <a:buNone/>
            </a:pPr>
            <a:r>
              <a:rPr lang="en-US" sz="1300" b="1" dirty="0">
                <a:solidFill>
                  <a:srgbClr val="FFC857"/>
                </a:solidFill>
              </a:rPr>
              <a:t>Same shape every time: stage, file, line, the source quoted, a caret, a plain sentence, and a suggestion.</a:t>
            </a:r>
            <a:endParaRPr lang="en-US" sz="1300" dirty="0"/>
          </a:p>
        </p:txBody>
      </p:sp>
      <p:sp>
        <p:nvSpPr>
          <p:cNvPr id="17" name="Text 15"/>
          <p:cNvSpPr txBox="1"/>
          <p:nvPr/>
        </p:nvSpPr>
        <p:spPr>
          <a:xfrm>
            <a:off x="859536" y="4773168"/>
            <a:ext cx="10469880" cy="512064"/>
          </a:xfrm>
          <a:prstGeom prst="rect">
            <a:avLst/>
          </a:prstGeom>
          <a:noFill/>
          <a:ln/>
        </p:spPr>
        <p:txBody>
          <a:bodyPr wrap="square" lIns="0" tIns="0" rIns="0" bIns="0" rtlCol="0" anchor="ctr"/>
          <a:lstStyle/>
          <a:p>
            <a:pPr indent="0" marL="0">
              <a:lnSpc>
                <a:spcPct val="112000"/>
              </a:lnSpc>
              <a:buNone/>
            </a:pPr>
            <a:r>
              <a:rPr lang="en-US" sz="1200" dirty="0">
                <a:solidFill>
                  <a:srgbClr val="B9BFD2"/>
                </a:solidFill>
              </a:rPr>
              <a:t>Rejecting "&gt;=" is deliberate rather than accidental, which is exactly what lets the message name the phrase to use instead. Suggestions for mistyped names are found by edit distance over the names currently in scope.</a:t>
            </a:r>
            <a:endParaRPr lang="en-US" sz="1200" dirty="0"/>
          </a:p>
        </p:txBody>
      </p:sp>
      <p:sp>
        <p:nvSpPr>
          <p:cNvPr id="25" name="Slide Number Placeholder 0"/>
          <p:cNvSpPr>
            <a:spLocks noGrp="1"/>
          </p:cNvSpPr>
          <p:nvPr>
            <p:ph type="sldNum" sz="quarter" idx="4294967295"/>
          </p:nvPr>
        </p:nvSpPr>
        <p:spPr>
          <a:xfrm>
            <a:off x="11164824"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87"/>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658368"/>
          </a:xfrm>
          <a:prstGeom prst="rect">
            <a:avLst/>
          </a:prstGeom>
          <a:noFill/>
          <a:ln/>
        </p:spPr>
        <p:txBody>
          <a:bodyPr wrap="square" lIns="0" tIns="0" rIns="0" bIns="0" rtlCol="0" anchor="ctr"/>
          <a:lstStyle/>
          <a:p>
            <a:pPr algn="l" indent="0" marL="0">
              <a:buNone/>
            </a:pPr>
            <a:r>
              <a:rPr lang="en-US" sz="3200" b="1" dirty="0">
                <a:solidFill>
                  <a:srgbClr val="0E1020"/>
                </a:solidFill>
                <a:latin typeface="Cambria" pitchFamily="34" charset="0"/>
                <a:ea typeface="Cambria" pitchFamily="34" charset="-122"/>
                <a:cs typeface="Cambria" pitchFamily="34" charset="-120"/>
              </a:rPr>
              <a:t>Error recovery: every mistake in a single pass</a:t>
            </a:r>
            <a:endParaRPr lang="en-US" sz="3200" dirty="0"/>
          </a:p>
        </p:txBody>
      </p:sp>
      <p:sp>
        <p:nvSpPr>
          <p:cNvPr id="3" name="Text 1"/>
          <p:cNvSpPr txBox="1"/>
          <p:nvPr/>
        </p:nvSpPr>
        <p:spPr>
          <a:xfrm>
            <a:off x="566928" y="1261872"/>
            <a:ext cx="5120640" cy="219456"/>
          </a:xfrm>
          <a:prstGeom prst="rect">
            <a:avLst/>
          </a:prstGeom>
          <a:noFill/>
          <a:ln/>
        </p:spPr>
        <p:txBody>
          <a:bodyPr wrap="square" lIns="0" tIns="0" rIns="0" bIns="0" rtlCol="0" anchor="ctr"/>
          <a:lstStyle/>
          <a:p>
            <a:pPr indent="0" marL="0">
              <a:buNone/>
            </a:pPr>
            <a:r>
              <a:rPr lang="en-US" sz="1000" b="1" spc="120" kern="0" dirty="0">
                <a:solidFill>
                  <a:srgbClr val="6B7187"/>
                </a:solidFill>
              </a:rPr>
              <a:t>A FILE WITH FOUR SEPARATE MISTAKES</a:t>
            </a:r>
            <a:endParaRPr lang="en-US" sz="1000" dirty="0"/>
          </a:p>
        </p:txBody>
      </p:sp>
      <p:sp>
        <p:nvSpPr>
          <p:cNvPr id="4" name="code-bad"/>
          <p:cNvSpPr/>
          <p:nvPr/>
        </p:nvSpPr>
        <p:spPr>
          <a:xfrm>
            <a:off x="566928" y="1517904"/>
            <a:ext cx="5120640" cy="2103120"/>
          </a:xfrm>
          <a:prstGeom prst="roundRect">
            <a:avLst>
              <a:gd name="adj" fmla="val 1304"/>
            </a:avLst>
          </a:prstGeom>
          <a:solidFill>
            <a:srgbClr val="1E2340"/>
          </a:solidFill>
          <a:ln w="12700">
            <a:solidFill>
              <a:srgbClr val="1E2340"/>
            </a:solidFill>
            <a:prstDash val="solid"/>
          </a:ln>
        </p:spPr>
      </p:sp>
      <p:sp>
        <p:nvSpPr>
          <p:cNvPr id="5" name="Text 3"/>
          <p:cNvSpPr txBox="1"/>
          <p:nvPr/>
        </p:nvSpPr>
        <p:spPr>
          <a:xfrm>
            <a:off x="713232" y="1627632"/>
            <a:ext cx="4828032" cy="1883664"/>
          </a:xfrm>
          <a:prstGeom prst="rect">
            <a:avLst/>
          </a:prstGeom>
          <a:noFill/>
          <a:ln/>
        </p:spPr>
        <p:txBody>
          <a:bodyPr wrap="square" lIns="0" tIns="0" rIns="0" bIns="0" rtlCol="0" anchor="t"/>
          <a:lstStyle/>
          <a:p>
            <a:pPr algn="l" indent="0" marL="0">
              <a:lnSpc>
                <a:spcPct val="106000"/>
              </a:lnSpc>
              <a:buNone/>
            </a:pPr>
            <a:r>
              <a:rPr lang="en-US" sz="1150" dirty="0">
                <a:solidFill>
                  <a:srgbClr val="FFFFFF"/>
                </a:solidFill>
                <a:latin typeface="Courier New" pitchFamily="34" charset="0"/>
                <a:ea typeface="Courier New" pitchFamily="34" charset="-122"/>
                <a:cs typeface="Courier New" pitchFamily="34" charset="-120"/>
              </a:rPr>
              <a:t>set total to</a:t>
            </a:r>
            <a:endParaRPr lang="en-US" sz="1150" dirty="0"/>
          </a:p>
          <a:p>
            <a:pPr algn="l" indent="0" marL="0">
              <a:lnSpc>
                <a:spcPct val="106000"/>
              </a:lnSpc>
              <a:buNone/>
            </a:pPr>
            <a:endParaRPr lang="en-US" sz="1150" dirty="0"/>
          </a:p>
          <a:p>
            <a:pPr algn="l" indent="0" marL="0">
              <a:lnSpc>
                <a:spcPct val="106000"/>
              </a:lnSpc>
              <a:buNone/>
            </a:pPr>
            <a:r>
              <a:rPr lang="en-US" sz="1150" dirty="0">
                <a:solidFill>
                  <a:srgbClr val="FFFFFF"/>
                </a:solidFill>
                <a:latin typeface="Courier New" pitchFamily="34" charset="0"/>
                <a:ea typeface="Courier New" pitchFamily="34" charset="-122"/>
                <a:cs typeface="Courier New" pitchFamily="34" charset="-120"/>
              </a:rPr>
              <a:t>if total is at least 10</a:t>
            </a:r>
            <a:endParaRPr lang="en-US" sz="1150" dirty="0"/>
          </a:p>
          <a:p>
            <a:pPr algn="l" indent="0" marL="0">
              <a:lnSpc>
                <a:spcPct val="106000"/>
              </a:lnSpc>
              <a:buNone/>
            </a:pPr>
            <a:r>
              <a:rPr lang="en-US" sz="1150" dirty="0">
                <a:solidFill>
                  <a:srgbClr val="FFFFFF"/>
                </a:solidFill>
                <a:latin typeface="Courier New" pitchFamily="34" charset="0"/>
                <a:ea typeface="Courier New" pitchFamily="34" charset="-122"/>
                <a:cs typeface="Courier New" pitchFamily="34" charset="-120"/>
              </a:rPr>
              <a:t>    say "missing colon above"</a:t>
            </a:r>
            <a:endParaRPr lang="en-US" sz="1150" dirty="0"/>
          </a:p>
          <a:p>
            <a:pPr algn="l" indent="0" marL="0">
              <a:lnSpc>
                <a:spcPct val="106000"/>
              </a:lnSpc>
              <a:buNone/>
            </a:pPr>
            <a:endParaRPr lang="en-US" sz="1150" dirty="0"/>
          </a:p>
          <a:p>
            <a:pPr algn="l" indent="0" marL="0">
              <a:lnSpc>
                <a:spcPct val="106000"/>
              </a:lnSpc>
              <a:buNone/>
            </a:pPr>
            <a:r>
              <a:rPr lang="en-US" sz="1150" dirty="0">
                <a:solidFill>
                  <a:srgbClr val="FFFFFF"/>
                </a:solidFill>
                <a:latin typeface="Courier New" pitchFamily="34" charset="0"/>
                <a:ea typeface="Courier New" pitchFamily="34" charset="-122"/>
                <a:cs typeface="Courier New" pitchFamily="34" charset="-120"/>
              </a:rPr>
              <a:t>define add_up with a, a:</a:t>
            </a:r>
            <a:endParaRPr lang="en-US" sz="1150" dirty="0"/>
          </a:p>
          <a:p>
            <a:pPr algn="l" indent="0" marL="0">
              <a:lnSpc>
                <a:spcPct val="106000"/>
              </a:lnSpc>
              <a:buNone/>
            </a:pPr>
            <a:r>
              <a:rPr lang="en-US" sz="1150" dirty="0">
                <a:solidFill>
                  <a:srgbClr val="FFFFFF"/>
                </a:solidFill>
                <a:latin typeface="Courier New" pitchFamily="34" charset="0"/>
                <a:ea typeface="Courier New" pitchFamily="34" charset="-122"/>
                <a:cs typeface="Courier New" pitchFamily="34" charset="-120"/>
              </a:rPr>
              <a:t>    give back a</a:t>
            </a:r>
            <a:endParaRPr lang="en-US" sz="1150" dirty="0"/>
          </a:p>
          <a:p>
            <a:pPr algn="l" indent="0" marL="0">
              <a:lnSpc>
                <a:spcPct val="106000"/>
              </a:lnSpc>
              <a:buNone/>
            </a:pPr>
            <a:endParaRPr lang="en-US" sz="1150" dirty="0"/>
          </a:p>
          <a:p>
            <a:pPr algn="l" indent="0" marL="0">
              <a:lnSpc>
                <a:spcPct val="106000"/>
              </a:lnSpc>
              <a:buNone/>
            </a:pPr>
            <a:r>
              <a:rPr lang="en-US" sz="1150" dirty="0">
                <a:solidFill>
                  <a:srgbClr val="FFFFFF"/>
                </a:solidFill>
                <a:latin typeface="Courier New" pitchFamily="34" charset="0"/>
                <a:ea typeface="Courier New" pitchFamily="34" charset="-122"/>
                <a:cs typeface="Courier New" pitchFamily="34" charset="-120"/>
              </a:rPr>
              <a:t>say total +</a:t>
            </a:r>
            <a:endParaRPr lang="en-US" sz="1150" dirty="0"/>
          </a:p>
        </p:txBody>
      </p:sp>
      <p:sp>
        <p:nvSpPr>
          <p:cNvPr id="6" name="rec-note"/>
          <p:cNvSpPr/>
          <p:nvPr/>
        </p:nvSpPr>
        <p:spPr>
          <a:xfrm>
            <a:off x="566928" y="3803904"/>
            <a:ext cx="5120640" cy="1591056"/>
          </a:xfrm>
          <a:prstGeom prst="roundRect">
            <a:avLst>
              <a:gd name="adj" fmla="val 1724"/>
            </a:avLst>
          </a:prstGeom>
          <a:solidFill>
            <a:srgbClr val="FFFFFF"/>
          </a:solidFill>
          <a:ln w="12700">
            <a:solidFill>
              <a:srgbClr val="DDE1EC"/>
            </a:solidFill>
            <a:prstDash val="solid"/>
          </a:ln>
        </p:spPr>
      </p:sp>
      <p:sp>
        <p:nvSpPr>
          <p:cNvPr id="7" name="Text 5"/>
          <p:cNvSpPr txBox="1"/>
          <p:nvPr/>
        </p:nvSpPr>
        <p:spPr>
          <a:xfrm>
            <a:off x="804672" y="3968496"/>
            <a:ext cx="4645152" cy="274320"/>
          </a:xfrm>
          <a:prstGeom prst="rect">
            <a:avLst/>
          </a:prstGeom>
          <a:noFill/>
          <a:ln/>
        </p:spPr>
        <p:txBody>
          <a:bodyPr wrap="square" lIns="0" tIns="0" rIns="0" bIns="0" rtlCol="0" anchor="ctr"/>
          <a:lstStyle/>
          <a:p>
            <a:pPr indent="0" marL="0">
              <a:buNone/>
            </a:pPr>
            <a:r>
              <a:rPr lang="en-US" sz="1450" b="1" dirty="0">
                <a:solidFill>
                  <a:srgbClr val="0E1020"/>
                </a:solidFill>
              </a:rPr>
              <a:t>Panic-mode recovery</a:t>
            </a:r>
            <a:endParaRPr lang="en-US" sz="1450" dirty="0"/>
          </a:p>
        </p:txBody>
      </p:sp>
      <p:sp>
        <p:nvSpPr>
          <p:cNvPr id="8" name="Text 6"/>
          <p:cNvSpPr txBox="1"/>
          <p:nvPr/>
        </p:nvSpPr>
        <p:spPr>
          <a:xfrm>
            <a:off x="804672" y="4279392"/>
            <a:ext cx="4645152" cy="1005840"/>
          </a:xfrm>
          <a:prstGeom prst="rect">
            <a:avLst/>
          </a:prstGeom>
          <a:noFill/>
          <a:ln/>
        </p:spPr>
        <p:txBody>
          <a:bodyPr wrap="square" lIns="0" tIns="0" rIns="0" bIns="0" rtlCol="0" anchor="ctr"/>
          <a:lstStyle/>
          <a:p>
            <a:pPr indent="0" marL="0">
              <a:lnSpc>
                <a:spcPct val="112000"/>
              </a:lnSpc>
              <a:buNone/>
            </a:pPr>
            <a:r>
              <a:rPr lang="en-US" sz="1150" dirty="0">
                <a:solidFill>
                  <a:srgbClr val="6B7187"/>
                </a:solidFill>
              </a:rPr>
              <a:t>The parser records the error, discards tokens until a line that could begin a new statement, and carries on. Running the file stops at the first mistake, as most compilers do; checking it reports all four.</a:t>
            </a:r>
            <a:endParaRPr lang="en-US" sz="1150" dirty="0"/>
          </a:p>
        </p:txBody>
      </p:sp>
      <p:sp>
        <p:nvSpPr>
          <p:cNvPr id="9" name="Text 7"/>
          <p:cNvSpPr txBox="1"/>
          <p:nvPr/>
        </p:nvSpPr>
        <p:spPr>
          <a:xfrm>
            <a:off x="6089904" y="1261872"/>
            <a:ext cx="5532120" cy="219456"/>
          </a:xfrm>
          <a:prstGeom prst="rect">
            <a:avLst/>
          </a:prstGeom>
          <a:noFill/>
          <a:ln/>
        </p:spPr>
        <p:txBody>
          <a:bodyPr wrap="square" lIns="0" tIns="0" rIns="0" bIns="0" rtlCol="0" anchor="ctr"/>
          <a:lstStyle/>
          <a:p>
            <a:pPr indent="0" marL="0">
              <a:buNone/>
            </a:pPr>
            <a:r>
              <a:rPr lang="en-US" sz="1000" b="1" spc="120" kern="0" dirty="0">
                <a:solidFill>
                  <a:srgbClr val="6B7187"/>
                </a:solidFill>
              </a:rPr>
              <a:t>OUTPUT OF  stickynight --check</a:t>
            </a:r>
            <a:endParaRPr lang="en-US" sz="1000" dirty="0"/>
          </a:p>
        </p:txBody>
      </p:sp>
      <p:sp>
        <p:nvSpPr>
          <p:cNvPr id="10" name="code-check"/>
          <p:cNvSpPr/>
          <p:nvPr/>
        </p:nvSpPr>
        <p:spPr>
          <a:xfrm>
            <a:off x="6089904" y="1517904"/>
            <a:ext cx="5532120" cy="3877056"/>
          </a:xfrm>
          <a:prstGeom prst="roundRect">
            <a:avLst>
              <a:gd name="adj" fmla="val 708"/>
            </a:avLst>
          </a:prstGeom>
          <a:solidFill>
            <a:srgbClr val="F2F3F8"/>
          </a:solidFill>
          <a:ln w="12700">
            <a:solidFill>
              <a:srgbClr val="E2E5EE"/>
            </a:solidFill>
            <a:prstDash val="solid"/>
          </a:ln>
        </p:spPr>
      </p:sp>
      <p:sp>
        <p:nvSpPr>
          <p:cNvPr id="11" name="Text 9"/>
          <p:cNvSpPr txBox="1"/>
          <p:nvPr/>
        </p:nvSpPr>
        <p:spPr>
          <a:xfrm>
            <a:off x="6254496" y="1682496"/>
            <a:ext cx="5202936" cy="3566160"/>
          </a:xfrm>
          <a:prstGeom prst="rect">
            <a:avLst/>
          </a:prstGeom>
          <a:noFill/>
          <a:ln/>
        </p:spPr>
        <p:txBody>
          <a:bodyPr wrap="square" lIns="0" tIns="0" rIns="0" bIns="0" rtlCol="0" anchor="t"/>
          <a:lstStyle/>
          <a:p>
            <a:pPr indent="0" marL="0">
              <a:lnSpc>
                <a:spcPct val="108000"/>
              </a:lnSpc>
              <a:buNone/>
            </a:pPr>
            <a:r>
              <a:rPr lang="en-US" sz="1150" dirty="0">
                <a:solidFill>
                  <a:srgbClr val="0E1020"/>
                </a:solidFill>
                <a:latin typeface="Courier New" pitchFamily="34" charset="0"/>
                <a:ea typeface="Courier New" pitchFamily="34" charset="-122"/>
                <a:cs typeface="Courier New" pitchFamily="34" charset="-120"/>
              </a:rPr>
              <a:t>line 11  This line stops before it says</a:t>
            </a:r>
            <a:endParaRPr lang="en-US" sz="1150" dirty="0"/>
          </a:p>
          <a:p>
            <a:pPr indent="0" marL="0">
              <a:lnSpc>
                <a:spcPct val="108000"/>
              </a:lnSpc>
              <a:buNone/>
            </a:pPr>
            <a:r>
              <a:rPr lang="en-US" sz="1150" dirty="0">
                <a:solidFill>
                  <a:srgbClr val="6B7187"/>
                </a:solidFill>
                <a:latin typeface="Courier New" pitchFamily="34" charset="0"/>
                <a:ea typeface="Courier New" pitchFamily="34" charset="-122"/>
                <a:cs typeface="Courier New" pitchFamily="34" charset="-120"/>
              </a:rPr>
              <a:t>         what to do.</a:t>
            </a:r>
            <a:endParaRPr lang="en-US" sz="1150" dirty="0"/>
          </a:p>
          <a:p>
            <a:pPr indent="0" marL="0">
              <a:lnSpc>
                <a:spcPct val="108000"/>
              </a:lnSpc>
              <a:buNone/>
            </a:pPr>
            <a:endParaRPr lang="en-US" sz="1150" dirty="0"/>
          </a:p>
          <a:p>
            <a:pPr indent="0" marL="0">
              <a:lnSpc>
                <a:spcPct val="108000"/>
              </a:lnSpc>
              <a:buNone/>
            </a:pPr>
            <a:r>
              <a:rPr lang="en-US" sz="1150" dirty="0">
                <a:solidFill>
                  <a:srgbClr val="0E1020"/>
                </a:solidFill>
                <a:latin typeface="Courier New" pitchFamily="34" charset="0"/>
                <a:ea typeface="Courier New" pitchFamily="34" charset="-122"/>
                <a:cs typeface="Courier New" pitchFamily="34" charset="-120"/>
              </a:rPr>
              <a:t>line 14  I expected a ':' at the end of</a:t>
            </a:r>
            <a:endParaRPr lang="en-US" sz="1150" dirty="0"/>
          </a:p>
          <a:p>
            <a:pPr indent="0" marL="0">
              <a:lnSpc>
                <a:spcPct val="108000"/>
              </a:lnSpc>
              <a:buNone/>
            </a:pPr>
            <a:r>
              <a:rPr lang="en-US" sz="1150" dirty="0">
                <a:solidFill>
                  <a:srgbClr val="6B7187"/>
                </a:solidFill>
                <a:latin typeface="Courier New" pitchFamily="34" charset="0"/>
                <a:ea typeface="Courier New" pitchFamily="34" charset="-122"/>
                <a:cs typeface="Courier New" pitchFamily="34" charset="-120"/>
              </a:rPr>
              <a:t>         this 'if' line.</a:t>
            </a:r>
            <a:endParaRPr lang="en-US" sz="1150" dirty="0"/>
          </a:p>
          <a:p>
            <a:pPr indent="0" marL="0">
              <a:lnSpc>
                <a:spcPct val="108000"/>
              </a:lnSpc>
              <a:buNone/>
            </a:pPr>
            <a:endParaRPr lang="en-US" sz="1150" dirty="0"/>
          </a:p>
          <a:p>
            <a:pPr indent="0" marL="0">
              <a:lnSpc>
                <a:spcPct val="108000"/>
              </a:lnSpc>
              <a:buNone/>
            </a:pPr>
            <a:r>
              <a:rPr lang="en-US" sz="1150" dirty="0">
                <a:solidFill>
                  <a:srgbClr val="0E1020"/>
                </a:solidFill>
                <a:latin typeface="Courier New" pitchFamily="34" charset="0"/>
                <a:ea typeface="Courier New" pitchFamily="34" charset="-122"/>
                <a:cs typeface="Courier New" pitchFamily="34" charset="-120"/>
              </a:rPr>
              <a:t>line 17  'a' is listed twice as an input</a:t>
            </a:r>
            <a:endParaRPr lang="en-US" sz="1150" dirty="0"/>
          </a:p>
          <a:p>
            <a:pPr indent="0" marL="0">
              <a:lnSpc>
                <a:spcPct val="108000"/>
              </a:lnSpc>
              <a:buNone/>
            </a:pPr>
            <a:r>
              <a:rPr lang="en-US" sz="1150" dirty="0">
                <a:solidFill>
                  <a:srgbClr val="6B7187"/>
                </a:solidFill>
                <a:latin typeface="Courier New" pitchFamily="34" charset="0"/>
                <a:ea typeface="Courier New" pitchFamily="34" charset="-122"/>
                <a:cs typeface="Courier New" pitchFamily="34" charset="-120"/>
              </a:rPr>
              <a:t>         to 'add_up'.</a:t>
            </a:r>
            <a:endParaRPr lang="en-US" sz="1150" dirty="0"/>
          </a:p>
          <a:p>
            <a:pPr indent="0" marL="0">
              <a:lnSpc>
                <a:spcPct val="108000"/>
              </a:lnSpc>
              <a:buNone/>
            </a:pPr>
            <a:endParaRPr lang="en-US" sz="1150" dirty="0"/>
          </a:p>
          <a:p>
            <a:pPr indent="0" marL="0">
              <a:lnSpc>
                <a:spcPct val="108000"/>
              </a:lnSpc>
              <a:buNone/>
            </a:pPr>
            <a:r>
              <a:rPr lang="en-US" sz="1150" dirty="0">
                <a:solidFill>
                  <a:srgbClr val="0E1020"/>
                </a:solidFill>
                <a:latin typeface="Courier New" pitchFamily="34" charset="0"/>
                <a:ea typeface="Courier New" pitchFamily="34" charset="-122"/>
                <a:cs typeface="Courier New" pitchFamily="34" charset="-120"/>
              </a:rPr>
              <a:t>line 20  This line stops before it says</a:t>
            </a:r>
            <a:endParaRPr lang="en-US" sz="1150" dirty="0"/>
          </a:p>
          <a:p>
            <a:pPr indent="0" marL="0">
              <a:lnSpc>
                <a:spcPct val="108000"/>
              </a:lnSpc>
              <a:buNone/>
            </a:pPr>
            <a:r>
              <a:rPr lang="en-US" sz="1150" dirty="0">
                <a:solidFill>
                  <a:srgbClr val="6B7187"/>
                </a:solidFill>
                <a:latin typeface="Courier New" pitchFamily="34" charset="0"/>
                <a:ea typeface="Courier New" pitchFamily="34" charset="-122"/>
                <a:cs typeface="Courier New" pitchFamily="34" charset="-120"/>
              </a:rPr>
              <a:t>         what to do.</a:t>
            </a:r>
            <a:endParaRPr lang="en-US" sz="1150" dirty="0"/>
          </a:p>
          <a:p>
            <a:pPr indent="0" marL="0">
              <a:lnSpc>
                <a:spcPct val="108000"/>
              </a:lnSpc>
              <a:buNone/>
            </a:pPr>
            <a:endParaRPr lang="en-US" sz="1150" dirty="0"/>
          </a:p>
          <a:p>
            <a:pPr indent="0" marL="0">
              <a:lnSpc>
                <a:spcPct val="108000"/>
              </a:lnSpc>
              <a:buNone/>
            </a:pPr>
            <a:r>
              <a:rPr lang="en-US" sz="1150" b="1" dirty="0">
                <a:solidFill>
                  <a:srgbClr val="4E9163"/>
                </a:solidFill>
                <a:latin typeface="Courier New" pitchFamily="34" charset="0"/>
                <a:ea typeface="Courier New" pitchFamily="34" charset="-122"/>
                <a:cs typeface="Courier New" pitchFamily="34" charset="-120"/>
              </a:rPr>
              <a:t>4 problems found.</a:t>
            </a:r>
            <a:endParaRPr lang="en-US" sz="1150" dirty="0"/>
          </a:p>
        </p:txBody>
      </p:sp>
      <p:sp>
        <p:nvSpPr>
          <p:cNvPr id="25" name="Slide Number Placeholder 0"/>
          <p:cNvSpPr>
            <a:spLocks noGrp="1"/>
          </p:cNvSpPr>
          <p:nvPr>
            <p:ph type="sldNum" sz="quarter" idx="4294967295"/>
          </p:nvPr>
        </p:nvSpPr>
        <p:spPr>
          <a:xfrm>
            <a:off x="11164824"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87"/>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658368"/>
          </a:xfrm>
          <a:prstGeom prst="rect">
            <a:avLst/>
          </a:prstGeom>
          <a:noFill/>
          <a:ln/>
        </p:spPr>
        <p:txBody>
          <a:bodyPr wrap="square" lIns="0" tIns="0" rIns="0" bIns="0" rtlCol="0" anchor="ctr"/>
          <a:lstStyle/>
          <a:p>
            <a:pPr algn="l" indent="0" marL="0">
              <a:buNone/>
            </a:pPr>
            <a:r>
              <a:rPr lang="en-US" sz="3200" b="1" dirty="0">
                <a:solidFill>
                  <a:srgbClr val="0E1020"/>
                </a:solidFill>
                <a:latin typeface="Cambria" pitchFamily="34" charset="0"/>
                <a:ea typeface="Cambria" pitchFamily="34" charset="-122"/>
                <a:cs typeface="Cambria" pitchFamily="34" charset="-120"/>
              </a:rPr>
              <a:t>Validation: an automated test suite</a:t>
            </a:r>
            <a:endParaRPr lang="en-US" sz="3200" dirty="0"/>
          </a:p>
        </p:txBody>
      </p:sp>
      <p:sp>
        <p:nvSpPr>
          <p:cNvPr id="3" name="t-stat-0"/>
          <p:cNvSpPr/>
          <p:nvPr/>
        </p:nvSpPr>
        <p:spPr>
          <a:xfrm>
            <a:off x="566928" y="1280160"/>
            <a:ext cx="3441192" cy="1042416"/>
          </a:xfrm>
          <a:prstGeom prst="roundRect">
            <a:avLst>
              <a:gd name="adj" fmla="val 2632"/>
            </a:avLst>
          </a:prstGeom>
          <a:solidFill>
            <a:srgbClr val="F2F3F8"/>
          </a:solidFill>
          <a:ln w="12700">
            <a:solidFill>
              <a:srgbClr val="E2E5EE"/>
            </a:solidFill>
            <a:prstDash val="solid"/>
          </a:ln>
        </p:spPr>
      </p:sp>
      <p:sp>
        <p:nvSpPr>
          <p:cNvPr id="4" name="Text 2"/>
          <p:cNvSpPr txBox="1"/>
          <p:nvPr/>
        </p:nvSpPr>
        <p:spPr>
          <a:xfrm>
            <a:off x="822960" y="1389888"/>
            <a:ext cx="2929128" cy="493776"/>
          </a:xfrm>
          <a:prstGeom prst="rect">
            <a:avLst/>
          </a:prstGeom>
          <a:noFill/>
          <a:ln/>
        </p:spPr>
        <p:txBody>
          <a:bodyPr wrap="square" lIns="0" tIns="0" rIns="0" bIns="0" rtlCol="0" anchor="ctr"/>
          <a:lstStyle/>
          <a:p>
            <a:pPr indent="0" marL="0">
              <a:buNone/>
            </a:pPr>
            <a:r>
              <a:rPr lang="en-US" sz="3200" b="1" dirty="0">
                <a:solidFill>
                  <a:srgbClr val="4E9163"/>
                </a:solidFill>
                <a:latin typeface="Cambria" pitchFamily="34" charset="0"/>
                <a:ea typeface="Cambria" pitchFamily="34" charset="-122"/>
                <a:cs typeface="Cambria" pitchFamily="34" charset="-120"/>
              </a:rPr>
              <a:t>314</a:t>
            </a:r>
            <a:endParaRPr lang="en-US" sz="3200" dirty="0"/>
          </a:p>
        </p:txBody>
      </p:sp>
      <p:sp>
        <p:nvSpPr>
          <p:cNvPr id="5" name="Text 3"/>
          <p:cNvSpPr txBox="1"/>
          <p:nvPr/>
        </p:nvSpPr>
        <p:spPr>
          <a:xfrm>
            <a:off x="822960" y="1883664"/>
            <a:ext cx="2929128" cy="274320"/>
          </a:xfrm>
          <a:prstGeom prst="rect">
            <a:avLst/>
          </a:prstGeom>
          <a:noFill/>
          <a:ln/>
        </p:spPr>
        <p:txBody>
          <a:bodyPr wrap="square" lIns="0" tIns="0" rIns="0" bIns="0" rtlCol="0" anchor="ctr"/>
          <a:lstStyle/>
          <a:p>
            <a:pPr indent="0" marL="0">
              <a:buNone/>
            </a:pPr>
            <a:r>
              <a:rPr lang="en-US" sz="1200" dirty="0">
                <a:solidFill>
                  <a:srgbClr val="6B7187"/>
                </a:solidFill>
              </a:rPr>
              <a:t>tests, all passing</a:t>
            </a:r>
            <a:endParaRPr lang="en-US" sz="1200" dirty="0"/>
          </a:p>
        </p:txBody>
      </p:sp>
      <p:sp>
        <p:nvSpPr>
          <p:cNvPr id="6" name="t-stat-1"/>
          <p:cNvSpPr/>
          <p:nvPr/>
        </p:nvSpPr>
        <p:spPr>
          <a:xfrm>
            <a:off x="4373880" y="1280160"/>
            <a:ext cx="3441192" cy="1042416"/>
          </a:xfrm>
          <a:prstGeom prst="roundRect">
            <a:avLst>
              <a:gd name="adj" fmla="val 2632"/>
            </a:avLst>
          </a:prstGeom>
          <a:solidFill>
            <a:srgbClr val="F2F3F8"/>
          </a:solidFill>
          <a:ln w="12700">
            <a:solidFill>
              <a:srgbClr val="E2E5EE"/>
            </a:solidFill>
            <a:prstDash val="solid"/>
          </a:ln>
        </p:spPr>
      </p:sp>
      <p:sp>
        <p:nvSpPr>
          <p:cNvPr id="7" name="Text 5"/>
          <p:cNvSpPr txBox="1"/>
          <p:nvPr/>
        </p:nvSpPr>
        <p:spPr>
          <a:xfrm>
            <a:off x="4629912" y="1389888"/>
            <a:ext cx="2929128" cy="493776"/>
          </a:xfrm>
          <a:prstGeom prst="rect">
            <a:avLst/>
          </a:prstGeom>
          <a:noFill/>
          <a:ln/>
        </p:spPr>
        <p:txBody>
          <a:bodyPr wrap="square" lIns="0" tIns="0" rIns="0" bIns="0" rtlCol="0" anchor="ctr"/>
          <a:lstStyle/>
          <a:p>
            <a:pPr indent="0" marL="0">
              <a:buNone/>
            </a:pPr>
            <a:r>
              <a:rPr lang="en-US" sz="3200" b="1" dirty="0">
                <a:solidFill>
                  <a:srgbClr val="3D7DD6"/>
                </a:solidFill>
                <a:latin typeface="Cambria" pitchFamily="34" charset="0"/>
                <a:ea typeface="Cambria" pitchFamily="34" charset="-122"/>
                <a:cs typeface="Cambria" pitchFamily="34" charset="-120"/>
              </a:rPr>
              <a:t>6</a:t>
            </a:r>
            <a:endParaRPr lang="en-US" sz="3200" dirty="0"/>
          </a:p>
        </p:txBody>
      </p:sp>
      <p:sp>
        <p:nvSpPr>
          <p:cNvPr id="8" name="Text 6"/>
          <p:cNvSpPr txBox="1"/>
          <p:nvPr/>
        </p:nvSpPr>
        <p:spPr>
          <a:xfrm>
            <a:off x="4629912" y="1883664"/>
            <a:ext cx="2929128" cy="274320"/>
          </a:xfrm>
          <a:prstGeom prst="rect">
            <a:avLst/>
          </a:prstGeom>
          <a:noFill/>
          <a:ln/>
        </p:spPr>
        <p:txBody>
          <a:bodyPr wrap="square" lIns="0" tIns="0" rIns="0" bIns="0" rtlCol="0" anchor="ctr"/>
          <a:lstStyle/>
          <a:p>
            <a:pPr indent="0" marL="0">
              <a:buNone/>
            </a:pPr>
            <a:r>
              <a:rPr lang="en-US" sz="1200" dirty="0">
                <a:solidFill>
                  <a:srgbClr val="6B7187"/>
                </a:solidFill>
              </a:rPr>
              <a:t>test files, one per stage</a:t>
            </a:r>
            <a:endParaRPr lang="en-US" sz="1200" dirty="0"/>
          </a:p>
        </p:txBody>
      </p:sp>
      <p:sp>
        <p:nvSpPr>
          <p:cNvPr id="9" name="t-stat-2"/>
          <p:cNvSpPr/>
          <p:nvPr/>
        </p:nvSpPr>
        <p:spPr>
          <a:xfrm>
            <a:off x="8180832" y="1280160"/>
            <a:ext cx="3441192" cy="1042416"/>
          </a:xfrm>
          <a:prstGeom prst="roundRect">
            <a:avLst>
              <a:gd name="adj" fmla="val 2632"/>
            </a:avLst>
          </a:prstGeom>
          <a:solidFill>
            <a:srgbClr val="F2F3F8"/>
          </a:solidFill>
          <a:ln w="12700">
            <a:solidFill>
              <a:srgbClr val="E2E5EE"/>
            </a:solidFill>
            <a:prstDash val="solid"/>
          </a:ln>
        </p:spPr>
      </p:sp>
      <p:sp>
        <p:nvSpPr>
          <p:cNvPr id="10" name="Text 8"/>
          <p:cNvSpPr txBox="1"/>
          <p:nvPr/>
        </p:nvSpPr>
        <p:spPr>
          <a:xfrm>
            <a:off x="8436864" y="1389888"/>
            <a:ext cx="2929128" cy="493776"/>
          </a:xfrm>
          <a:prstGeom prst="rect">
            <a:avLst/>
          </a:prstGeom>
          <a:noFill/>
          <a:ln/>
        </p:spPr>
        <p:txBody>
          <a:bodyPr wrap="square" lIns="0" tIns="0" rIns="0" bIns="0" rtlCol="0" anchor="ctr"/>
          <a:lstStyle/>
          <a:p>
            <a:pPr indent="0" marL="0">
              <a:buNone/>
            </a:pPr>
            <a:r>
              <a:rPr lang="en-US" sz="3200" b="1" dirty="0">
                <a:solidFill>
                  <a:srgbClr val="FFC857"/>
                </a:solidFill>
                <a:latin typeface="Cambria" pitchFamily="34" charset="0"/>
                <a:ea typeface="Cambria" pitchFamily="34" charset="-122"/>
                <a:cs typeface="Cambria" pitchFamily="34" charset="-120"/>
              </a:rPr>
              <a:t>26</a:t>
            </a:r>
            <a:endParaRPr lang="en-US" sz="3200" dirty="0"/>
          </a:p>
        </p:txBody>
      </p:sp>
      <p:sp>
        <p:nvSpPr>
          <p:cNvPr id="11" name="Text 9"/>
          <p:cNvSpPr txBox="1"/>
          <p:nvPr/>
        </p:nvSpPr>
        <p:spPr>
          <a:xfrm>
            <a:off x="8436864" y="1883664"/>
            <a:ext cx="2929128" cy="274320"/>
          </a:xfrm>
          <a:prstGeom prst="rect">
            <a:avLst/>
          </a:prstGeom>
          <a:noFill/>
          <a:ln/>
        </p:spPr>
        <p:txBody>
          <a:bodyPr wrap="square" lIns="0" tIns="0" rIns="0" bIns="0" rtlCol="0" anchor="ctr"/>
          <a:lstStyle/>
          <a:p>
            <a:pPr indent="0" marL="0">
              <a:buNone/>
            </a:pPr>
            <a:r>
              <a:rPr lang="en-US" sz="1200" dirty="0">
                <a:solidFill>
                  <a:srgbClr val="6B7187"/>
                </a:solidFill>
              </a:rPr>
              <a:t>sample programs covered</a:t>
            </a:r>
            <a:endParaRPr lang="en-US" sz="1200" dirty="0"/>
          </a:p>
        </p:txBody>
      </p:sp>
      <p:sp>
        <p:nvSpPr>
          <p:cNvPr id="12" name="trow-0"/>
          <p:cNvSpPr/>
          <p:nvPr/>
        </p:nvSpPr>
        <p:spPr>
          <a:xfrm>
            <a:off x="566928" y="2560320"/>
            <a:ext cx="11055096" cy="493776"/>
          </a:xfrm>
          <a:prstGeom prst="roundRect">
            <a:avLst>
              <a:gd name="adj" fmla="val 5556"/>
            </a:avLst>
          </a:prstGeom>
          <a:solidFill>
            <a:srgbClr val="F2F3F8"/>
          </a:solidFill>
          <a:ln w="12700">
            <a:solidFill>
              <a:srgbClr val="F2F3F8"/>
            </a:solidFill>
            <a:prstDash val="solid"/>
          </a:ln>
        </p:spPr>
      </p:sp>
      <p:sp>
        <p:nvSpPr>
          <p:cNvPr id="13" name="Text 11"/>
          <p:cNvSpPr txBox="1"/>
          <p:nvPr/>
        </p:nvSpPr>
        <p:spPr>
          <a:xfrm>
            <a:off x="786384" y="2615184"/>
            <a:ext cx="2194560" cy="384048"/>
          </a:xfrm>
          <a:prstGeom prst="rect">
            <a:avLst/>
          </a:prstGeom>
          <a:noFill/>
          <a:ln/>
        </p:spPr>
        <p:txBody>
          <a:bodyPr wrap="square" lIns="0" tIns="0" rIns="0" bIns="0" rtlCol="0" anchor="ctr"/>
          <a:lstStyle/>
          <a:p>
            <a:pPr indent="0" marL="0">
              <a:buNone/>
            </a:pPr>
            <a:r>
              <a:rPr lang="en-US" sz="1250" b="1" dirty="0">
                <a:solidFill>
                  <a:srgbClr val="0E1020"/>
                </a:solidFill>
              </a:rPr>
              <a:t>Lexical analyser</a:t>
            </a:r>
            <a:endParaRPr lang="en-US" sz="1250" dirty="0"/>
          </a:p>
        </p:txBody>
      </p:sp>
      <p:sp>
        <p:nvSpPr>
          <p:cNvPr id="14" name="Text 12"/>
          <p:cNvSpPr txBox="1"/>
          <p:nvPr/>
        </p:nvSpPr>
        <p:spPr>
          <a:xfrm>
            <a:off x="3035808" y="2615184"/>
            <a:ext cx="548640" cy="384048"/>
          </a:xfrm>
          <a:prstGeom prst="rect">
            <a:avLst/>
          </a:prstGeom>
          <a:noFill/>
          <a:ln/>
        </p:spPr>
        <p:txBody>
          <a:bodyPr wrap="square" lIns="0" tIns="0" rIns="0" bIns="0" rtlCol="0" anchor="ctr"/>
          <a:lstStyle/>
          <a:p>
            <a:pPr algn="r" indent="0" marL="0">
              <a:buNone/>
            </a:pPr>
            <a:r>
              <a:rPr lang="en-US" sz="1250" b="1" dirty="0">
                <a:solidFill>
                  <a:srgbClr val="4E9163"/>
                </a:solidFill>
              </a:rPr>
              <a:t>31</a:t>
            </a:r>
            <a:endParaRPr lang="en-US" sz="1250" dirty="0"/>
          </a:p>
        </p:txBody>
      </p:sp>
      <p:sp>
        <p:nvSpPr>
          <p:cNvPr id="15" name="Text 13"/>
          <p:cNvSpPr txBox="1"/>
          <p:nvPr/>
        </p:nvSpPr>
        <p:spPr>
          <a:xfrm>
            <a:off x="3767328" y="2615184"/>
            <a:ext cx="7580376" cy="384048"/>
          </a:xfrm>
          <a:prstGeom prst="rect">
            <a:avLst/>
          </a:prstGeom>
          <a:noFill/>
          <a:ln/>
        </p:spPr>
        <p:txBody>
          <a:bodyPr wrap="square" lIns="0" tIns="0" rIns="0" bIns="0" rtlCol="0" anchor="ctr"/>
          <a:lstStyle/>
          <a:p>
            <a:pPr indent="0" marL="0">
              <a:buNone/>
            </a:pPr>
            <a:r>
              <a:rPr lang="en-US" sz="1200" dirty="0">
                <a:solidFill>
                  <a:srgbClr val="6B7187"/>
                </a:solidFill>
              </a:rPr>
              <a:t>Tokens, indentation, blank lines inside blocks, every rejection message</a:t>
            </a:r>
            <a:endParaRPr lang="en-US" sz="1200" dirty="0"/>
          </a:p>
        </p:txBody>
      </p:sp>
      <p:sp>
        <p:nvSpPr>
          <p:cNvPr id="16" name="Text 14"/>
          <p:cNvSpPr txBox="1"/>
          <p:nvPr/>
        </p:nvSpPr>
        <p:spPr>
          <a:xfrm>
            <a:off x="786384" y="3163824"/>
            <a:ext cx="2194560" cy="384048"/>
          </a:xfrm>
          <a:prstGeom prst="rect">
            <a:avLst/>
          </a:prstGeom>
          <a:noFill/>
          <a:ln/>
        </p:spPr>
        <p:txBody>
          <a:bodyPr wrap="square" lIns="0" tIns="0" rIns="0" bIns="0" rtlCol="0" anchor="ctr"/>
          <a:lstStyle/>
          <a:p>
            <a:pPr indent="0" marL="0">
              <a:buNone/>
            </a:pPr>
            <a:r>
              <a:rPr lang="en-US" sz="1250" b="1" dirty="0">
                <a:solidFill>
                  <a:srgbClr val="0E1020"/>
                </a:solidFill>
              </a:rPr>
              <a:t>Parser</a:t>
            </a:r>
            <a:endParaRPr lang="en-US" sz="1250" dirty="0"/>
          </a:p>
        </p:txBody>
      </p:sp>
      <p:sp>
        <p:nvSpPr>
          <p:cNvPr id="17" name="Text 15"/>
          <p:cNvSpPr txBox="1"/>
          <p:nvPr/>
        </p:nvSpPr>
        <p:spPr>
          <a:xfrm>
            <a:off x="3035808" y="3163824"/>
            <a:ext cx="548640" cy="384048"/>
          </a:xfrm>
          <a:prstGeom prst="rect">
            <a:avLst/>
          </a:prstGeom>
          <a:noFill/>
          <a:ln/>
        </p:spPr>
        <p:txBody>
          <a:bodyPr wrap="square" lIns="0" tIns="0" rIns="0" bIns="0" rtlCol="0" anchor="ctr"/>
          <a:lstStyle/>
          <a:p>
            <a:pPr algn="r" indent="0" marL="0">
              <a:buNone/>
            </a:pPr>
            <a:r>
              <a:rPr lang="en-US" sz="1250" b="1" dirty="0">
                <a:solidFill>
                  <a:srgbClr val="4E9163"/>
                </a:solidFill>
              </a:rPr>
              <a:t>45</a:t>
            </a:r>
            <a:endParaRPr lang="en-US" sz="1250" dirty="0"/>
          </a:p>
        </p:txBody>
      </p:sp>
      <p:sp>
        <p:nvSpPr>
          <p:cNvPr id="18" name="Text 16"/>
          <p:cNvSpPr txBox="1"/>
          <p:nvPr/>
        </p:nvSpPr>
        <p:spPr>
          <a:xfrm>
            <a:off x="3767328" y="3163824"/>
            <a:ext cx="7580376" cy="384048"/>
          </a:xfrm>
          <a:prstGeom prst="rect">
            <a:avLst/>
          </a:prstGeom>
          <a:noFill/>
          <a:ln/>
        </p:spPr>
        <p:txBody>
          <a:bodyPr wrap="square" lIns="0" tIns="0" rIns="0" bIns="0" rtlCol="0" anchor="ctr"/>
          <a:lstStyle/>
          <a:p>
            <a:pPr indent="0" marL="0">
              <a:buNone/>
            </a:pPr>
            <a:r>
              <a:rPr lang="en-US" sz="1200" dirty="0">
                <a:solidFill>
                  <a:srgbClr val="6B7187"/>
                </a:solidFill>
              </a:rPr>
              <a:t>Precedence, phrase folding, block forms, panic-mode recovery</a:t>
            </a:r>
            <a:endParaRPr lang="en-US" sz="1200" dirty="0"/>
          </a:p>
        </p:txBody>
      </p:sp>
      <p:sp>
        <p:nvSpPr>
          <p:cNvPr id="19" name="trow-2"/>
          <p:cNvSpPr/>
          <p:nvPr/>
        </p:nvSpPr>
        <p:spPr>
          <a:xfrm>
            <a:off x="566928" y="3657600"/>
            <a:ext cx="11055096" cy="493776"/>
          </a:xfrm>
          <a:prstGeom prst="roundRect">
            <a:avLst>
              <a:gd name="adj" fmla="val 5556"/>
            </a:avLst>
          </a:prstGeom>
          <a:solidFill>
            <a:srgbClr val="F2F3F8"/>
          </a:solidFill>
          <a:ln w="12700">
            <a:solidFill>
              <a:srgbClr val="F2F3F8"/>
            </a:solidFill>
            <a:prstDash val="solid"/>
          </a:ln>
        </p:spPr>
      </p:sp>
      <p:sp>
        <p:nvSpPr>
          <p:cNvPr id="20" name="Text 18"/>
          <p:cNvSpPr txBox="1"/>
          <p:nvPr/>
        </p:nvSpPr>
        <p:spPr>
          <a:xfrm>
            <a:off x="786384" y="3712464"/>
            <a:ext cx="2194560" cy="384048"/>
          </a:xfrm>
          <a:prstGeom prst="rect">
            <a:avLst/>
          </a:prstGeom>
          <a:noFill/>
          <a:ln/>
        </p:spPr>
        <p:txBody>
          <a:bodyPr wrap="square" lIns="0" tIns="0" rIns="0" bIns="0" rtlCol="0" anchor="ctr"/>
          <a:lstStyle/>
          <a:p>
            <a:pPr indent="0" marL="0">
              <a:buNone/>
            </a:pPr>
            <a:r>
              <a:rPr lang="en-US" sz="1250" b="1" dirty="0">
                <a:solidFill>
                  <a:srgbClr val="0E1020"/>
                </a:solidFill>
              </a:rPr>
              <a:t>Interpreter</a:t>
            </a:r>
            <a:endParaRPr lang="en-US" sz="1250" dirty="0"/>
          </a:p>
        </p:txBody>
      </p:sp>
      <p:sp>
        <p:nvSpPr>
          <p:cNvPr id="21" name="Text 19"/>
          <p:cNvSpPr txBox="1"/>
          <p:nvPr/>
        </p:nvSpPr>
        <p:spPr>
          <a:xfrm>
            <a:off x="3035808" y="3712464"/>
            <a:ext cx="548640" cy="384048"/>
          </a:xfrm>
          <a:prstGeom prst="rect">
            <a:avLst/>
          </a:prstGeom>
          <a:noFill/>
          <a:ln/>
        </p:spPr>
        <p:txBody>
          <a:bodyPr wrap="square" lIns="0" tIns="0" rIns="0" bIns="0" rtlCol="0" anchor="ctr"/>
          <a:lstStyle/>
          <a:p>
            <a:pPr algn="r" indent="0" marL="0">
              <a:buNone/>
            </a:pPr>
            <a:r>
              <a:rPr lang="en-US" sz="1250" b="1" dirty="0">
                <a:solidFill>
                  <a:srgbClr val="4E9163"/>
                </a:solidFill>
              </a:rPr>
              <a:t>58</a:t>
            </a:r>
            <a:endParaRPr lang="en-US" sz="1250" dirty="0"/>
          </a:p>
        </p:txBody>
      </p:sp>
      <p:sp>
        <p:nvSpPr>
          <p:cNvPr id="22" name="Text 20"/>
          <p:cNvSpPr txBox="1"/>
          <p:nvPr/>
        </p:nvSpPr>
        <p:spPr>
          <a:xfrm>
            <a:off x="3767328" y="3712464"/>
            <a:ext cx="7580376" cy="384048"/>
          </a:xfrm>
          <a:prstGeom prst="rect">
            <a:avLst/>
          </a:prstGeom>
          <a:noFill/>
          <a:ln/>
        </p:spPr>
        <p:txBody>
          <a:bodyPr wrap="square" lIns="0" tIns="0" rIns="0" bIns="0" rtlCol="0" anchor="ctr"/>
          <a:lstStyle/>
          <a:p>
            <a:pPr indent="0" marL="0">
              <a:buNone/>
            </a:pPr>
            <a:r>
              <a:rPr lang="en-US" sz="1200" dirty="0">
                <a:solidFill>
                  <a:srgbClr val="6B7187"/>
                </a:solidFill>
              </a:rPr>
              <a:t>Scope, closures, loops, lists, built-ins, runtime errors</a:t>
            </a:r>
            <a:endParaRPr lang="en-US" sz="1200" dirty="0"/>
          </a:p>
        </p:txBody>
      </p:sp>
      <p:sp>
        <p:nvSpPr>
          <p:cNvPr id="23" name="Text 21"/>
          <p:cNvSpPr txBox="1"/>
          <p:nvPr/>
        </p:nvSpPr>
        <p:spPr>
          <a:xfrm>
            <a:off x="786384" y="4261104"/>
            <a:ext cx="2194560" cy="384048"/>
          </a:xfrm>
          <a:prstGeom prst="rect">
            <a:avLst/>
          </a:prstGeom>
          <a:noFill/>
          <a:ln/>
        </p:spPr>
        <p:txBody>
          <a:bodyPr wrap="square" lIns="0" tIns="0" rIns="0" bIns="0" rtlCol="0" anchor="ctr"/>
          <a:lstStyle/>
          <a:p>
            <a:pPr indent="0" marL="0">
              <a:buNone/>
            </a:pPr>
            <a:r>
              <a:rPr lang="en-US" sz="1250" b="1" dirty="0">
                <a:solidFill>
                  <a:srgbClr val="0E1020"/>
                </a:solidFill>
              </a:rPr>
              <a:t>Error reporting</a:t>
            </a:r>
            <a:endParaRPr lang="en-US" sz="1250" dirty="0"/>
          </a:p>
        </p:txBody>
      </p:sp>
      <p:sp>
        <p:nvSpPr>
          <p:cNvPr id="24" name="Text 22"/>
          <p:cNvSpPr txBox="1"/>
          <p:nvPr/>
        </p:nvSpPr>
        <p:spPr>
          <a:xfrm>
            <a:off x="3035808" y="4261104"/>
            <a:ext cx="548640" cy="384048"/>
          </a:xfrm>
          <a:prstGeom prst="rect">
            <a:avLst/>
          </a:prstGeom>
          <a:noFill/>
          <a:ln/>
        </p:spPr>
        <p:txBody>
          <a:bodyPr wrap="square" lIns="0" tIns="0" rIns="0" bIns="0" rtlCol="0" anchor="ctr"/>
          <a:lstStyle/>
          <a:p>
            <a:pPr algn="r" indent="0" marL="0">
              <a:buNone/>
            </a:pPr>
            <a:r>
              <a:rPr lang="en-US" sz="1250" b="1" dirty="0">
                <a:solidFill>
                  <a:srgbClr val="4E9163"/>
                </a:solidFill>
              </a:rPr>
              <a:t>29</a:t>
            </a:r>
            <a:endParaRPr lang="en-US" sz="1250" dirty="0"/>
          </a:p>
        </p:txBody>
      </p:sp>
      <p:sp>
        <p:nvSpPr>
          <p:cNvPr id="25" name="Text 23"/>
          <p:cNvSpPr txBox="1"/>
          <p:nvPr/>
        </p:nvSpPr>
        <p:spPr>
          <a:xfrm>
            <a:off x="3767328" y="4261104"/>
            <a:ext cx="7580376" cy="384048"/>
          </a:xfrm>
          <a:prstGeom prst="rect">
            <a:avLst/>
          </a:prstGeom>
          <a:noFill/>
          <a:ln/>
        </p:spPr>
        <p:txBody>
          <a:bodyPr wrap="square" lIns="0" tIns="0" rIns="0" bIns="0" rtlCol="0" anchor="ctr"/>
          <a:lstStyle/>
          <a:p>
            <a:pPr indent="0" marL="0">
              <a:buNone/>
            </a:pPr>
            <a:r>
              <a:rPr lang="en-US" sz="1200" dirty="0">
                <a:solidFill>
                  <a:srgbClr val="6B7187"/>
                </a:solidFill>
              </a:rPr>
              <a:t>All stages share one format, caret in the correct column</a:t>
            </a:r>
            <a:endParaRPr lang="en-US" sz="1200" dirty="0"/>
          </a:p>
        </p:txBody>
      </p:sp>
      <p:sp>
        <p:nvSpPr>
          <p:cNvPr id="26" name="trow-4"/>
          <p:cNvSpPr/>
          <p:nvPr/>
        </p:nvSpPr>
        <p:spPr>
          <a:xfrm>
            <a:off x="566928" y="4754880"/>
            <a:ext cx="11055096" cy="493776"/>
          </a:xfrm>
          <a:prstGeom prst="roundRect">
            <a:avLst>
              <a:gd name="adj" fmla="val 5556"/>
            </a:avLst>
          </a:prstGeom>
          <a:solidFill>
            <a:srgbClr val="F2F3F8"/>
          </a:solidFill>
          <a:ln w="12700">
            <a:solidFill>
              <a:srgbClr val="F2F3F8"/>
            </a:solidFill>
            <a:prstDash val="solid"/>
          </a:ln>
        </p:spPr>
      </p:sp>
      <p:sp>
        <p:nvSpPr>
          <p:cNvPr id="27" name="Text 25"/>
          <p:cNvSpPr txBox="1"/>
          <p:nvPr/>
        </p:nvSpPr>
        <p:spPr>
          <a:xfrm>
            <a:off x="786384" y="4809744"/>
            <a:ext cx="2194560" cy="384048"/>
          </a:xfrm>
          <a:prstGeom prst="rect">
            <a:avLst/>
          </a:prstGeom>
          <a:noFill/>
          <a:ln/>
        </p:spPr>
        <p:txBody>
          <a:bodyPr wrap="square" lIns="0" tIns="0" rIns="0" bIns="0" rtlCol="0" anchor="ctr"/>
          <a:lstStyle/>
          <a:p>
            <a:pPr indent="0" marL="0">
              <a:buNone/>
            </a:pPr>
            <a:r>
              <a:rPr lang="en-US" sz="1250" b="1" dirty="0">
                <a:solidFill>
                  <a:srgbClr val="0E1020"/>
                </a:solidFill>
              </a:rPr>
              <a:t>Front-end contract</a:t>
            </a:r>
            <a:endParaRPr lang="en-US" sz="1250" dirty="0"/>
          </a:p>
        </p:txBody>
      </p:sp>
      <p:sp>
        <p:nvSpPr>
          <p:cNvPr id="28" name="Text 26"/>
          <p:cNvSpPr txBox="1"/>
          <p:nvPr/>
        </p:nvSpPr>
        <p:spPr>
          <a:xfrm>
            <a:off x="3035808" y="4809744"/>
            <a:ext cx="548640" cy="384048"/>
          </a:xfrm>
          <a:prstGeom prst="rect">
            <a:avLst/>
          </a:prstGeom>
          <a:noFill/>
          <a:ln/>
        </p:spPr>
        <p:txBody>
          <a:bodyPr wrap="square" lIns="0" tIns="0" rIns="0" bIns="0" rtlCol="0" anchor="ctr"/>
          <a:lstStyle/>
          <a:p>
            <a:pPr algn="r" indent="0" marL="0">
              <a:buNone/>
            </a:pPr>
            <a:r>
              <a:rPr lang="en-US" sz="1250" b="1" dirty="0">
                <a:solidFill>
                  <a:srgbClr val="4E9163"/>
                </a:solidFill>
              </a:rPr>
              <a:t>4</a:t>
            </a:r>
            <a:endParaRPr lang="en-US" sz="1250" dirty="0"/>
          </a:p>
        </p:txBody>
      </p:sp>
      <p:sp>
        <p:nvSpPr>
          <p:cNvPr id="29" name="Text 27"/>
          <p:cNvSpPr txBox="1"/>
          <p:nvPr/>
        </p:nvSpPr>
        <p:spPr>
          <a:xfrm>
            <a:off x="3767328" y="4809744"/>
            <a:ext cx="7580376" cy="384048"/>
          </a:xfrm>
          <a:prstGeom prst="rect">
            <a:avLst/>
          </a:prstGeom>
          <a:noFill/>
          <a:ln/>
        </p:spPr>
        <p:txBody>
          <a:bodyPr wrap="square" lIns="0" tIns="0" rIns="0" bIns="0" rtlCol="0" anchor="ctr"/>
          <a:lstStyle/>
          <a:p>
            <a:pPr indent="0" marL="0">
              <a:buNone/>
            </a:pPr>
            <a:r>
              <a:rPr lang="en-US" sz="1200" dirty="0">
                <a:solidFill>
                  <a:srgbClr val="6B7187"/>
                </a:solidFill>
              </a:rPr>
              <a:t>The real lexer still matches the token stream agreed on day one</a:t>
            </a:r>
            <a:endParaRPr lang="en-US" sz="1200" dirty="0"/>
          </a:p>
        </p:txBody>
      </p:sp>
      <p:sp>
        <p:nvSpPr>
          <p:cNvPr id="30" name="Text 28"/>
          <p:cNvSpPr txBox="1"/>
          <p:nvPr/>
        </p:nvSpPr>
        <p:spPr>
          <a:xfrm>
            <a:off x="786384" y="5358384"/>
            <a:ext cx="2194560" cy="384048"/>
          </a:xfrm>
          <a:prstGeom prst="rect">
            <a:avLst/>
          </a:prstGeom>
          <a:noFill/>
          <a:ln/>
        </p:spPr>
        <p:txBody>
          <a:bodyPr wrap="square" lIns="0" tIns="0" rIns="0" bIns="0" rtlCol="0" anchor="ctr"/>
          <a:lstStyle/>
          <a:p>
            <a:pPr indent="0" marL="0">
              <a:buNone/>
            </a:pPr>
            <a:r>
              <a:rPr lang="en-US" sz="1250" b="1" dirty="0">
                <a:solidFill>
                  <a:srgbClr val="0E1020"/>
                </a:solidFill>
              </a:rPr>
              <a:t>Sample programs</a:t>
            </a:r>
            <a:endParaRPr lang="en-US" sz="1250" dirty="0"/>
          </a:p>
        </p:txBody>
      </p:sp>
      <p:sp>
        <p:nvSpPr>
          <p:cNvPr id="31" name="Text 29"/>
          <p:cNvSpPr txBox="1"/>
          <p:nvPr/>
        </p:nvSpPr>
        <p:spPr>
          <a:xfrm>
            <a:off x="3035808" y="5358384"/>
            <a:ext cx="548640" cy="384048"/>
          </a:xfrm>
          <a:prstGeom prst="rect">
            <a:avLst/>
          </a:prstGeom>
          <a:noFill/>
          <a:ln/>
        </p:spPr>
        <p:txBody>
          <a:bodyPr wrap="square" lIns="0" tIns="0" rIns="0" bIns="0" rtlCol="0" anchor="ctr"/>
          <a:lstStyle/>
          <a:p>
            <a:pPr algn="r" indent="0" marL="0">
              <a:buNone/>
            </a:pPr>
            <a:r>
              <a:rPr lang="en-US" sz="1250" b="1" dirty="0">
                <a:solidFill>
                  <a:srgbClr val="4E9163"/>
                </a:solidFill>
              </a:rPr>
              <a:t>109</a:t>
            </a:r>
            <a:endParaRPr lang="en-US" sz="1250" dirty="0"/>
          </a:p>
        </p:txBody>
      </p:sp>
      <p:sp>
        <p:nvSpPr>
          <p:cNvPr id="32" name="Text 30"/>
          <p:cNvSpPr txBox="1"/>
          <p:nvPr/>
        </p:nvSpPr>
        <p:spPr>
          <a:xfrm>
            <a:off x="3767328" y="5358384"/>
            <a:ext cx="7580376" cy="384048"/>
          </a:xfrm>
          <a:prstGeom prst="rect">
            <a:avLst/>
          </a:prstGeom>
          <a:noFill/>
          <a:ln/>
        </p:spPr>
        <p:txBody>
          <a:bodyPr wrap="square" lIns="0" tIns="0" rIns="0" bIns="0" rtlCol="0" anchor="ctr"/>
          <a:lstStyle/>
          <a:p>
            <a:pPr indent="0" marL="0">
              <a:buNone/>
            </a:pPr>
            <a:r>
              <a:rPr lang="en-US" sz="1200" dirty="0">
                <a:solidFill>
                  <a:srgbClr val="6B7187"/>
                </a:solidFill>
              </a:rPr>
              <a:t>Every example runs; every broken one fails at the stage it demonstrates</a:t>
            </a:r>
            <a:endParaRPr lang="en-US" sz="1200" dirty="0"/>
          </a:p>
        </p:txBody>
      </p:sp>
      <p:sp>
        <p:nvSpPr>
          <p:cNvPr id="33" name="Text 31"/>
          <p:cNvSpPr txBox="1"/>
          <p:nvPr/>
        </p:nvSpPr>
        <p:spPr>
          <a:xfrm>
            <a:off x="566928" y="5943600"/>
            <a:ext cx="11055096" cy="274320"/>
          </a:xfrm>
          <a:prstGeom prst="rect">
            <a:avLst/>
          </a:prstGeom>
          <a:noFill/>
          <a:ln/>
        </p:spPr>
        <p:txBody>
          <a:bodyPr wrap="square" lIns="0" tIns="0" rIns="0" bIns="0" rtlCol="0" anchor="ctr"/>
          <a:lstStyle/>
          <a:p>
            <a:pPr indent="0" marL="0">
              <a:buNone/>
            </a:pPr>
            <a:r>
              <a:rPr lang="en-US" sz="1100" i="1" dirty="0">
                <a:solidFill>
                  <a:srgbClr val="6B7187"/>
                </a:solidFill>
              </a:rPr>
              <a:t>A further 38 tests cover the code generator now under development, bringing the total to 314.</a:t>
            </a:r>
            <a:endParaRPr lang="en-US" sz="1100" dirty="0"/>
          </a:p>
        </p:txBody>
      </p:sp>
      <p:sp>
        <p:nvSpPr>
          <p:cNvPr id="25" name="Slide Number Placeholder 0"/>
          <p:cNvSpPr>
            <a:spLocks noGrp="1"/>
          </p:cNvSpPr>
          <p:nvPr>
            <p:ph type="sldNum" sz="quarter" idx="4294967295"/>
          </p:nvPr>
        </p:nvSpPr>
        <p:spPr>
          <a:xfrm>
            <a:off x="11164824"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87"/>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658368"/>
          </a:xfrm>
          <a:prstGeom prst="rect">
            <a:avLst/>
          </a:prstGeom>
          <a:noFill/>
          <a:ln/>
        </p:spPr>
        <p:txBody>
          <a:bodyPr wrap="square" lIns="0" tIns="0" rIns="0" bIns="0" rtlCol="0" anchor="ctr"/>
          <a:lstStyle/>
          <a:p>
            <a:pPr algn="l" indent="0" marL="0">
              <a:buNone/>
            </a:pPr>
            <a:r>
              <a:rPr lang="en-US" sz="3200" b="1" dirty="0">
                <a:solidFill>
                  <a:srgbClr val="0E1020"/>
                </a:solidFill>
                <a:latin typeface="Cambria" pitchFamily="34" charset="0"/>
                <a:ea typeface="Cambria" pitchFamily="34" charset="-122"/>
                <a:cs typeface="Cambria" pitchFamily="34" charset="-120"/>
              </a:rPr>
              <a:t>Phase 6, under way: generating WebAssembly</a:t>
            </a:r>
            <a:endParaRPr lang="en-US" sz="3200" dirty="0"/>
          </a:p>
        </p:txBody>
      </p:sp>
      <p:sp>
        <p:nvSpPr>
          <p:cNvPr id="3" name="Text 1"/>
          <p:cNvSpPr txBox="1"/>
          <p:nvPr/>
        </p:nvSpPr>
        <p:spPr>
          <a:xfrm>
            <a:off x="566928" y="1261872"/>
            <a:ext cx="4572000" cy="219456"/>
          </a:xfrm>
          <a:prstGeom prst="rect">
            <a:avLst/>
          </a:prstGeom>
          <a:noFill/>
          <a:ln/>
        </p:spPr>
        <p:txBody>
          <a:bodyPr wrap="square" lIns="0" tIns="0" rIns="0" bIns="0" rtlCol="0" anchor="ctr"/>
          <a:lstStyle/>
          <a:p>
            <a:pPr indent="0" marL="0">
              <a:buNone/>
            </a:pPr>
            <a:r>
              <a:rPr lang="en-US" sz="1000" b="1" spc="120" kern="0" dirty="0">
                <a:solidFill>
                  <a:srgbClr val="6B7187"/>
                </a:solidFill>
              </a:rPr>
              <a:t>SOURCE</a:t>
            </a:r>
            <a:endParaRPr lang="en-US" sz="1000" dirty="0"/>
          </a:p>
        </p:txBody>
      </p:sp>
      <p:sp>
        <p:nvSpPr>
          <p:cNvPr id="4" name="cg-src"/>
          <p:cNvSpPr/>
          <p:nvPr/>
        </p:nvSpPr>
        <p:spPr>
          <a:xfrm>
            <a:off x="566928" y="1517904"/>
            <a:ext cx="4572000" cy="1005840"/>
          </a:xfrm>
          <a:prstGeom prst="roundRect">
            <a:avLst>
              <a:gd name="adj" fmla="val 2727"/>
            </a:avLst>
          </a:prstGeom>
          <a:solidFill>
            <a:srgbClr val="1E2340"/>
          </a:solidFill>
          <a:ln w="12700">
            <a:solidFill>
              <a:srgbClr val="1E2340"/>
            </a:solidFill>
            <a:prstDash val="solid"/>
          </a:ln>
        </p:spPr>
      </p:sp>
      <p:sp>
        <p:nvSpPr>
          <p:cNvPr id="5" name="Text 3"/>
          <p:cNvSpPr txBox="1"/>
          <p:nvPr/>
        </p:nvSpPr>
        <p:spPr>
          <a:xfrm>
            <a:off x="713232" y="1627632"/>
            <a:ext cx="4279392" cy="786384"/>
          </a:xfrm>
          <a:prstGeom prst="rect">
            <a:avLst/>
          </a:prstGeom>
          <a:noFill/>
          <a:ln/>
        </p:spPr>
        <p:txBody>
          <a:bodyPr wrap="square" lIns="0" tIns="0" rIns="0" bIns="0" rtlCol="0" anchor="t"/>
          <a:lstStyle/>
          <a:p>
            <a:pPr algn="l" indent="0" marL="0">
              <a:lnSpc>
                <a:spcPct val="106000"/>
              </a:lnSpc>
              <a:buNone/>
            </a:pPr>
            <a:r>
              <a:rPr lang="en-US" sz="1200" dirty="0">
                <a:solidFill>
                  <a:srgbClr val="FFFFFF"/>
                </a:solidFill>
                <a:latin typeface="Courier New" pitchFamily="34" charset="0"/>
                <a:ea typeface="Courier New" pitchFamily="34" charset="-122"/>
                <a:cs typeface="Courier New" pitchFamily="34" charset="-120"/>
              </a:rPr>
              <a:t>define double with n:</a:t>
            </a:r>
            <a:endParaRPr lang="en-US" sz="1200" dirty="0"/>
          </a:p>
          <a:p>
            <a:pPr algn="l" indent="0" marL="0">
              <a:lnSpc>
                <a:spcPct val="106000"/>
              </a:lnSpc>
              <a:buNone/>
            </a:pPr>
            <a:r>
              <a:rPr lang="en-US" sz="1200" dirty="0">
                <a:solidFill>
                  <a:srgbClr val="FFFFFF"/>
                </a:solidFill>
                <a:latin typeface="Courier New" pitchFamily="34" charset="0"/>
                <a:ea typeface="Courier New" pitchFamily="34" charset="-122"/>
                <a:cs typeface="Courier New" pitchFamily="34" charset="-120"/>
              </a:rPr>
              <a:t>    give back n times 2</a:t>
            </a:r>
            <a:endParaRPr lang="en-US" sz="1200" dirty="0"/>
          </a:p>
          <a:p>
            <a:pPr algn="l" indent="0" marL="0">
              <a:lnSpc>
                <a:spcPct val="106000"/>
              </a:lnSpc>
              <a:buNone/>
            </a:pPr>
            <a:endParaRPr lang="en-US" sz="1200" dirty="0"/>
          </a:p>
          <a:p>
            <a:pPr algn="l" indent="0" marL="0">
              <a:lnSpc>
                <a:spcPct val="106000"/>
              </a:lnSpc>
              <a:buNone/>
            </a:pPr>
            <a:r>
              <a:rPr lang="en-US" sz="1200" dirty="0">
                <a:solidFill>
                  <a:srgbClr val="FFFFFF"/>
                </a:solidFill>
                <a:latin typeface="Courier New" pitchFamily="34" charset="0"/>
                <a:ea typeface="Courier New" pitchFamily="34" charset="-122"/>
                <a:cs typeface="Courier New" pitchFamily="34" charset="-120"/>
              </a:rPr>
              <a:t>say double(21)</a:t>
            </a:r>
            <a:endParaRPr lang="en-US" sz="1200" dirty="0"/>
          </a:p>
        </p:txBody>
      </p:sp>
      <p:sp>
        <p:nvSpPr>
          <p:cNvPr id="6" name="cg-note"/>
          <p:cNvSpPr/>
          <p:nvPr/>
        </p:nvSpPr>
        <p:spPr>
          <a:xfrm>
            <a:off x="566928" y="2706624"/>
            <a:ext cx="4572000" cy="2688336"/>
          </a:xfrm>
          <a:prstGeom prst="roundRect">
            <a:avLst>
              <a:gd name="adj" fmla="val 1020"/>
            </a:avLst>
          </a:prstGeom>
          <a:solidFill>
            <a:srgbClr val="FFFFFF"/>
          </a:solidFill>
          <a:ln w="12700">
            <a:solidFill>
              <a:srgbClr val="DDE1EC"/>
            </a:solidFill>
            <a:prstDash val="solid"/>
          </a:ln>
        </p:spPr>
      </p:sp>
      <p:sp>
        <p:nvSpPr>
          <p:cNvPr id="7" name="Text 5"/>
          <p:cNvSpPr txBox="1"/>
          <p:nvPr/>
        </p:nvSpPr>
        <p:spPr>
          <a:xfrm>
            <a:off x="804672" y="2871216"/>
            <a:ext cx="4096512" cy="274320"/>
          </a:xfrm>
          <a:prstGeom prst="rect">
            <a:avLst/>
          </a:prstGeom>
          <a:noFill/>
          <a:ln/>
        </p:spPr>
        <p:txBody>
          <a:bodyPr wrap="square" lIns="0" tIns="0" rIns="0" bIns="0" rtlCol="0" anchor="ctr"/>
          <a:lstStyle/>
          <a:p>
            <a:pPr indent="0" marL="0">
              <a:buNone/>
            </a:pPr>
            <a:r>
              <a:rPr lang="en-US" sz="1450" b="1" dirty="0">
                <a:solidFill>
                  <a:srgbClr val="0E1020"/>
                </a:solidFill>
              </a:rPr>
              <a:t>Why this matters</a:t>
            </a:r>
            <a:endParaRPr lang="en-US" sz="1450" dirty="0"/>
          </a:p>
        </p:txBody>
      </p:sp>
      <p:sp>
        <p:nvSpPr>
          <p:cNvPr id="8" name="Text 6"/>
          <p:cNvSpPr txBox="1"/>
          <p:nvPr/>
        </p:nvSpPr>
        <p:spPr>
          <a:xfrm>
            <a:off x="804672" y="3200400"/>
            <a:ext cx="4096512" cy="2029968"/>
          </a:xfrm>
          <a:prstGeom prst="rect">
            <a:avLst/>
          </a:prstGeom>
          <a:noFill/>
          <a:ln/>
        </p:spPr>
        <p:txBody>
          <a:bodyPr wrap="square" lIns="0" tIns="0" rIns="0" bIns="0" rtlCol="0" anchor="ctr"/>
          <a:lstStyle/>
          <a:p>
            <a:pPr marL="342900" indent="-342900">
              <a:lnSpc>
                <a:spcPct val="112000"/>
              </a:lnSpc>
              <a:spcAft>
                <a:spcPts val="900"/>
              </a:spcAft>
              <a:buSzPct val="100000"/>
              <a:buChar char="•"/>
            </a:pPr>
            <a:r>
              <a:rPr lang="en-US" sz="1150" dirty="0">
                <a:solidFill>
                  <a:srgbClr val="6B7187"/>
                </a:solidFill>
              </a:rPr>
              <a:t>The generator walks the same AST the interpreter walks. Nothing above it changes.</a:t>
            </a:r>
            <a:endParaRPr lang="en-US" sz="1150" dirty="0"/>
          </a:p>
          <a:p>
            <a:pPr marL="342900" indent="-342900">
              <a:lnSpc>
                <a:spcPct val="112000"/>
              </a:lnSpc>
              <a:spcAft>
                <a:spcPts val="900"/>
              </a:spcAft>
              <a:buSzPct val="100000"/>
              <a:buChar char="•"/>
            </a:pPr>
            <a:r>
              <a:rPr lang="en-US" sz="1150" dirty="0">
                <a:solidFill>
                  <a:srgbClr val="6B7187"/>
                </a:solidFill>
              </a:rPr>
              <a:t>Having two independent consumers of the tree is what proves it is a genuine intermediate representation.</a:t>
            </a:r>
            <a:endParaRPr lang="en-US" sz="1150" dirty="0"/>
          </a:p>
          <a:p>
            <a:pPr marL="342900" indent="-342900">
              <a:lnSpc>
                <a:spcPct val="112000"/>
              </a:lnSpc>
              <a:spcAft>
                <a:spcPts val="900"/>
              </a:spcAft>
              <a:buSzPct val="100000"/>
              <a:buChar char="•"/>
            </a:pPr>
            <a:r>
              <a:rPr lang="en-US" sz="1150" dirty="0">
                <a:solidFill>
                  <a:srgbClr val="6B7187"/>
                </a:solidFill>
              </a:rPr>
              <a:t>Text format for the numeric subset works today. A binary emitter and the browser playground are the remaining work.</a:t>
            </a:r>
            <a:endParaRPr lang="en-US" sz="1150" dirty="0"/>
          </a:p>
        </p:txBody>
      </p:sp>
      <p:sp>
        <p:nvSpPr>
          <p:cNvPr id="9" name="Text 7"/>
          <p:cNvSpPr txBox="1"/>
          <p:nvPr/>
        </p:nvSpPr>
        <p:spPr>
          <a:xfrm>
            <a:off x="5541264" y="1261872"/>
            <a:ext cx="6080760" cy="219456"/>
          </a:xfrm>
          <a:prstGeom prst="rect">
            <a:avLst/>
          </a:prstGeom>
          <a:noFill/>
          <a:ln/>
        </p:spPr>
        <p:txBody>
          <a:bodyPr wrap="square" lIns="0" tIns="0" rIns="0" bIns="0" rtlCol="0" anchor="ctr"/>
          <a:lstStyle/>
          <a:p>
            <a:pPr indent="0" marL="0">
              <a:buNone/>
            </a:pPr>
            <a:r>
              <a:rPr lang="en-US" sz="1000" b="1" spc="120" kern="0" dirty="0">
                <a:solidFill>
                  <a:srgbClr val="6B7187"/>
                </a:solidFill>
              </a:rPr>
              <a:t>GENERATED WEBASSEMBLY TEXT FORMAT</a:t>
            </a:r>
            <a:endParaRPr lang="en-US" sz="1000" dirty="0"/>
          </a:p>
        </p:txBody>
      </p:sp>
      <p:sp>
        <p:nvSpPr>
          <p:cNvPr id="10" name="cg-wat"/>
          <p:cNvSpPr/>
          <p:nvPr/>
        </p:nvSpPr>
        <p:spPr>
          <a:xfrm>
            <a:off x="5541264" y="1517904"/>
            <a:ext cx="6080760" cy="3877056"/>
          </a:xfrm>
          <a:prstGeom prst="roundRect">
            <a:avLst>
              <a:gd name="adj" fmla="val 708"/>
            </a:avLst>
          </a:prstGeom>
          <a:solidFill>
            <a:srgbClr val="F2F3F8"/>
          </a:solidFill>
          <a:ln w="12700">
            <a:solidFill>
              <a:srgbClr val="E2E5EE"/>
            </a:solidFill>
            <a:prstDash val="solid"/>
          </a:ln>
        </p:spPr>
      </p:sp>
      <p:sp>
        <p:nvSpPr>
          <p:cNvPr id="11" name="Text 9"/>
          <p:cNvSpPr txBox="1"/>
          <p:nvPr/>
        </p:nvSpPr>
        <p:spPr>
          <a:xfrm>
            <a:off x="5687568" y="1627632"/>
            <a:ext cx="5788152" cy="3657600"/>
          </a:xfrm>
          <a:prstGeom prst="rect">
            <a:avLst/>
          </a:prstGeom>
          <a:noFill/>
          <a:ln/>
        </p:spPr>
        <p:txBody>
          <a:bodyPr wrap="square" lIns="0" tIns="0" rIns="0" bIns="0" rtlCol="0" anchor="t"/>
          <a:lstStyle/>
          <a:p>
            <a:pPr algn="l" indent="0" marL="0">
              <a:lnSpc>
                <a:spcPct val="108000"/>
              </a:lnSpc>
              <a:buNone/>
            </a:pPr>
            <a:r>
              <a:rPr lang="en-US" sz="1100" dirty="0">
                <a:solidFill>
                  <a:srgbClr val="0E1020"/>
                </a:solidFill>
                <a:latin typeface="Courier New" pitchFamily="34" charset="0"/>
                <a:ea typeface="Courier New" pitchFamily="34" charset="-122"/>
                <a:cs typeface="Courier New" pitchFamily="34" charset="-120"/>
              </a:rPr>
              <a:t>(module</a:t>
            </a:r>
            <a:endParaRPr lang="en-US" sz="1100" dirty="0"/>
          </a:p>
          <a:p>
            <a:pPr algn="l" indent="0" marL="0">
              <a:lnSpc>
                <a:spcPct val="108000"/>
              </a:lnSpc>
              <a:buNone/>
            </a:pPr>
            <a:r>
              <a:rPr lang="en-US" sz="1100" dirty="0">
                <a:solidFill>
                  <a:srgbClr val="0E1020"/>
                </a:solidFill>
                <a:latin typeface="Courier New" pitchFamily="34" charset="0"/>
                <a:ea typeface="Courier New" pitchFamily="34" charset="-122"/>
                <a:cs typeface="Courier New" pitchFamily="34" charset="-120"/>
              </a:rPr>
              <a:t>  (import "stickynight" "say" (func $say (param f64)))</a:t>
            </a:r>
            <a:endParaRPr lang="en-US" sz="1100" dirty="0"/>
          </a:p>
          <a:p>
            <a:pPr algn="l" indent="0" marL="0">
              <a:lnSpc>
                <a:spcPct val="108000"/>
              </a:lnSpc>
              <a:buNone/>
            </a:pPr>
            <a:endParaRPr lang="en-US" sz="1100" dirty="0"/>
          </a:p>
          <a:p>
            <a:pPr algn="l" indent="0" marL="0">
              <a:lnSpc>
                <a:spcPct val="108000"/>
              </a:lnSpc>
              <a:buNone/>
            </a:pPr>
            <a:r>
              <a:rPr lang="en-US" sz="1100" dirty="0">
                <a:solidFill>
                  <a:srgbClr val="0E1020"/>
                </a:solidFill>
                <a:latin typeface="Courier New" pitchFamily="34" charset="0"/>
                <a:ea typeface="Courier New" pitchFamily="34" charset="-122"/>
                <a:cs typeface="Courier New" pitchFamily="34" charset="-120"/>
              </a:rPr>
              <a:t>  ;; double</a:t>
            </a:r>
            <a:endParaRPr lang="en-US" sz="1100" dirty="0"/>
          </a:p>
          <a:p>
            <a:pPr algn="l" indent="0" marL="0">
              <a:lnSpc>
                <a:spcPct val="108000"/>
              </a:lnSpc>
              <a:buNone/>
            </a:pPr>
            <a:r>
              <a:rPr lang="en-US" sz="1100" dirty="0">
                <a:solidFill>
                  <a:srgbClr val="0E1020"/>
                </a:solidFill>
                <a:latin typeface="Courier New" pitchFamily="34" charset="0"/>
                <a:ea typeface="Courier New" pitchFamily="34" charset="-122"/>
                <a:cs typeface="Courier New" pitchFamily="34" charset="-120"/>
              </a:rPr>
              <a:t>  (func $double (param $n f64) (result f64)</a:t>
            </a:r>
            <a:endParaRPr lang="en-US" sz="1100" dirty="0"/>
          </a:p>
          <a:p>
            <a:pPr algn="l" indent="0" marL="0">
              <a:lnSpc>
                <a:spcPct val="108000"/>
              </a:lnSpc>
              <a:buNone/>
            </a:pPr>
            <a:r>
              <a:rPr lang="en-US" sz="1100" dirty="0">
                <a:solidFill>
                  <a:srgbClr val="0E1020"/>
                </a:solidFill>
                <a:latin typeface="Courier New" pitchFamily="34" charset="0"/>
                <a:ea typeface="Courier New" pitchFamily="34" charset="-122"/>
                <a:cs typeface="Courier New" pitchFamily="34" charset="-120"/>
              </a:rPr>
              <a:t>    local.get $n</a:t>
            </a:r>
            <a:endParaRPr lang="en-US" sz="1100" dirty="0"/>
          </a:p>
          <a:p>
            <a:pPr algn="l" indent="0" marL="0">
              <a:lnSpc>
                <a:spcPct val="108000"/>
              </a:lnSpc>
              <a:buNone/>
            </a:pPr>
            <a:r>
              <a:rPr lang="en-US" sz="1100" dirty="0">
                <a:solidFill>
                  <a:srgbClr val="0E1020"/>
                </a:solidFill>
                <a:latin typeface="Courier New" pitchFamily="34" charset="0"/>
                <a:ea typeface="Courier New" pitchFamily="34" charset="-122"/>
                <a:cs typeface="Courier New" pitchFamily="34" charset="-120"/>
              </a:rPr>
              <a:t>    f64.const 2</a:t>
            </a:r>
            <a:endParaRPr lang="en-US" sz="1100" dirty="0"/>
          </a:p>
          <a:p>
            <a:pPr algn="l" indent="0" marL="0">
              <a:lnSpc>
                <a:spcPct val="108000"/>
              </a:lnSpc>
              <a:buNone/>
            </a:pPr>
            <a:r>
              <a:rPr lang="en-US" sz="1100" dirty="0">
                <a:solidFill>
                  <a:srgbClr val="0E1020"/>
                </a:solidFill>
                <a:latin typeface="Courier New" pitchFamily="34" charset="0"/>
                <a:ea typeface="Courier New" pitchFamily="34" charset="-122"/>
                <a:cs typeface="Courier New" pitchFamily="34" charset="-120"/>
              </a:rPr>
              <a:t>    f64.mul</a:t>
            </a:r>
            <a:endParaRPr lang="en-US" sz="1100" dirty="0"/>
          </a:p>
          <a:p>
            <a:pPr algn="l" indent="0" marL="0">
              <a:lnSpc>
                <a:spcPct val="108000"/>
              </a:lnSpc>
              <a:buNone/>
            </a:pPr>
            <a:r>
              <a:rPr lang="en-US" sz="1100" dirty="0">
                <a:solidFill>
                  <a:srgbClr val="0E1020"/>
                </a:solidFill>
                <a:latin typeface="Courier New" pitchFamily="34" charset="0"/>
                <a:ea typeface="Courier New" pitchFamily="34" charset="-122"/>
                <a:cs typeface="Courier New" pitchFamily="34" charset="-120"/>
              </a:rPr>
              <a:t>    return</a:t>
            </a:r>
            <a:endParaRPr lang="en-US" sz="1100" dirty="0"/>
          </a:p>
          <a:p>
            <a:pPr algn="l" indent="0" marL="0">
              <a:lnSpc>
                <a:spcPct val="108000"/>
              </a:lnSpc>
              <a:buNone/>
            </a:pPr>
            <a:r>
              <a:rPr lang="en-US" sz="1100" dirty="0">
                <a:solidFill>
                  <a:srgbClr val="0E1020"/>
                </a:solidFill>
                <a:latin typeface="Courier New" pitchFamily="34" charset="0"/>
                <a:ea typeface="Courier New" pitchFamily="34" charset="-122"/>
                <a:cs typeface="Courier New" pitchFamily="34" charset="-120"/>
              </a:rPr>
              <a:t>  )</a:t>
            </a:r>
            <a:endParaRPr lang="en-US" sz="1100" dirty="0"/>
          </a:p>
          <a:p>
            <a:pPr algn="l" indent="0" marL="0">
              <a:lnSpc>
                <a:spcPct val="108000"/>
              </a:lnSpc>
              <a:buNone/>
            </a:pPr>
            <a:endParaRPr lang="en-US" sz="1100" dirty="0"/>
          </a:p>
          <a:p>
            <a:pPr algn="l" indent="0" marL="0">
              <a:lnSpc>
                <a:spcPct val="108000"/>
              </a:lnSpc>
              <a:buNone/>
            </a:pPr>
            <a:r>
              <a:rPr lang="en-US" sz="1100" dirty="0">
                <a:solidFill>
                  <a:srgbClr val="0E1020"/>
                </a:solidFill>
                <a:latin typeface="Courier New" pitchFamily="34" charset="0"/>
                <a:ea typeface="Courier New" pitchFamily="34" charset="-122"/>
                <a:cs typeface="Courier New" pitchFamily="34" charset="-120"/>
              </a:rPr>
              <a:t>  ;; the main program</a:t>
            </a:r>
            <a:endParaRPr lang="en-US" sz="1100" dirty="0"/>
          </a:p>
          <a:p>
            <a:pPr algn="l" indent="0" marL="0">
              <a:lnSpc>
                <a:spcPct val="108000"/>
              </a:lnSpc>
              <a:buNone/>
            </a:pPr>
            <a:r>
              <a:rPr lang="en-US" sz="1100" dirty="0">
                <a:solidFill>
                  <a:srgbClr val="0E1020"/>
                </a:solidFill>
                <a:latin typeface="Courier New" pitchFamily="34" charset="0"/>
                <a:ea typeface="Courier New" pitchFamily="34" charset="-122"/>
                <a:cs typeface="Courier New" pitchFamily="34" charset="-120"/>
              </a:rPr>
              <a:t>  (func $main</a:t>
            </a:r>
            <a:endParaRPr lang="en-US" sz="1100" dirty="0"/>
          </a:p>
          <a:p>
            <a:pPr algn="l" indent="0" marL="0">
              <a:lnSpc>
                <a:spcPct val="108000"/>
              </a:lnSpc>
              <a:buNone/>
            </a:pPr>
            <a:r>
              <a:rPr lang="en-US" sz="1100" dirty="0">
                <a:solidFill>
                  <a:srgbClr val="0E1020"/>
                </a:solidFill>
                <a:latin typeface="Courier New" pitchFamily="34" charset="0"/>
                <a:ea typeface="Courier New" pitchFamily="34" charset="-122"/>
                <a:cs typeface="Courier New" pitchFamily="34" charset="-120"/>
              </a:rPr>
              <a:t>    f64.const 21</a:t>
            </a:r>
            <a:endParaRPr lang="en-US" sz="1100" dirty="0"/>
          </a:p>
          <a:p>
            <a:pPr algn="l" indent="0" marL="0">
              <a:lnSpc>
                <a:spcPct val="108000"/>
              </a:lnSpc>
              <a:buNone/>
            </a:pPr>
            <a:r>
              <a:rPr lang="en-US" sz="1100" dirty="0">
                <a:solidFill>
                  <a:srgbClr val="0E1020"/>
                </a:solidFill>
                <a:latin typeface="Courier New" pitchFamily="34" charset="0"/>
                <a:ea typeface="Courier New" pitchFamily="34" charset="-122"/>
                <a:cs typeface="Courier New" pitchFamily="34" charset="-120"/>
              </a:rPr>
              <a:t>    call $double</a:t>
            </a:r>
            <a:endParaRPr lang="en-US" sz="1100" dirty="0"/>
          </a:p>
          <a:p>
            <a:pPr algn="l" indent="0" marL="0">
              <a:lnSpc>
                <a:spcPct val="108000"/>
              </a:lnSpc>
              <a:buNone/>
            </a:pPr>
            <a:r>
              <a:rPr lang="en-US" sz="1100" dirty="0">
                <a:solidFill>
                  <a:srgbClr val="0E1020"/>
                </a:solidFill>
                <a:latin typeface="Courier New" pitchFamily="34" charset="0"/>
                <a:ea typeface="Courier New" pitchFamily="34" charset="-122"/>
                <a:cs typeface="Courier New" pitchFamily="34" charset="-120"/>
              </a:rPr>
              <a:t>    call $say</a:t>
            </a:r>
            <a:endParaRPr lang="en-US" sz="1100" dirty="0"/>
          </a:p>
          <a:p>
            <a:pPr algn="l" indent="0" marL="0">
              <a:lnSpc>
                <a:spcPct val="108000"/>
              </a:lnSpc>
              <a:buNone/>
            </a:pPr>
            <a:r>
              <a:rPr lang="en-US" sz="1100" dirty="0">
                <a:solidFill>
                  <a:srgbClr val="0E1020"/>
                </a:solidFill>
                <a:latin typeface="Courier New" pitchFamily="34" charset="0"/>
                <a:ea typeface="Courier New" pitchFamily="34" charset="-122"/>
                <a:cs typeface="Courier New" pitchFamily="34" charset="-120"/>
              </a:rPr>
              <a:t>  )</a:t>
            </a:r>
            <a:endParaRPr lang="en-US" sz="1100" dirty="0"/>
          </a:p>
          <a:p>
            <a:pPr algn="l" indent="0" marL="0">
              <a:lnSpc>
                <a:spcPct val="108000"/>
              </a:lnSpc>
              <a:buNone/>
            </a:pPr>
            <a:endParaRPr lang="en-US" sz="1100" dirty="0"/>
          </a:p>
          <a:p>
            <a:pPr algn="l" indent="0" marL="0">
              <a:lnSpc>
                <a:spcPct val="108000"/>
              </a:lnSpc>
              <a:buNone/>
            </a:pPr>
            <a:r>
              <a:rPr lang="en-US" sz="1100" dirty="0">
                <a:solidFill>
                  <a:srgbClr val="0E1020"/>
                </a:solidFill>
                <a:latin typeface="Courier New" pitchFamily="34" charset="0"/>
                <a:ea typeface="Courier New" pitchFamily="34" charset="-122"/>
                <a:cs typeface="Courier New" pitchFamily="34" charset="-120"/>
              </a:rPr>
              <a:t>  (export "double" (func $double))</a:t>
            </a:r>
            <a:endParaRPr lang="en-US" sz="1100" dirty="0"/>
          </a:p>
          <a:p>
            <a:pPr algn="l" indent="0" marL="0">
              <a:lnSpc>
                <a:spcPct val="108000"/>
              </a:lnSpc>
              <a:buNone/>
            </a:pPr>
            <a:r>
              <a:rPr lang="en-US" sz="1100" dirty="0">
                <a:solidFill>
                  <a:srgbClr val="0E1020"/>
                </a:solidFill>
                <a:latin typeface="Courier New" pitchFamily="34" charset="0"/>
                <a:ea typeface="Courier New" pitchFamily="34" charset="-122"/>
                <a:cs typeface="Courier New" pitchFamily="34" charset="-120"/>
              </a:rPr>
              <a:t>  (export "main" (func $main))</a:t>
            </a:r>
            <a:endParaRPr lang="en-US" sz="1100" dirty="0"/>
          </a:p>
          <a:p>
            <a:pPr algn="l" indent="0" marL="0">
              <a:lnSpc>
                <a:spcPct val="108000"/>
              </a:lnSpc>
              <a:buNone/>
            </a:pPr>
            <a:r>
              <a:rPr lang="en-US" sz="1100" dirty="0">
                <a:solidFill>
                  <a:srgbClr val="0E1020"/>
                </a:solidFill>
                <a:latin typeface="Courier New" pitchFamily="34" charset="0"/>
                <a:ea typeface="Courier New" pitchFamily="34" charset="-122"/>
                <a:cs typeface="Courier New" pitchFamily="34" charset="-120"/>
              </a:rPr>
              <a:t>)</a:t>
            </a:r>
            <a:endParaRPr lang="en-US" sz="1100" dirty="0"/>
          </a:p>
        </p:txBody>
      </p:sp>
      <p:sp>
        <p:nvSpPr>
          <p:cNvPr id="25" name="Slide Number Placeholder 0"/>
          <p:cNvSpPr>
            <a:spLocks noGrp="1"/>
          </p:cNvSpPr>
          <p:nvPr>
            <p:ph type="sldNum" sz="quarter" idx="4294967295"/>
          </p:nvPr>
        </p:nvSpPr>
        <p:spPr>
          <a:xfrm>
            <a:off x="11164824"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87"/>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658368"/>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Remaining work, and conclusion</a:t>
            </a:r>
            <a:endParaRPr lang="en-US" sz="3200" dirty="0"/>
          </a:p>
        </p:txBody>
      </p:sp>
      <p:sp>
        <p:nvSpPr>
          <p:cNvPr id="3" name="Text 1"/>
          <p:cNvSpPr txBox="1"/>
          <p:nvPr/>
        </p:nvSpPr>
        <p:spPr>
          <a:xfrm>
            <a:off x="566928" y="1188720"/>
            <a:ext cx="5298948" cy="237744"/>
          </a:xfrm>
          <a:prstGeom prst="rect">
            <a:avLst/>
          </a:prstGeom>
          <a:noFill/>
          <a:ln/>
        </p:spPr>
        <p:txBody>
          <a:bodyPr wrap="square" lIns="0" tIns="0" rIns="0" bIns="0" rtlCol="0" anchor="ctr"/>
          <a:lstStyle/>
          <a:p>
            <a:pPr indent="0" marL="0">
              <a:buNone/>
            </a:pPr>
            <a:r>
              <a:rPr lang="en-US" sz="1000" b="1" spc="120" kern="0" dirty="0">
                <a:solidFill>
                  <a:srgbClr val="FFC857"/>
                </a:solidFill>
              </a:rPr>
              <a:t>WORKING TODAY</a:t>
            </a:r>
            <a:endParaRPr lang="en-US" sz="1000" dirty="0"/>
          </a:p>
        </p:txBody>
      </p:sp>
      <p:sp>
        <p:nvSpPr>
          <p:cNvPr id="4" name="Text 2"/>
          <p:cNvSpPr txBox="1"/>
          <p:nvPr/>
        </p:nvSpPr>
        <p:spPr>
          <a:xfrm>
            <a:off x="566928" y="1517904"/>
            <a:ext cx="5298948" cy="2743200"/>
          </a:xfrm>
          <a:prstGeom prst="rect">
            <a:avLst/>
          </a:prstGeom>
          <a:noFill/>
          <a:ln/>
        </p:spPr>
        <p:txBody>
          <a:bodyPr wrap="square" lIns="0" tIns="0" rIns="0" bIns="0" rtlCol="0" anchor="ctr"/>
          <a:lstStyle/>
          <a:p>
            <a:pPr marL="342900" indent="-342900">
              <a:lnSpc>
                <a:spcPct val="114000"/>
              </a:lnSpc>
              <a:spcAft>
                <a:spcPts val="1000"/>
              </a:spcAft>
              <a:buSzPct val="100000"/>
              <a:buChar char="•"/>
            </a:pPr>
            <a:r>
              <a:rPr lang="en-US" sz="1250" dirty="0">
                <a:solidFill>
                  <a:srgbClr val="D5D9E6"/>
                </a:solidFill>
              </a:rPr>
              <a:t>The full pipeline from source to output: lexer, parser, interpreter.</a:t>
            </a:r>
            <a:endParaRPr lang="en-US" sz="1250" dirty="0"/>
          </a:p>
          <a:p>
            <a:pPr marL="342900" indent="-342900">
              <a:lnSpc>
                <a:spcPct val="114000"/>
              </a:lnSpc>
              <a:spcAft>
                <a:spcPts val="1000"/>
              </a:spcAft>
              <a:buSzPct val="100000"/>
              <a:buChar char="•"/>
            </a:pPr>
            <a:r>
              <a:rPr lang="en-US" sz="1250" dirty="0">
                <a:solidFill>
                  <a:srgbClr val="D5D9E6"/>
                </a:solidFill>
              </a:rPr>
              <a:t>Variables, conditionals, three loop forms, lists, text, definitions, recursion and closures.</a:t>
            </a:r>
            <a:endParaRPr lang="en-US" sz="1250" dirty="0"/>
          </a:p>
          <a:p>
            <a:pPr marL="342900" indent="-342900">
              <a:lnSpc>
                <a:spcPct val="114000"/>
              </a:lnSpc>
              <a:spcAft>
                <a:spcPts val="1000"/>
              </a:spcAft>
              <a:buSzPct val="100000"/>
              <a:buChar char="•"/>
            </a:pPr>
            <a:r>
              <a:rPr lang="en-US" sz="1250" dirty="0">
                <a:solidFill>
                  <a:srgbClr val="D5D9E6"/>
                </a:solidFill>
              </a:rPr>
              <a:t>One error format across every stage, with recovery that reports all mistakes at once.</a:t>
            </a:r>
            <a:endParaRPr lang="en-US" sz="1250" dirty="0"/>
          </a:p>
          <a:p>
            <a:pPr marL="342900" indent="-342900">
              <a:lnSpc>
                <a:spcPct val="114000"/>
              </a:lnSpc>
              <a:spcAft>
                <a:spcPts val="1000"/>
              </a:spcAft>
              <a:buSzPct val="100000"/>
              <a:buChar char="•"/>
            </a:pPr>
            <a:r>
              <a:rPr lang="en-US" sz="1250" dirty="0">
                <a:solidFill>
                  <a:srgbClr val="D5D9E6"/>
                </a:solidFill>
              </a:rPr>
              <a:t>314 automated tests covering each stage and every sample program.</a:t>
            </a:r>
            <a:endParaRPr lang="en-US" sz="1250" dirty="0"/>
          </a:p>
        </p:txBody>
      </p:sp>
      <p:sp>
        <p:nvSpPr>
          <p:cNvPr id="5" name="Text 3"/>
          <p:cNvSpPr txBox="1"/>
          <p:nvPr/>
        </p:nvSpPr>
        <p:spPr>
          <a:xfrm>
            <a:off x="6323076" y="1188720"/>
            <a:ext cx="5298948" cy="237744"/>
          </a:xfrm>
          <a:prstGeom prst="rect">
            <a:avLst/>
          </a:prstGeom>
          <a:noFill/>
          <a:ln/>
        </p:spPr>
        <p:txBody>
          <a:bodyPr wrap="square" lIns="0" tIns="0" rIns="0" bIns="0" rtlCol="0" anchor="ctr"/>
          <a:lstStyle/>
          <a:p>
            <a:pPr indent="0" marL="0">
              <a:buNone/>
            </a:pPr>
            <a:r>
              <a:rPr lang="en-US" sz="1000" b="1" spc="120" kern="0" dirty="0">
                <a:solidFill>
                  <a:srgbClr val="FFC857"/>
                </a:solidFill>
              </a:rPr>
              <a:t>TO COMPLETE FOR THE FINAL REVIEW</a:t>
            </a:r>
            <a:endParaRPr lang="en-US" sz="1000" dirty="0"/>
          </a:p>
        </p:txBody>
      </p:sp>
      <p:sp>
        <p:nvSpPr>
          <p:cNvPr id="6" name="Text 4"/>
          <p:cNvSpPr txBox="1"/>
          <p:nvPr/>
        </p:nvSpPr>
        <p:spPr>
          <a:xfrm>
            <a:off x="6323076" y="1517904"/>
            <a:ext cx="5298948" cy="2743200"/>
          </a:xfrm>
          <a:prstGeom prst="rect">
            <a:avLst/>
          </a:prstGeom>
          <a:noFill/>
          <a:ln/>
        </p:spPr>
        <p:txBody>
          <a:bodyPr wrap="square" lIns="0" tIns="0" rIns="0" bIns="0" rtlCol="0" anchor="ctr"/>
          <a:lstStyle/>
          <a:p>
            <a:pPr marL="342900" indent="-342900">
              <a:lnSpc>
                <a:spcPct val="114000"/>
              </a:lnSpc>
              <a:spcAft>
                <a:spcPts val="1000"/>
              </a:spcAft>
              <a:buSzPct val="100000"/>
              <a:buChar char="•"/>
            </a:pPr>
            <a:r>
              <a:rPr lang="en-US" sz="1250" dirty="0">
                <a:solidFill>
                  <a:srgbClr val="D5D9E6"/>
                </a:solidFill>
              </a:rPr>
              <a:t>Finish the code generator and emit a runnable binary module, not only text.</a:t>
            </a:r>
            <a:endParaRPr lang="en-US" sz="1250" dirty="0"/>
          </a:p>
          <a:p>
            <a:pPr marL="342900" indent="-342900">
              <a:lnSpc>
                <a:spcPct val="114000"/>
              </a:lnSpc>
              <a:spcAft>
                <a:spcPts val="1000"/>
              </a:spcAft>
              <a:buSzPct val="100000"/>
              <a:buChar char="•"/>
            </a:pPr>
            <a:r>
              <a:rPr lang="en-US" sz="1250" dirty="0">
                <a:solidFill>
                  <a:srgbClr val="D5D9E6"/>
                </a:solidFill>
              </a:rPr>
              <a:t>Verify it by running the compiled output and comparing it against the interpreter.</a:t>
            </a:r>
            <a:endParaRPr lang="en-US" sz="1250" dirty="0"/>
          </a:p>
          <a:p>
            <a:pPr marL="342900" indent="-342900">
              <a:lnSpc>
                <a:spcPct val="114000"/>
              </a:lnSpc>
              <a:spcAft>
                <a:spcPts val="1000"/>
              </a:spcAft>
              <a:buSzPct val="100000"/>
              <a:buChar char="•"/>
            </a:pPr>
            <a:r>
              <a:rPr lang="en-US" sz="1250" dirty="0">
                <a:solidFill>
                  <a:srgbClr val="D5D9E6"/>
                </a:solidFill>
              </a:rPr>
              <a:t>Build the browser playground, so the language can be demonstrated without any setup.</a:t>
            </a:r>
            <a:endParaRPr lang="en-US" sz="1250" dirty="0"/>
          </a:p>
          <a:p>
            <a:pPr marL="342900" indent="-342900">
              <a:lnSpc>
                <a:spcPct val="114000"/>
              </a:lnSpc>
              <a:spcAft>
                <a:spcPts val="1000"/>
              </a:spcAft>
              <a:buSzPct val="100000"/>
              <a:buChar char="•"/>
            </a:pPr>
            <a:r>
              <a:rPr lang="en-US" sz="1250" dirty="0">
                <a:solidFill>
                  <a:srgbClr val="D5D9E6"/>
                </a:solidFill>
              </a:rPr>
              <a:t>Known limitation to address: names are checked at run time, so a mistake on a branch that never executes is not reported.</a:t>
            </a:r>
            <a:endParaRPr lang="en-US" sz="1250" dirty="0"/>
          </a:p>
        </p:txBody>
      </p:sp>
      <p:sp>
        <p:nvSpPr>
          <p:cNvPr id="7" name="closing"/>
          <p:cNvSpPr/>
          <p:nvPr/>
        </p:nvSpPr>
        <p:spPr>
          <a:xfrm>
            <a:off x="566928" y="4498848"/>
            <a:ext cx="11055096" cy="1024128"/>
          </a:xfrm>
          <a:prstGeom prst="roundRect">
            <a:avLst>
              <a:gd name="adj" fmla="val 2679"/>
            </a:avLst>
          </a:prstGeom>
          <a:solidFill>
            <a:srgbClr val="171B30"/>
          </a:solidFill>
          <a:ln w="12700">
            <a:solidFill>
              <a:srgbClr val="2A3154"/>
            </a:solidFill>
            <a:prstDash val="solid"/>
          </a:ln>
        </p:spPr>
      </p:sp>
      <p:sp>
        <p:nvSpPr>
          <p:cNvPr id="8" name="sticky-mark"/>
          <p:cNvSpPr/>
          <p:nvPr/>
        </p:nvSpPr>
        <p:spPr>
          <a:xfrm rot="21120000">
            <a:off x="877824" y="4846320"/>
            <a:ext cx="219456" cy="219456"/>
          </a:xfrm>
          <a:prstGeom prst="roundRect">
            <a:avLst>
              <a:gd name="adj" fmla="val 16667"/>
            </a:avLst>
          </a:prstGeom>
          <a:solidFill>
            <a:srgbClr val="FFC857"/>
          </a:solidFill>
          <a:ln w="12700">
            <a:solidFill>
              <a:srgbClr val="FFC857"/>
            </a:solidFill>
            <a:prstDash val="solid"/>
          </a:ln>
        </p:spPr>
      </p:sp>
      <p:sp>
        <p:nvSpPr>
          <p:cNvPr id="9" name="Text 7"/>
          <p:cNvSpPr txBox="1"/>
          <p:nvPr/>
        </p:nvSpPr>
        <p:spPr>
          <a:xfrm>
            <a:off x="1353312" y="4681728"/>
            <a:ext cx="9957816" cy="658368"/>
          </a:xfrm>
          <a:prstGeom prst="rect">
            <a:avLst/>
          </a:prstGeom>
          <a:noFill/>
          <a:ln/>
        </p:spPr>
        <p:txBody>
          <a:bodyPr wrap="square" lIns="0" tIns="0" rIns="0" bIns="0" rtlCol="0" anchor="ctr"/>
          <a:lstStyle/>
          <a:p>
            <a:pPr indent="0" marL="0">
              <a:lnSpc>
                <a:spcPct val="115000"/>
              </a:lnSpc>
              <a:buNone/>
            </a:pPr>
            <a:r>
              <a:rPr lang="en-US" sz="1400" dirty="0">
                <a:solidFill>
                  <a:srgbClr val="FFFFFF"/>
                </a:solidFill>
              </a:rPr>
              <a:t>Every stage the course covers now runs end to end. What remains is a second back end on the tree we already have.</a:t>
            </a:r>
            <a:endParaRPr lang="en-US" sz="1400" dirty="0"/>
          </a:p>
        </p:txBody>
      </p:sp>
      <p:sp>
        <p:nvSpPr>
          <p:cNvPr id="25" name="Slide Number Placeholder 0"/>
          <p:cNvSpPr>
            <a:spLocks noGrp="1"/>
          </p:cNvSpPr>
          <p:nvPr>
            <p:ph type="sldNum" sz="quarter" idx="4294967295"/>
          </p:nvPr>
        </p:nvSpPr>
        <p:spPr>
          <a:xfrm>
            <a:off x="11164824"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87"/>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Stickynight">
  <a:themeElements>
    <a:clrScheme name="Stickynight">
      <a:dk1>
        <a:srgbClr val="0E1020"/>
      </a:dk1>
      <a:lt1>
        <a:srgbClr val="FFFFFF"/>
      </a:lt1>
      <a:dk2>
        <a:srgbClr val="1E2340"/>
      </a:dk2>
      <a:lt2>
        <a:srgbClr val="F2F3F8"/>
      </a:lt2>
      <a:accent1>
        <a:srgbClr val="FFC857"/>
      </a:accent1>
      <a:accent2>
        <a:srgbClr val="7C5CFF"/>
      </a:accent2>
      <a:accent3>
        <a:srgbClr val="3D7DD6"/>
      </a:accent3>
      <a:accent4>
        <a:srgbClr val="4E9163"/>
      </a:accent4>
      <a:accent5>
        <a:srgbClr val="C4404B"/>
      </a:accent5>
      <a:accent6>
        <a:srgbClr val="6B7187"/>
      </a:accent6>
      <a:hlink>
        <a:srgbClr val="3D7DD6"/>
      </a:hlink>
      <a:folHlink>
        <a:srgbClr val="7C5CFF"/>
      </a:folHlink>
    </a:clrScheme>
    <a:fontScheme name="Sticky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Stickynight — Review 2</dc:title>
  <dc:subject>PptxGenJS Presentation</dc:subject>
  <dc:creator>Apoorv Verma and Surjadeep Das</dc:creator>
  <cp:lastModifiedBy>Apoorv Verma and Surjadeep Das</cp:lastModifiedBy>
  <cp:revision>1</cp:revision>
  <dcterms:created xsi:type="dcterms:W3CDTF">2026-10-19T18:42:03Z</dcterms:created>
  <dcterms:modified xsi:type="dcterms:W3CDTF">2026-10-19T18:42:03Z</dcterms:modified>
</cp:coreProperties>
</file>